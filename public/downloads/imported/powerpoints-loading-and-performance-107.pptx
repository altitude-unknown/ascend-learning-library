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Lustria"/>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CC5065-02EF-4E40-80BB-A19E760E0917}">
  <a:tblStyle styleId="{FACC5065-02EF-4E40-80BB-A19E760E0917}" styleName="Table_0">
    <a:wholeTbl>
      <a:tcTxStyle b="off" i="off">
        <a:font>
          <a:latin typeface="Calisto MT"/>
          <a:ea typeface="Calisto MT"/>
          <a:cs typeface="Calisto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E8E7"/>
          </a:solidFill>
        </a:fill>
      </a:tcStyle>
    </a:wholeTbl>
    <a:band1H>
      <a:tcTxStyle/>
      <a:tcStyle>
        <a:fill>
          <a:solidFill>
            <a:srgbClr val="E7CECB"/>
          </a:solidFill>
        </a:fill>
      </a:tcStyle>
    </a:band1H>
    <a:band2H>
      <a:tcTxStyle/>
    </a:band2H>
    <a:band1V>
      <a:tcTxStyle/>
      <a:tcStyle>
        <a:fill>
          <a:solidFill>
            <a:srgbClr val="E7CECB"/>
          </a:solidFill>
        </a:fill>
      </a:tcStyle>
    </a:band1V>
    <a:band2V>
      <a:tcTxStyle/>
    </a:band2V>
    <a:lastCol>
      <a:tcTxStyle b="on" i="off">
        <a:font>
          <a:latin typeface="Calisto MT"/>
          <a:ea typeface="Calisto MT"/>
          <a:cs typeface="Calisto MT"/>
        </a:font>
        <a:schemeClr val="lt1"/>
      </a:tcTxStyle>
      <a:tcStyle>
        <a:fill>
          <a:solidFill>
            <a:schemeClr val="accent1"/>
          </a:solidFill>
        </a:fill>
      </a:tcStyle>
    </a:lastCol>
    <a:firstCol>
      <a:tcTxStyle b="on" i="off">
        <a:font>
          <a:latin typeface="Calisto MT"/>
          <a:ea typeface="Calisto MT"/>
          <a:cs typeface="Calisto MT"/>
        </a:font>
        <a:schemeClr val="lt1"/>
      </a:tcTxStyle>
      <a:tcStyle>
        <a:fill>
          <a:solidFill>
            <a:schemeClr val="accent1"/>
          </a:solidFill>
        </a:fill>
      </a:tcStyle>
    </a:firstCol>
    <a:lastRow>
      <a:tcTxStyle b="on" i="off">
        <a:font>
          <a:latin typeface="Calisto MT"/>
          <a:ea typeface="Calisto MT"/>
          <a:cs typeface="Calisto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sto MT"/>
          <a:ea typeface="Calisto MT"/>
          <a:cs typeface="Calisto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ustria-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this lesson, we're going to focus on </a:t>
            </a:r>
            <a:r>
              <a:rPr b="1" lang="en-US">
                <a:solidFill>
                  <a:schemeClr val="dk1"/>
                </a:solidFill>
              </a:rPr>
              <a:t>loading and performance</a:t>
            </a:r>
            <a:r>
              <a:rPr lang="en-US">
                <a:solidFill>
                  <a:schemeClr val="dk1"/>
                </a:solidFill>
              </a:rPr>
              <a:t> and how these factors affect the safe operation of a small UAS.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begin with some basic concepts related to </a:t>
            </a:r>
            <a:r>
              <a:rPr b="1" lang="en-US">
                <a:solidFill>
                  <a:schemeClr val="dk1"/>
                </a:solidFill>
              </a:rPr>
              <a:t>aircraft performance and navigation</a:t>
            </a:r>
            <a:r>
              <a:rPr lang="en-US">
                <a:solidFill>
                  <a:schemeClr val="dk1"/>
                </a:solidFill>
              </a:rPr>
              <a:t>, including how we determine an aircraft's speed and altitude.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then move into </a:t>
            </a:r>
            <a:r>
              <a:rPr b="1" lang="en-US">
                <a:solidFill>
                  <a:schemeClr val="dk1"/>
                </a:solidFill>
              </a:rPr>
              <a:t>aircraft loading</a:t>
            </a:r>
            <a:r>
              <a:rPr lang="en-US">
                <a:solidFill>
                  <a:schemeClr val="dk1"/>
                </a:solidFill>
              </a:rPr>
              <a:t>. With a UAS, adding a battery, camera, sensor, or other payload doesn't just increase the aircraft's weight—it can also change how the aircraft flies.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That leads us into </a:t>
            </a:r>
            <a:r>
              <a:rPr b="1" lang="en-US">
                <a:solidFill>
                  <a:schemeClr val="dk1"/>
                </a:solidFill>
              </a:rPr>
              <a:t>weight and balance</a:t>
            </a:r>
            <a:r>
              <a:rPr lang="en-US">
                <a:solidFill>
                  <a:schemeClr val="dk1"/>
                </a:solidFill>
              </a:rPr>
              <a:t>. We'll look at how to calculate the aircraft's </a:t>
            </a:r>
            <a:r>
              <a:rPr b="1" lang="en-US">
                <a:solidFill>
                  <a:schemeClr val="dk1"/>
                </a:solidFill>
              </a:rPr>
              <a:t>center of gravity</a:t>
            </a:r>
            <a:r>
              <a:rPr lang="en-US">
                <a:solidFill>
                  <a:schemeClr val="dk1"/>
                </a:solidFill>
              </a:rPr>
              <a:t>, or CG, and why keeping the CG within the manufacturer's limits is critical for stability and controllability.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Next, we'll discuss </a:t>
            </a:r>
            <a:r>
              <a:rPr b="1" lang="en-US">
                <a:solidFill>
                  <a:schemeClr val="dk1"/>
                </a:solidFill>
              </a:rPr>
              <a:t>load factor</a:t>
            </a:r>
            <a:r>
              <a:rPr lang="en-US">
                <a:solidFill>
                  <a:schemeClr val="dk1"/>
                </a:solidFill>
              </a:rPr>
              <a:t> and see how maneuvering the aircraft—particularly in steep turns—can dramatically increase the aerodynamic forces acting on the aircraft.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then examine </a:t>
            </a:r>
            <a:r>
              <a:rPr b="1" lang="en-US">
                <a:solidFill>
                  <a:schemeClr val="dk1"/>
                </a:solidFill>
              </a:rPr>
              <a:t>stalls</a:t>
            </a:r>
            <a:r>
              <a:rPr lang="en-US">
                <a:solidFill>
                  <a:schemeClr val="dk1"/>
                </a:solidFill>
              </a:rPr>
              <a:t>. The key concept will be understanding the relationship between </a:t>
            </a:r>
            <a:r>
              <a:rPr b="1" lang="en-US">
                <a:solidFill>
                  <a:schemeClr val="dk1"/>
                </a:solidFill>
              </a:rPr>
              <a:t>angle of attack, load factor, and stall speed</a:t>
            </a:r>
            <a:r>
              <a:rPr lang="en-US">
                <a:solidFill>
                  <a:schemeClr val="dk1"/>
                </a:solidFill>
              </a:rPr>
              <a:t>, rather than simply thinking of a stall as something that happens when an aircraft flies too slowly.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we'll bring these concepts together by looking at </a:t>
            </a:r>
            <a:r>
              <a:rPr b="1" lang="en-US">
                <a:solidFill>
                  <a:schemeClr val="dk1"/>
                </a:solidFill>
              </a:rPr>
              <a:t>aircraft performance</a:t>
            </a:r>
            <a:r>
              <a:rPr lang="en-US">
                <a:solidFill>
                  <a:schemeClr val="dk1"/>
                </a:solidFill>
              </a:rPr>
              <a:t>. We'll examine how factors such as </a:t>
            </a:r>
            <a:r>
              <a:rPr b="1" lang="en-US">
                <a:solidFill>
                  <a:schemeClr val="dk1"/>
                </a:solidFill>
              </a:rPr>
              <a:t>weight, wind, temperature, altitude, and density altitude</a:t>
            </a:r>
            <a:r>
              <a:rPr lang="en-US">
                <a:solidFill>
                  <a:schemeClr val="dk1"/>
                </a:solidFill>
              </a:rPr>
              <a:t> affect launch, climb, endurance, and the overall ability of the UAS to safely complete its mission.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These concepts are important for the </a:t>
            </a:r>
            <a:r>
              <a:rPr b="1" lang="en-US">
                <a:solidFill>
                  <a:schemeClr val="dk1"/>
                </a:solidFill>
              </a:rPr>
              <a:t>FAA Remote Pilot knowledge test</a:t>
            </a:r>
            <a:r>
              <a:rPr lang="en-US">
                <a:solidFill>
                  <a:schemeClr val="dk1"/>
                </a:solidFill>
              </a:rPr>
              <a:t>, but more importantly, they help us make better decisions when we're actually operating a UAS.</a:t>
            </a:r>
            <a:endParaRPr>
              <a:solidFill>
                <a:schemeClr val="dk1"/>
              </a:solidFill>
            </a:endParaRPr>
          </a:p>
          <a:p>
            <a:pPr indent="0" lvl="0" marL="0" rtl="0" algn="l">
              <a:spcBef>
                <a:spcPts val="1200"/>
              </a:spcBef>
              <a:spcAft>
                <a:spcPts val="0"/>
              </a:spcAft>
              <a:buNone/>
            </a:pPr>
            <a:r>
              <a:t/>
            </a:r>
            <a:endParaRPr/>
          </a:p>
        </p:txBody>
      </p:sp>
      <p:sp>
        <p:nvSpPr>
          <p:cNvPr id="148" name="Google Shape;14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Any flight should begin with a control check. Do all of the flight control surfaces move in the correct direction? Do they move freely? If you add a payload does the payload affect the center of gravity? The movement of flight controls? You should know </a:t>
            </a:r>
            <a:r>
              <a:rPr lang="en-US"/>
              <a:t>where</a:t>
            </a:r>
            <a:r>
              <a:rPr lang="en-US"/>
              <a:t> the center of gravity for your UAS is located and understand how to test the CG before a flight. </a:t>
            </a:r>
            <a:endParaRPr/>
          </a:p>
        </p:txBody>
      </p:sp>
      <p:sp>
        <p:nvSpPr>
          <p:cNvPr id="155" name="Google Shape;15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 a fixed-wing UAS, the primary flight controls are the </a:t>
            </a:r>
            <a:r>
              <a:rPr b="1" lang="en-US">
                <a:solidFill>
                  <a:schemeClr val="dk1"/>
                </a:solidFill>
              </a:rPr>
              <a:t>ailerons, elevator, and rudder</a:t>
            </a:r>
            <a:r>
              <a:rPr lang="en-US">
                <a:solidFill>
                  <a:schemeClr val="dk1"/>
                </a:solidFill>
              </a:rPr>
              <a:t>. Each control surface moves the aircraft around one of its three axes.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ailerons control roll</a:t>
            </a:r>
            <a:r>
              <a:rPr lang="en-US">
                <a:solidFill>
                  <a:schemeClr val="dk1"/>
                </a:solidFill>
              </a:rPr>
              <a:t>, which is rotation around the aircraft’s </a:t>
            </a:r>
            <a:r>
              <a:rPr b="1" lang="en-US">
                <a:solidFill>
                  <a:schemeClr val="dk1"/>
                </a:solidFill>
              </a:rPr>
              <a:t>longitudinal axis</a:t>
            </a:r>
            <a:r>
              <a:rPr lang="en-US">
                <a:solidFill>
                  <a:schemeClr val="dk1"/>
                </a:solidFill>
              </a:rPr>
              <a:t>, running from the nose to the tail. Aileron movement causes one wing to rise while the other lowers, allowing the aircraft to bank left or right. Roll is associated with the aircraft’s </a:t>
            </a:r>
            <a:r>
              <a:rPr b="1" lang="en-US">
                <a:solidFill>
                  <a:schemeClr val="dk1"/>
                </a:solidFill>
              </a:rPr>
              <a:t>lateral stability</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elevator controls pitch</a:t>
            </a:r>
            <a:r>
              <a:rPr lang="en-US">
                <a:solidFill>
                  <a:schemeClr val="dk1"/>
                </a:solidFill>
              </a:rPr>
              <a:t>, which is rotation around the </a:t>
            </a:r>
            <a:r>
              <a:rPr b="1" lang="en-US">
                <a:solidFill>
                  <a:schemeClr val="dk1"/>
                </a:solidFill>
              </a:rPr>
              <a:t>lateral axis</a:t>
            </a:r>
            <a:r>
              <a:rPr lang="en-US">
                <a:solidFill>
                  <a:schemeClr val="dk1"/>
                </a:solidFill>
              </a:rPr>
              <a:t>, running from wingtip to wingtip. Moving the elevator changes whether the nose pitches up or down. Pitch is associated with the aircraft’s </a:t>
            </a:r>
            <a:r>
              <a:rPr b="1" lang="en-US">
                <a:solidFill>
                  <a:schemeClr val="dk1"/>
                </a:solidFill>
              </a:rPr>
              <a:t>longitudinal stability</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rudder controls yaw</a:t>
            </a:r>
            <a:r>
              <a:rPr lang="en-US">
                <a:solidFill>
                  <a:schemeClr val="dk1"/>
                </a:solidFill>
              </a:rPr>
              <a:t>, which is rotation around the </a:t>
            </a:r>
            <a:r>
              <a:rPr b="1" lang="en-US">
                <a:solidFill>
                  <a:schemeClr val="dk1"/>
                </a:solidFill>
              </a:rPr>
              <a:t>vertical axis</a:t>
            </a:r>
            <a:r>
              <a:rPr lang="en-US">
                <a:solidFill>
                  <a:schemeClr val="dk1"/>
                </a:solidFill>
              </a:rPr>
              <a:t>. Rudder movement causes the nose to move left or right. Yaw is associated with the aircraft’s </a:t>
            </a:r>
            <a:r>
              <a:rPr b="1" lang="en-US">
                <a:solidFill>
                  <a:schemeClr val="dk1"/>
                </a:solidFill>
              </a:rPr>
              <a:t>directional stability</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 a typical </a:t>
            </a:r>
            <a:r>
              <a:rPr b="1" lang="en-US">
                <a:solidFill>
                  <a:schemeClr val="dk1"/>
                </a:solidFill>
              </a:rPr>
              <a:t>Mode 2 RC transmitter</a:t>
            </a:r>
            <a:r>
              <a:rPr lang="en-US">
                <a:solidFill>
                  <a:schemeClr val="dk1"/>
                </a:solidFill>
              </a:rPr>
              <a:t>, the </a:t>
            </a:r>
            <a:r>
              <a:rPr b="1" lang="en-US">
                <a:solidFill>
                  <a:schemeClr val="dk1"/>
                </a:solidFill>
              </a:rPr>
              <a:t>right stick controls the ailerons and elevator</a:t>
            </a:r>
            <a:r>
              <a:rPr lang="en-US">
                <a:solidFill>
                  <a:schemeClr val="dk1"/>
                </a:solidFill>
              </a:rPr>
              <a:t>. Moving the stick left or right commands roll, while moving it up or down commands pitch. The </a:t>
            </a:r>
            <a:r>
              <a:rPr b="1" lang="en-US">
                <a:solidFill>
                  <a:schemeClr val="dk1"/>
                </a:solidFill>
              </a:rPr>
              <a:t>left stick controls the throttle and rudder</a:t>
            </a:r>
            <a:r>
              <a:rPr lang="en-US">
                <a:solidFill>
                  <a:schemeClr val="dk1"/>
                </a:solidFill>
              </a:rPr>
              <a:t>. Moving it up or down changes throttle, while moving it left or right commands yaw.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simple way to remember the controls is: </a:t>
            </a:r>
            <a:r>
              <a:rPr b="1" lang="en-US">
                <a:solidFill>
                  <a:schemeClr val="dk1"/>
                </a:solidFill>
              </a:rPr>
              <a:t>right stick = pitch and roll; left stick = throttle and yaw</a:t>
            </a:r>
            <a:endParaRPr b="1">
              <a:solidFill>
                <a:schemeClr val="dk1"/>
              </a:solidFill>
            </a:endParaRPr>
          </a:p>
          <a:p>
            <a:pPr indent="0" lvl="0" marL="0" rtl="0" algn="l">
              <a:spcBef>
                <a:spcPts val="1200"/>
              </a:spcBef>
              <a:spcAft>
                <a:spcPts val="0"/>
              </a:spcAft>
              <a:buNone/>
            </a:pPr>
            <a:r>
              <a:t/>
            </a:r>
            <a:endParaRPr/>
          </a:p>
        </p:txBody>
      </p:sp>
      <p:sp>
        <p:nvSpPr>
          <p:cNvPr id="162" name="Google Shape;16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Dead reckoning</a:t>
            </a:r>
            <a:r>
              <a:rPr lang="en-US">
                <a:solidFill>
                  <a:schemeClr val="dk1"/>
                </a:solidFill>
              </a:rPr>
              <a:t> is navigation based on calculations rather than looking at landmarks. The pilot uses </a:t>
            </a:r>
            <a:r>
              <a:rPr b="1" lang="en-US">
                <a:solidFill>
                  <a:schemeClr val="dk1"/>
                </a:solidFill>
              </a:rPr>
              <a:t>time, airspeed, distance, and direction</a:t>
            </a:r>
            <a:r>
              <a:rPr lang="en-US">
                <a:solidFill>
                  <a:schemeClr val="dk1"/>
                </a:solidFill>
              </a:rPr>
              <a:t> to determine where the aircraft should be. Because the wind affects the aircraft's movement over the ground, we must account for </a:t>
            </a:r>
            <a:r>
              <a:rPr b="1" lang="en-US">
                <a:solidFill>
                  <a:schemeClr val="dk1"/>
                </a:solidFill>
              </a:rPr>
              <a:t>wind direction and speed</a:t>
            </a:r>
            <a:r>
              <a:rPr lang="en-US">
                <a:solidFill>
                  <a:schemeClr val="dk1"/>
                </a:solidFill>
              </a:rPr>
              <a:t> to determine the correct </a:t>
            </a:r>
            <a:r>
              <a:rPr b="1" lang="en-US">
                <a:solidFill>
                  <a:schemeClr val="dk1"/>
                </a:solidFill>
              </a:rPr>
              <a:t>heading and ground speed</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Pilotage</a:t>
            </a:r>
            <a:r>
              <a:rPr lang="en-US">
                <a:solidFill>
                  <a:schemeClr val="dk1"/>
                </a:solidFill>
              </a:rPr>
              <a:t> is much simpler. It means navigating by looking at recognizable </a:t>
            </a:r>
            <a:r>
              <a:rPr b="1" lang="en-US">
                <a:solidFill>
                  <a:schemeClr val="dk1"/>
                </a:solidFill>
              </a:rPr>
              <a:t>landmarks or checkpoints</a:t>
            </a:r>
            <a:r>
              <a:rPr lang="en-US">
                <a:solidFill>
                  <a:schemeClr val="dk1"/>
                </a:solidFill>
              </a:rPr>
              <a:t> on the ground. These might include roads, rivers, towns, mountains, towers, or other easily identifiable features. Essentially, we compare what we see on the ground with what we see on our map.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wind triangle</a:t>
            </a:r>
            <a:r>
              <a:rPr lang="en-US">
                <a:solidFill>
                  <a:schemeClr val="dk1"/>
                </a:solidFill>
              </a:rPr>
              <a:t> helps us understand how wind changes the aircraft's actual path over the ground. It consists of three vectors: the aircraft's </a:t>
            </a:r>
            <a:r>
              <a:rPr b="1" lang="en-US">
                <a:solidFill>
                  <a:schemeClr val="dk1"/>
                </a:solidFill>
              </a:rPr>
              <a:t>heading and true airspeed</a:t>
            </a:r>
            <a:r>
              <a:rPr lang="en-US">
                <a:solidFill>
                  <a:schemeClr val="dk1"/>
                </a:solidFill>
              </a:rPr>
              <a:t>, the </a:t>
            </a:r>
            <a:r>
              <a:rPr b="1" lang="en-US">
                <a:solidFill>
                  <a:schemeClr val="dk1"/>
                </a:solidFill>
              </a:rPr>
              <a:t>wind direction and velocity</a:t>
            </a:r>
            <a:r>
              <a:rPr lang="en-US">
                <a:solidFill>
                  <a:schemeClr val="dk1"/>
                </a:solidFill>
              </a:rPr>
              <a:t>, and the resulting </a:t>
            </a:r>
            <a:r>
              <a:rPr b="1" lang="en-US">
                <a:solidFill>
                  <a:schemeClr val="dk1"/>
                </a:solidFill>
              </a:rPr>
              <a:t>ground track and ground speed</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Think of it this way: </a:t>
            </a:r>
            <a:r>
              <a:rPr b="1" lang="en-US">
                <a:solidFill>
                  <a:schemeClr val="dk1"/>
                </a:solidFill>
              </a:rPr>
              <a:t>where we point the aircraft is not necessarily where the aircraft travels.</a:t>
            </a:r>
            <a:r>
              <a:rPr lang="en-US">
                <a:solidFill>
                  <a:schemeClr val="dk1"/>
                </a:solidFill>
              </a:rPr>
              <a:t> A crosswind can push the aircraft sideways, so we may need to point slightly into the wind to maintain our desired course. The wind triangle allows us to calculate that correction.</a:t>
            </a:r>
            <a:endParaRPr>
              <a:solidFill>
                <a:schemeClr val="dk1"/>
              </a:solidFill>
            </a:endParaRPr>
          </a:p>
          <a:p>
            <a:pPr indent="0" lvl="0" marL="0" rtl="0" algn="l">
              <a:spcBef>
                <a:spcPts val="1200"/>
              </a:spcBef>
              <a:spcAft>
                <a:spcPts val="0"/>
              </a:spcAft>
              <a:buNone/>
            </a:pPr>
            <a:r>
              <a:t/>
            </a:r>
            <a:endParaRPr/>
          </a:p>
        </p:txBody>
      </p:sp>
      <p:sp>
        <p:nvSpPr>
          <p:cNvPr id="168" name="Google Shape;16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Under </a:t>
            </a:r>
            <a:r>
              <a:rPr b="1" lang="en-US">
                <a:solidFill>
                  <a:schemeClr val="dk1"/>
                </a:solidFill>
              </a:rPr>
              <a:t>Part 107</a:t>
            </a:r>
            <a:r>
              <a:rPr lang="en-US">
                <a:solidFill>
                  <a:schemeClr val="dk1"/>
                </a:solidFill>
              </a:rPr>
              <a:t>, we generally operate a small UAS at or below </a:t>
            </a:r>
            <a:r>
              <a:rPr b="1" lang="en-US">
                <a:solidFill>
                  <a:schemeClr val="dk1"/>
                </a:solidFill>
              </a:rPr>
              <a:t>400 feet above ground level, or AGL</a:t>
            </a:r>
            <a:r>
              <a:rPr lang="en-US">
                <a:solidFill>
                  <a:schemeClr val="dk1"/>
                </a:solidFill>
              </a:rPr>
              <a:t>. It is important to remember that AGL means the aircraft's height above the surface directly below it—not its elevation above sea level.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There are several ways we can determine or estimate our altitude: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Barometric altimeter:</a:t>
            </a:r>
            <a:r>
              <a:rPr lang="en-US">
                <a:solidFill>
                  <a:schemeClr val="dk1"/>
                </a:solidFill>
              </a:rPr>
              <a:t> Some UAS use a barometric altimeter to determine altitude. If the system provides altitude referenced to </a:t>
            </a:r>
            <a:r>
              <a:rPr b="1" lang="en-US">
                <a:solidFill>
                  <a:schemeClr val="dk1"/>
                </a:solidFill>
              </a:rPr>
              <a:t>mean sea level (MSL)</a:t>
            </a:r>
            <a:r>
              <a:rPr lang="en-US">
                <a:solidFill>
                  <a:schemeClr val="dk1"/>
                </a:solidFill>
              </a:rPr>
              <a:t>, we need to account for the elevation of the terrain to determine our approximate AGL altitude. For example, if the aircraft reports 5,400 feet MSL and the terrain below it is at 5,000 feet MSL, the aircraft is approximately </a:t>
            </a:r>
            <a:r>
              <a:rPr b="1" lang="en-US">
                <a:solidFill>
                  <a:schemeClr val="dk1"/>
                </a:solidFill>
              </a:rPr>
              <a:t>400 feet AGL</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GPS/GNSS altitude:</a:t>
            </a:r>
            <a:r>
              <a:rPr lang="en-US">
                <a:solidFill>
                  <a:schemeClr val="dk1"/>
                </a:solidFill>
              </a:rPr>
              <a:t> The aircraft may also provide altitude information using its GPS/GNSS receiver. Pilots need to understand exactly </a:t>
            </a:r>
            <a:r>
              <a:rPr b="1" lang="en-US">
                <a:solidFill>
                  <a:schemeClr val="dk1"/>
                </a:solidFill>
              </a:rPr>
              <a:t>what altitude reference their particular system displays</a:t>
            </a:r>
            <a:r>
              <a:rPr lang="en-US">
                <a:solidFill>
                  <a:schemeClr val="dk1"/>
                </a:solidFill>
              </a:rPr>
              <a:t>, because different systems may report altitude differently.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Visual estimation:</a:t>
            </a:r>
            <a:r>
              <a:rPr lang="en-US">
                <a:solidFill>
                  <a:schemeClr val="dk1"/>
                </a:solidFill>
              </a:rPr>
              <a:t> A visual observer can help establish a rough reference for what 400 feet looks like. For example, you can measure 400 feet horizontally on the ground before the flight to give the crew a sense of that distance. This is only an approximation and should not replace reliable altitude information from the aircraft.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Known terrain or structures:</a:t>
            </a:r>
            <a:r>
              <a:rPr lang="en-US">
                <a:solidFill>
                  <a:schemeClr val="dk1"/>
                </a:solidFill>
              </a:rPr>
              <a:t> Objects of known height—such as towers, buildings, hills, or other terrain features—can provide another useful visual reference.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Control-station information:</a:t>
            </a:r>
            <a:r>
              <a:rPr lang="en-US">
                <a:solidFill>
                  <a:schemeClr val="dk1"/>
                </a:solidFill>
              </a:rPr>
              <a:t> Many modern UAS control stations directly display the aircraft's altitude or height relative to its takeoff point. The remote pilot should understand </a:t>
            </a:r>
            <a:r>
              <a:rPr b="1" lang="en-US">
                <a:solidFill>
                  <a:schemeClr val="dk1"/>
                </a:solidFill>
              </a:rPr>
              <a:t>how that particular UAS calculates and displays altitude</a:t>
            </a:r>
            <a:r>
              <a:rPr lang="en-US">
                <a:solidFill>
                  <a:schemeClr val="dk1"/>
                </a:solidFill>
              </a:rPr>
              <a:t>, especially when operating over changing terrain.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One important distinction for students is that </a:t>
            </a:r>
            <a:r>
              <a:rPr b="1" lang="en-US">
                <a:solidFill>
                  <a:schemeClr val="dk1"/>
                </a:solidFill>
              </a:rPr>
              <a:t>400 feet above the takeoff point is not always the same as 400 feet AGL</a:t>
            </a:r>
            <a:r>
              <a:rPr lang="en-US">
                <a:solidFill>
                  <a:schemeClr val="dk1"/>
                </a:solidFill>
              </a:rPr>
              <a:t>. If the aircraft flies toward rising or falling terrain, the distance between the aircraft and the ground changes even if the altitude displayed by the controller does not.</a:t>
            </a:r>
            <a:endParaRPr>
              <a:solidFill>
                <a:schemeClr val="dk1"/>
              </a:solidFill>
            </a:endParaRPr>
          </a:p>
          <a:p>
            <a:pPr indent="0" lvl="0" marL="0" rtl="0" algn="l">
              <a:spcBef>
                <a:spcPts val="1200"/>
              </a:spcBef>
              <a:spcAft>
                <a:spcPts val="0"/>
              </a:spcAft>
              <a:buNone/>
            </a:pPr>
            <a:r>
              <a:t/>
            </a:r>
            <a:endParaRPr/>
          </a:p>
        </p:txBody>
      </p:sp>
      <p:sp>
        <p:nvSpPr>
          <p:cNvPr id="174" name="Google Shape;17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discussing aircraft loading and performance, we need to understand several different types of weight.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Empty weight</a:t>
            </a:r>
            <a:r>
              <a:rPr lang="en-US">
                <a:solidFill>
                  <a:schemeClr val="dk1"/>
                </a:solidFill>
              </a:rPr>
              <a:t> is the weight of the aircraft before we add anything needed for a particular mission. It generally includes the </a:t>
            </a:r>
            <a:r>
              <a:rPr b="1" lang="en-US">
                <a:solidFill>
                  <a:schemeClr val="dk1"/>
                </a:solidFill>
              </a:rPr>
              <a:t>airframe and permanently installed equipment</a:t>
            </a:r>
            <a:r>
              <a:rPr lang="en-US">
                <a:solidFill>
                  <a:schemeClr val="dk1"/>
                </a:solidFill>
              </a:rPr>
              <a:t>. Depending on the aircraft and definition being used, it may also include items such as unusable fuel.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Useful load</a:t>
            </a:r>
            <a:r>
              <a:rPr lang="en-US">
                <a:solidFill>
                  <a:schemeClr val="dk1"/>
                </a:solidFill>
              </a:rPr>
              <a:t> is everything we add to the aircraft to make it ready for the mission. For a UAS, this can include the </a:t>
            </a:r>
            <a:r>
              <a:rPr b="1" lang="en-US">
                <a:solidFill>
                  <a:schemeClr val="dk1"/>
                </a:solidFill>
              </a:rPr>
              <a:t>battery or usable fuel, cameras, sensors, cargo, and other payload equipment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Launch weight</a:t>
            </a:r>
            <a:r>
              <a:rPr lang="en-US">
                <a:solidFill>
                  <a:schemeClr val="dk1"/>
                </a:solidFill>
              </a:rPr>
              <a:t> is the </a:t>
            </a:r>
            <a:r>
              <a:rPr b="1" lang="en-US">
                <a:solidFill>
                  <a:schemeClr val="dk1"/>
                </a:solidFill>
              </a:rPr>
              <a:t>empty weight plus the useful load</a:t>
            </a:r>
            <a:r>
              <a:rPr lang="en-US">
                <a:solidFill>
                  <a:schemeClr val="dk1"/>
                </a:solidFill>
              </a:rPr>
              <a:t>. This is what the aircraft actually weighs when it begins the flight. Launch weight is particularly important because increasing weight affects </a:t>
            </a:r>
            <a:r>
              <a:rPr b="1" lang="en-US">
                <a:solidFill>
                  <a:schemeClr val="dk1"/>
                </a:solidFill>
              </a:rPr>
              <a:t>takeoff distance, climb performance, stall speed, maneuverability, and endurance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Landing weight</a:t>
            </a:r>
            <a:r>
              <a:rPr lang="en-US">
                <a:solidFill>
                  <a:schemeClr val="dk1"/>
                </a:solidFill>
              </a:rPr>
              <a:t> is the aircraft's weight when it returns. For a battery-powered UAS, the landing weight will usually be nearly the same as the launch weight because using electrical energy does not meaningfully reduce the battery's mass. For a fuel-powered aircraft, landing weight will be lower because </a:t>
            </a:r>
            <a:r>
              <a:rPr b="1" lang="en-US">
                <a:solidFill>
                  <a:schemeClr val="dk1"/>
                </a:solidFill>
              </a:rPr>
              <a:t>fuel has been consumed</a:t>
            </a:r>
            <a:r>
              <a:rPr lang="en-US">
                <a:solidFill>
                  <a:schemeClr val="dk1"/>
                </a:solidFill>
              </a:rPr>
              <a:t>. It can also be lower if the aircraft releases or delivers a payload during the mission.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key idea is that </a:t>
            </a:r>
            <a:r>
              <a:rPr b="1" lang="en-US">
                <a:solidFill>
                  <a:schemeClr val="dk1"/>
                </a:solidFill>
              </a:rPr>
              <a:t>weight directly affects performance</a:t>
            </a:r>
            <a:r>
              <a:rPr lang="en-US">
                <a:solidFill>
                  <a:schemeClr val="dk1"/>
                </a:solidFill>
              </a:rPr>
              <a:t>. The more weight we add, the more lift and power the aircraft needs to remain airborne.</a:t>
            </a:r>
            <a:endParaRPr>
              <a:solidFill>
                <a:schemeClr val="dk1"/>
              </a:solidFill>
            </a:endParaRPr>
          </a:p>
          <a:p>
            <a:pPr indent="0" lvl="0" marL="0" rtl="0" algn="l">
              <a:spcBef>
                <a:spcPts val="1200"/>
              </a:spcBef>
              <a:spcAft>
                <a:spcPts val="0"/>
              </a:spcAft>
              <a:buNone/>
            </a:pPr>
            <a:r>
              <a:t/>
            </a:r>
            <a:endParaRPr/>
          </a:p>
        </p:txBody>
      </p:sp>
      <p:sp>
        <p:nvSpPr>
          <p:cNvPr id="180" name="Google Shape;1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understand </a:t>
            </a:r>
            <a:r>
              <a:rPr b="1" lang="en-US">
                <a:solidFill>
                  <a:schemeClr val="dk1"/>
                </a:solidFill>
              </a:rPr>
              <a:t>weight and balance</a:t>
            </a:r>
            <a:r>
              <a:rPr lang="en-US">
                <a:solidFill>
                  <a:schemeClr val="dk1"/>
                </a:solidFill>
              </a:rPr>
              <a:t>, we need to understand four basic terms: </a:t>
            </a:r>
            <a:r>
              <a:rPr b="1" lang="en-US">
                <a:solidFill>
                  <a:schemeClr val="dk1"/>
                </a:solidFill>
              </a:rPr>
              <a:t>datum, arm, moment, and center of gravity</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datum line</a:t>
            </a:r>
            <a:r>
              <a:rPr lang="en-US">
                <a:solidFill>
                  <a:schemeClr val="dk1"/>
                </a:solidFill>
              </a:rPr>
              <a:t> is an imaginary reference point established by the aircraft manufacturer. All of our weight-and-balance measurements are taken relative to this point. The datum does not have to be located on the aircraft—it is simply the starting reference for our measurements.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arm</a:t>
            </a:r>
            <a:r>
              <a:rPr lang="en-US">
                <a:solidFill>
                  <a:schemeClr val="dk1"/>
                </a:solidFill>
              </a:rPr>
              <a:t> is the horizontal distance from the datum to the location of a particular item. For example, a battery, camera, or payload might be located 15 inches behind the datum. Its arm would therefore be 15 inches.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moment</a:t>
            </a:r>
            <a:r>
              <a:rPr lang="en-US">
                <a:solidFill>
                  <a:schemeClr val="dk1"/>
                </a:solidFill>
              </a:rPr>
              <a:t> tells us how much that weight tends to rotate or balance the aircraft around the datum. We calculate moment by multiplying the item's </a:t>
            </a:r>
            <a:r>
              <a:rPr b="1" lang="en-US">
                <a:solidFill>
                  <a:schemeClr val="dk1"/>
                </a:solidFill>
              </a:rPr>
              <a:t>weight by its arm</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Moment = Weight × Arm</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we measure weight in pounds and arm in inches, the moment is expressed in </a:t>
            </a:r>
            <a:r>
              <a:rPr b="1" lang="en-US">
                <a:solidFill>
                  <a:schemeClr val="dk1"/>
                </a:solidFill>
              </a:rPr>
              <a:t>pound-inches (lb-in).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Once we know the weight and moment of everything on the aircraft, we can calculate the </a:t>
            </a:r>
            <a:r>
              <a:rPr b="1" lang="en-US">
                <a:solidFill>
                  <a:schemeClr val="dk1"/>
                </a:solidFill>
              </a:rPr>
              <a:t>center of gravity, or CG</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CG = Total Moment ÷ Total Weight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resulting number tells us how far the aircraft's balance point is located from the datum.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CG location is extremely important to aircraft stability and controllability. A CG that is </a:t>
            </a:r>
            <a:r>
              <a:rPr b="1" lang="en-US">
                <a:solidFill>
                  <a:schemeClr val="dk1"/>
                </a:solidFill>
              </a:rPr>
              <a:t>too far forward</a:t>
            </a:r>
            <a:r>
              <a:rPr lang="en-US">
                <a:solidFill>
                  <a:schemeClr val="dk1"/>
                </a:solidFill>
              </a:rPr>
              <a:t> generally makes the aircraft more stable but can make it difficult to pitch the nose up. A CG that is </a:t>
            </a:r>
            <a:r>
              <a:rPr b="1" lang="en-US">
                <a:solidFill>
                  <a:schemeClr val="dk1"/>
                </a:solidFill>
              </a:rPr>
              <a:t>too far aft</a:t>
            </a:r>
            <a:r>
              <a:rPr lang="en-US">
                <a:solidFill>
                  <a:schemeClr val="dk1"/>
                </a:solidFill>
              </a:rPr>
              <a:t> reduces longitudinal stability and can make the aircraft difficult or even unsafe to control.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usually focus on </a:t>
            </a:r>
            <a:r>
              <a:rPr b="1" lang="en-US">
                <a:solidFill>
                  <a:schemeClr val="dk1"/>
                </a:solidFill>
              </a:rPr>
              <a:t>longitudinal CG—forward and aft balance—but lateral balance also matters</a:t>
            </a:r>
            <a:r>
              <a:rPr lang="en-US">
                <a:solidFill>
                  <a:schemeClr val="dk1"/>
                </a:solidFill>
              </a:rPr>
              <a:t>. Uneven loading between the left and right sides of the aircraft can create a lateral imbalance. On larger aircraft, uneven fuel use between wing tanks is one example. On a UAS, mounting a heavy battery, sensor, or payload off-center can create the same problem.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UAS operations, the practical lesson is simple: </a:t>
            </a:r>
            <a:r>
              <a:rPr b="1" lang="en-US">
                <a:solidFill>
                  <a:schemeClr val="dk1"/>
                </a:solidFill>
              </a:rPr>
              <a:t>where we place the payload can be just as important as how much the payload weighs.</a:t>
            </a:r>
            <a:endParaRPr b="1">
              <a:solidFill>
                <a:schemeClr val="dk1"/>
              </a:solidFill>
            </a:endParaRPr>
          </a:p>
          <a:p>
            <a:pPr indent="0" lvl="0" marL="0" rtl="0" algn="l">
              <a:spcBef>
                <a:spcPts val="1200"/>
              </a:spcBef>
              <a:spcAft>
                <a:spcPts val="0"/>
              </a:spcAft>
              <a:buNone/>
            </a:pPr>
            <a:r>
              <a:t/>
            </a:r>
            <a:endParaRPr/>
          </a:p>
        </p:txBody>
      </p:sp>
      <p:sp>
        <p:nvSpPr>
          <p:cNvPr id="186" name="Google Shape;1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slide puts the terms we just discussed—</a:t>
            </a:r>
            <a:r>
              <a:rPr b="1" lang="en-US">
                <a:solidFill>
                  <a:schemeClr val="dk1"/>
                </a:solidFill>
              </a:rPr>
              <a:t>weight, arm, moment, and center of gravity—into an actual calculation</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Before every flight, the remote PIC needs to make sure the aircraft is loaded </a:t>
            </a:r>
            <a:r>
              <a:rPr b="1" lang="en-US">
                <a:solidFill>
                  <a:schemeClr val="dk1"/>
                </a:solidFill>
              </a:rPr>
              <a:t>within its allowable CG limits</a:t>
            </a:r>
            <a:r>
              <a:rPr lang="en-US">
                <a:solidFill>
                  <a:schemeClr val="dk1"/>
                </a:solidFill>
              </a:rPr>
              <a:t>. An aircraft loaded outside those limits may become difficult or even impossible to control. For a UAS, changing batteries, cameras, sensors, or other payloads can change both the aircraft's total weight and its CG.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example shown here uses a manned aircraft, but </a:t>
            </a:r>
            <a:r>
              <a:rPr b="1" lang="en-US">
                <a:solidFill>
                  <a:schemeClr val="dk1"/>
                </a:solidFill>
              </a:rPr>
              <a:t>the calculation works exactly the same way for a fixed-wing UAS</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start by listing everything contributing to the aircraft's weight. For each item, we need two numbers: its </a:t>
            </a:r>
            <a:r>
              <a:rPr b="1" lang="en-US">
                <a:solidFill>
                  <a:schemeClr val="dk1"/>
                </a:solidFill>
              </a:rPr>
              <a:t>weight</a:t>
            </a:r>
            <a:r>
              <a:rPr lang="en-US">
                <a:solidFill>
                  <a:schemeClr val="dk1"/>
                </a:solidFill>
              </a:rPr>
              <a:t> and its </a:t>
            </a:r>
            <a:r>
              <a:rPr b="1" lang="en-US">
                <a:solidFill>
                  <a:schemeClr val="dk1"/>
                </a:solidFill>
              </a:rPr>
              <a:t>arm</a:t>
            </a:r>
            <a:r>
              <a:rPr lang="en-US">
                <a:solidFill>
                  <a:schemeClr val="dk1"/>
                </a:solidFill>
              </a:rPr>
              <a:t>, which is the distance from the aircraft's datum.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each item, we calculate its moment: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Moment = Weight × Arm</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then add all of the individual weights to determine the </a:t>
            </a:r>
            <a:r>
              <a:rPr b="1" lang="en-US">
                <a:solidFill>
                  <a:schemeClr val="dk1"/>
                </a:solidFill>
              </a:rPr>
              <a:t>total aircraft weight</a:t>
            </a:r>
            <a:r>
              <a:rPr lang="en-US">
                <a:solidFill>
                  <a:schemeClr val="dk1"/>
                </a:solidFill>
              </a:rPr>
              <a:t>, and add all of the individual moments to determine the </a:t>
            </a:r>
            <a:r>
              <a:rPr b="1" lang="en-US">
                <a:solidFill>
                  <a:schemeClr val="dk1"/>
                </a:solidFill>
              </a:rPr>
              <a:t>total moment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this example, the total weight is </a:t>
            </a:r>
            <a:r>
              <a:rPr b="1" lang="en-US">
                <a:solidFill>
                  <a:schemeClr val="dk1"/>
                </a:solidFill>
              </a:rPr>
              <a:t>2,407 pounds</a:t>
            </a:r>
            <a:r>
              <a:rPr lang="en-US">
                <a:solidFill>
                  <a:schemeClr val="dk1"/>
                </a:solidFill>
              </a:rPr>
              <a:t>, and the total moment is </a:t>
            </a:r>
            <a:r>
              <a:rPr b="1" lang="en-US">
                <a:solidFill>
                  <a:schemeClr val="dk1"/>
                </a:solidFill>
              </a:rPr>
              <a:t>100.28 thousand pound-inches</a:t>
            </a:r>
            <a:r>
              <a:rPr lang="en-US">
                <a:solidFill>
                  <a:schemeClr val="dk1"/>
                </a:solidFill>
              </a:rPr>
              <a:t>. Because the moment values in the table have been divided by 1,000 to make the numbers easier to work with, we multiply the total moment by 1,000 when calculating CG.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CG = (100.28 × 1,000) ÷ 2,407 = 41.66 inches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That means the aircraft's center of gravity is located </a:t>
            </a:r>
            <a:r>
              <a:rPr b="1" lang="en-US">
                <a:solidFill>
                  <a:schemeClr val="dk1"/>
                </a:solidFill>
              </a:rPr>
              <a:t>41.66 inches from the datum</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But calculating the CG is only half the job. We then need to compare that value with the </a:t>
            </a:r>
            <a:r>
              <a:rPr b="1" lang="en-US">
                <a:solidFill>
                  <a:schemeClr val="dk1"/>
                </a:solidFill>
              </a:rPr>
              <a:t>manufacturer's allowable CG range</a:t>
            </a:r>
            <a:r>
              <a:rPr lang="en-US">
                <a:solidFill>
                  <a:schemeClr val="dk1"/>
                </a:solidFill>
              </a:rPr>
              <a:t>. A CG calculation of 41.66 inches doesn't tell us whether the aircraft is safe until we know whether </a:t>
            </a:r>
            <a:r>
              <a:rPr b="1" lang="en-US">
                <a:solidFill>
                  <a:schemeClr val="dk1"/>
                </a:solidFill>
              </a:rPr>
              <a:t>41.66 inches falls within the approved limits</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our UAS, the process is the same: </a:t>
            </a:r>
            <a:r>
              <a:rPr b="1" lang="en-US">
                <a:solidFill>
                  <a:schemeClr val="dk1"/>
                </a:solidFill>
              </a:rPr>
              <a:t>weigh it, determine where each weight is located, calculate the moments, find the CG, and verify that the CG is within limits before flight.</a:t>
            </a:r>
            <a:endParaRPr b="1">
              <a:solidFill>
                <a:schemeClr val="dk1"/>
              </a:solidFill>
            </a:endParaRPr>
          </a:p>
          <a:p>
            <a:pPr indent="0" lvl="0" marL="0" rtl="0" algn="l">
              <a:spcBef>
                <a:spcPts val="1200"/>
              </a:spcBef>
              <a:spcAft>
                <a:spcPts val="0"/>
              </a:spcAft>
              <a:buNone/>
            </a:pPr>
            <a:r>
              <a:t/>
            </a:r>
            <a:endParaRPr/>
          </a:p>
        </p:txBody>
      </p:sp>
      <p:sp>
        <p:nvSpPr>
          <p:cNvPr id="192" name="Google Shape;19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we talk about </a:t>
            </a:r>
            <a:r>
              <a:rPr b="1" lang="en-US">
                <a:solidFill>
                  <a:schemeClr val="dk1"/>
                </a:solidFill>
              </a:rPr>
              <a:t>load</a:t>
            </a:r>
            <a:r>
              <a:rPr lang="en-US">
                <a:solidFill>
                  <a:schemeClr val="dk1"/>
                </a:solidFill>
              </a:rPr>
              <a:t> in aerodynamics, we're talking about the forces or stresses that the aircraft's structure must support during flight. The wings, fuselage, control surfaces, and other components all experience these forces.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Load factor</a:t>
            </a:r>
            <a:r>
              <a:rPr lang="en-US">
                <a:solidFill>
                  <a:schemeClr val="dk1"/>
                </a:solidFill>
              </a:rPr>
              <a:t> describes how much aerodynamic load the aircraft is experiencing compared with its weight. We commonly express this in terms of </a:t>
            </a:r>
            <a:r>
              <a:rPr b="1" lang="en-US">
                <a:solidFill>
                  <a:schemeClr val="dk1"/>
                </a:solidFill>
              </a:rPr>
              <a:t>G's</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a:t>
            </a:r>
            <a:r>
              <a:rPr b="1" lang="en-US">
                <a:solidFill>
                  <a:schemeClr val="dk1"/>
                </a:solidFill>
              </a:rPr>
              <a:t>straight-and-level, unaccelerated flight</a:t>
            </a:r>
            <a:r>
              <a:rPr lang="en-US">
                <a:solidFill>
                  <a:schemeClr val="dk1"/>
                </a:solidFill>
              </a:rPr>
              <a:t>, the aircraft experiences a load factor of approximately </a:t>
            </a:r>
            <a:r>
              <a:rPr b="1" lang="en-US">
                <a:solidFill>
                  <a:schemeClr val="dk1"/>
                </a:solidFill>
              </a:rPr>
              <a:t>1 G</a:t>
            </a:r>
            <a:r>
              <a:rPr lang="en-US">
                <a:solidFill>
                  <a:schemeClr val="dk1"/>
                </a:solidFill>
              </a:rPr>
              <a:t>. The wings are producing enough lift to support the aircraft's weight.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the aircraft maneuvers, the load factor can change. During a turn, for example, some of the wing's lift must act horizontally to turn the aircraft. To maintain altitude, the aircraft must produce additional lift. This increases the load on the wings.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steeper the bank while maintaining altitude, the greater the load factor becomes. At a </a:t>
            </a:r>
            <a:r>
              <a:rPr b="1" lang="en-US">
                <a:solidFill>
                  <a:schemeClr val="dk1"/>
                </a:solidFill>
              </a:rPr>
              <a:t>60-degree bank</a:t>
            </a:r>
            <a:r>
              <a:rPr lang="en-US">
                <a:solidFill>
                  <a:schemeClr val="dk1"/>
                </a:solidFill>
              </a:rPr>
              <a:t>, for example, the aircraft experiences approximately </a:t>
            </a:r>
            <a:r>
              <a:rPr b="1" lang="en-US">
                <a:solidFill>
                  <a:schemeClr val="dk1"/>
                </a:solidFill>
              </a:rPr>
              <a:t>2 G</a:t>
            </a:r>
            <a:r>
              <a:rPr lang="en-US">
                <a:solidFill>
                  <a:schemeClr val="dk1"/>
                </a:solidFill>
              </a:rPr>
              <a:t>. That means the wings must produce roughly twice the aircraft's weight in lift.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Load factor can also change during </a:t>
            </a:r>
            <a:r>
              <a:rPr b="1" lang="en-US">
                <a:solidFill>
                  <a:schemeClr val="dk1"/>
                </a:solidFill>
              </a:rPr>
              <a:t>pull-ups, pushovers, abrupt control inputs, turbulence, and other accelerated maneuvers</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important for UAS operations because increasing load factor places additional stress on the aircraft structure and also </a:t>
            </a:r>
            <a:r>
              <a:rPr b="1" lang="en-US">
                <a:solidFill>
                  <a:schemeClr val="dk1"/>
                </a:solidFill>
              </a:rPr>
              <a:t>increases stall speed</a:t>
            </a:r>
            <a:r>
              <a:rPr lang="en-US">
                <a:solidFill>
                  <a:schemeClr val="dk1"/>
                </a:solidFill>
              </a:rPr>
              <a:t>. An aircraft can therefore stall at a higher airspeed during a steep or aggressive maneuver than it would during normal straight-and-level flight.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key point is: </a:t>
            </a:r>
            <a:r>
              <a:rPr b="1" lang="en-US">
                <a:solidFill>
                  <a:schemeClr val="dk1"/>
                </a:solidFill>
              </a:rPr>
              <a:t>the aircraft may not get any heavier during a maneuver, but the forces acting on the aircraft can become much greater.</a:t>
            </a:r>
            <a:endParaRPr b="1">
              <a:solidFill>
                <a:schemeClr val="dk1"/>
              </a:solidFill>
            </a:endParaRPr>
          </a:p>
          <a:p>
            <a:pPr indent="0" lvl="0" marL="0" rtl="0" algn="l">
              <a:spcBef>
                <a:spcPts val="1200"/>
              </a:spcBef>
              <a:spcAft>
                <a:spcPts val="0"/>
              </a:spcAft>
              <a:buNone/>
            </a:pPr>
            <a:r>
              <a:t/>
            </a:r>
            <a:endParaRPr/>
          </a:p>
        </p:txBody>
      </p:sp>
      <p:sp>
        <p:nvSpPr>
          <p:cNvPr id="200" name="Google Shape;20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chart shows how </a:t>
            </a:r>
            <a:r>
              <a:rPr b="1" lang="en-US">
                <a:solidFill>
                  <a:schemeClr val="dk1"/>
                </a:solidFill>
              </a:rPr>
              <a:t>bank angle affects load factor during a level, coordinated turn</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a:t>
            </a:r>
            <a:r>
              <a:rPr b="1" lang="en-US">
                <a:solidFill>
                  <a:schemeClr val="dk1"/>
                </a:solidFill>
              </a:rPr>
              <a:t>0 degrees of bank</a:t>
            </a:r>
            <a:r>
              <a:rPr lang="en-US">
                <a:solidFill>
                  <a:schemeClr val="dk1"/>
                </a:solidFill>
              </a:rPr>
              <a:t>, the aircraft is in straight-and-level flight and experiences a load factor of </a:t>
            </a:r>
            <a:r>
              <a:rPr b="1" lang="en-US">
                <a:solidFill>
                  <a:schemeClr val="dk1"/>
                </a:solidFill>
              </a:rPr>
              <a:t>1 G</a:t>
            </a:r>
            <a:r>
              <a:rPr lang="en-US">
                <a:solidFill>
                  <a:schemeClr val="dk1"/>
                </a:solidFill>
              </a:rPr>
              <a:t>. As we increase the bank angle, the wings must generate more lift to keep the aircraft at the same altitude, so the load factor increases.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relatively shallow bank angles, the increase is small. At </a:t>
            </a:r>
            <a:r>
              <a:rPr b="1" lang="en-US">
                <a:solidFill>
                  <a:schemeClr val="dk1"/>
                </a:solidFill>
              </a:rPr>
              <a:t>30 degrees</a:t>
            </a:r>
            <a:r>
              <a:rPr lang="en-US">
                <a:solidFill>
                  <a:schemeClr val="dk1"/>
                </a:solidFill>
              </a:rPr>
              <a:t>, the load factor is only about </a:t>
            </a:r>
            <a:r>
              <a:rPr b="1" lang="en-US">
                <a:solidFill>
                  <a:schemeClr val="dk1"/>
                </a:solidFill>
              </a:rPr>
              <a:t>1.15 G</a:t>
            </a:r>
            <a:r>
              <a:rPr lang="en-US">
                <a:solidFill>
                  <a:schemeClr val="dk1"/>
                </a:solidFill>
              </a:rPr>
              <a:t>, and at </a:t>
            </a:r>
            <a:r>
              <a:rPr b="1" lang="en-US">
                <a:solidFill>
                  <a:schemeClr val="dk1"/>
                </a:solidFill>
              </a:rPr>
              <a:t>45 degrees</a:t>
            </a:r>
            <a:r>
              <a:rPr lang="en-US">
                <a:solidFill>
                  <a:schemeClr val="dk1"/>
                </a:solidFill>
              </a:rPr>
              <a:t> it increases to about </a:t>
            </a:r>
            <a:r>
              <a:rPr b="1" lang="en-US">
                <a:solidFill>
                  <a:schemeClr val="dk1"/>
                </a:solidFill>
              </a:rPr>
              <a:t>1.4 G</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Once we get beyond 45 degrees, however, the load factor starts increasing very rapidly. At a </a:t>
            </a:r>
            <a:r>
              <a:rPr b="1" lang="en-US">
                <a:solidFill>
                  <a:schemeClr val="dk1"/>
                </a:solidFill>
              </a:rPr>
              <a:t>60-degree bank</a:t>
            </a:r>
            <a:r>
              <a:rPr lang="en-US">
                <a:solidFill>
                  <a:schemeClr val="dk1"/>
                </a:solidFill>
              </a:rPr>
              <a:t>, the aircraft experiences </a:t>
            </a:r>
            <a:r>
              <a:rPr b="1" lang="en-US">
                <a:solidFill>
                  <a:schemeClr val="dk1"/>
                </a:solidFill>
              </a:rPr>
              <a:t>2 G</a:t>
            </a:r>
            <a:r>
              <a:rPr lang="en-US">
                <a:solidFill>
                  <a:schemeClr val="dk1"/>
                </a:solidFill>
              </a:rPr>
              <a:t>. In other words, the wings must produce twice as much lift as they do in straight-and-level flight.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a:t>
            </a:r>
            <a:r>
              <a:rPr b="1" lang="en-US">
                <a:solidFill>
                  <a:schemeClr val="dk1"/>
                </a:solidFill>
              </a:rPr>
              <a:t>70 degrees</a:t>
            </a:r>
            <a:r>
              <a:rPr lang="en-US">
                <a:solidFill>
                  <a:schemeClr val="dk1"/>
                </a:solidFill>
              </a:rPr>
              <a:t>, we're approaching </a:t>
            </a:r>
            <a:r>
              <a:rPr b="1" lang="en-US">
                <a:solidFill>
                  <a:schemeClr val="dk1"/>
                </a:solidFill>
              </a:rPr>
              <a:t>3 G</a:t>
            </a:r>
            <a:r>
              <a:rPr lang="en-US">
                <a:solidFill>
                  <a:schemeClr val="dk1"/>
                </a:solidFill>
              </a:rPr>
              <a:t>, and at </a:t>
            </a:r>
            <a:r>
              <a:rPr b="1" lang="en-US">
                <a:solidFill>
                  <a:schemeClr val="dk1"/>
                </a:solidFill>
              </a:rPr>
              <a:t>80 degrees</a:t>
            </a:r>
            <a:r>
              <a:rPr lang="en-US">
                <a:solidFill>
                  <a:schemeClr val="dk1"/>
                </a:solidFill>
              </a:rPr>
              <a:t>, we're approaching </a:t>
            </a:r>
            <a:r>
              <a:rPr b="1" lang="en-US">
                <a:solidFill>
                  <a:schemeClr val="dk1"/>
                </a:solidFill>
              </a:rPr>
              <a:t>6 G</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Notice what happens as we approach a </a:t>
            </a:r>
            <a:r>
              <a:rPr b="1" lang="en-US">
                <a:solidFill>
                  <a:schemeClr val="dk1"/>
                </a:solidFill>
              </a:rPr>
              <a:t>90-degree bank</a:t>
            </a:r>
            <a:r>
              <a:rPr lang="en-US">
                <a:solidFill>
                  <a:schemeClr val="dk1"/>
                </a:solidFill>
              </a:rPr>
              <a:t>. The required load factor theoretically approaches infinity. That's because, at exactly 90 degrees, the lift vector is entirely horizontal—there is no vertical component of lift available to support the aircraft's weight. A conventional fixed-wing aircraft therefore cannot maintain a level, constant-altitude turn at 90 degrees of bank using wing lift alone.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UAS pilots, the important lesson is that </a:t>
            </a:r>
            <a:r>
              <a:rPr b="1" lang="en-US">
                <a:solidFill>
                  <a:schemeClr val="dk1"/>
                </a:solidFill>
              </a:rPr>
              <a:t>steep turns dramatically increase the forces on the aircraft</a:t>
            </a:r>
            <a:r>
              <a:rPr lang="en-US">
                <a:solidFill>
                  <a:schemeClr val="dk1"/>
                </a:solidFill>
              </a:rPr>
              <a:t>. Higher load factors increase structural loads, require more lift, and </a:t>
            </a:r>
            <a:r>
              <a:rPr b="1" lang="en-US">
                <a:solidFill>
                  <a:schemeClr val="dk1"/>
                </a:solidFill>
              </a:rPr>
              <a:t>increase stall speed</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as bank angle increases, remember: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More bank → more required lift → higher load factor → higher stall speed.</a:t>
            </a:r>
            <a:endParaRPr b="1">
              <a:solidFill>
                <a:schemeClr val="dk1"/>
              </a:solidFill>
            </a:endParaRPr>
          </a:p>
          <a:p>
            <a:pPr indent="0" lvl="0" marL="0" rtl="0" algn="l">
              <a:spcBef>
                <a:spcPts val="1200"/>
              </a:spcBef>
              <a:spcAft>
                <a:spcPts val="0"/>
              </a:spcAft>
              <a:buNone/>
            </a:pPr>
            <a:r>
              <a:t/>
            </a:r>
            <a:endParaRPr/>
          </a:p>
        </p:txBody>
      </p:sp>
      <p:sp>
        <p:nvSpPr>
          <p:cNvPr id="206" name="Google Shape;20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Before we talk about </a:t>
            </a:r>
            <a:r>
              <a:rPr b="1" lang="en-US">
                <a:solidFill>
                  <a:schemeClr val="dk1"/>
                </a:solidFill>
              </a:rPr>
              <a:t>stalls</a:t>
            </a:r>
            <a:r>
              <a:rPr lang="en-US">
                <a:solidFill>
                  <a:schemeClr val="dk1"/>
                </a:solidFill>
              </a:rPr>
              <a:t>, we need to understand a few aerodynamic terms that explain what causes a stall.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 </a:t>
            </a:r>
            <a:r>
              <a:rPr b="1" lang="en-US">
                <a:solidFill>
                  <a:schemeClr val="dk1"/>
                </a:solidFill>
              </a:rPr>
              <a:t>airfoil</a:t>
            </a:r>
            <a:r>
              <a:rPr lang="en-US">
                <a:solidFill>
                  <a:schemeClr val="dk1"/>
                </a:solidFill>
              </a:rPr>
              <a:t> is a shape designed to produce a useful aerodynamic force as air moves around it. On a fixed-wing UAS, the most obvious airfoil is the </a:t>
            </a:r>
            <a:r>
              <a:rPr b="1" lang="en-US">
                <a:solidFill>
                  <a:schemeClr val="dk1"/>
                </a:solidFill>
              </a:rPr>
              <a:t>wing</a:t>
            </a:r>
            <a:r>
              <a:rPr lang="en-US">
                <a:solidFill>
                  <a:schemeClr val="dk1"/>
                </a:solidFill>
              </a:rPr>
              <a:t>, although propeller blades and control surfaces also use airfoil shapes.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chord line</a:t>
            </a:r>
            <a:r>
              <a:rPr lang="en-US">
                <a:solidFill>
                  <a:schemeClr val="dk1"/>
                </a:solidFill>
              </a:rPr>
              <a:t> is an imaginary straight line drawn from the </a:t>
            </a:r>
            <a:r>
              <a:rPr b="1" lang="en-US">
                <a:solidFill>
                  <a:schemeClr val="dk1"/>
                </a:solidFill>
              </a:rPr>
              <a:t>leading edge to the trailing edge</a:t>
            </a:r>
            <a:r>
              <a:rPr lang="en-US">
                <a:solidFill>
                  <a:schemeClr val="dk1"/>
                </a:solidFill>
              </a:rPr>
              <a:t> of the airfoil. We use this line as a reference when measuring angle of attack.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Relative wind</a:t>
            </a:r>
            <a:r>
              <a:rPr lang="en-US">
                <a:solidFill>
                  <a:schemeClr val="dk1"/>
                </a:solidFill>
              </a:rPr>
              <a:t> is the airflow the wing actually experiences as it moves through the air. Relative wind acts </a:t>
            </a:r>
            <a:r>
              <a:rPr b="1" lang="en-US">
                <a:solidFill>
                  <a:schemeClr val="dk1"/>
                </a:solidFill>
              </a:rPr>
              <a:t>opposite the aircraft's flight path</a:t>
            </a:r>
            <a:r>
              <a:rPr lang="en-US">
                <a:solidFill>
                  <a:schemeClr val="dk1"/>
                </a:solidFill>
              </a:rPr>
              <a:t>. This is important because angle of attack is based on the direction of the relative wind—not simply the aircraft's attitude relative to the horizon.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angle of attack</a:t>
            </a:r>
            <a:r>
              <a:rPr lang="en-US">
                <a:solidFill>
                  <a:schemeClr val="dk1"/>
                </a:solidFill>
              </a:rPr>
              <a:t>, or AOA, is the angle between the </a:t>
            </a:r>
            <a:r>
              <a:rPr b="1" lang="en-US">
                <a:solidFill>
                  <a:schemeClr val="dk1"/>
                </a:solidFill>
              </a:rPr>
              <a:t>chord line and the relative wind</a:t>
            </a:r>
            <a:r>
              <a:rPr lang="en-US">
                <a:solidFill>
                  <a:schemeClr val="dk1"/>
                </a:solidFill>
              </a:rPr>
              <a:t>. As angle of attack increases, lift generally increases—up to a point.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Eventually, the wing reaches its </a:t>
            </a:r>
            <a:r>
              <a:rPr b="1" lang="en-US">
                <a:solidFill>
                  <a:schemeClr val="dk1"/>
                </a:solidFill>
              </a:rPr>
              <a:t>critical angle of attack</a:t>
            </a:r>
            <a:r>
              <a:rPr lang="en-US">
                <a:solidFill>
                  <a:schemeClr val="dk1"/>
                </a:solidFill>
              </a:rPr>
              <a:t>. Beyond this angle, airflow begins to separate significantly from the upper surface of the wing, causing a rapid reduction in lift. </a:t>
            </a:r>
            <a:r>
              <a:rPr b="1" lang="en-US">
                <a:solidFill>
                  <a:schemeClr val="dk1"/>
                </a:solidFill>
              </a:rPr>
              <a:t>That is a stall.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One of the most important concepts to remember is that </a:t>
            </a:r>
            <a:r>
              <a:rPr b="1" lang="en-US">
                <a:solidFill>
                  <a:schemeClr val="dk1"/>
                </a:solidFill>
              </a:rPr>
              <a:t>an aircraft stalls because it exceeds its critical angle of attack—not simply because it is flying too slowly.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Low airspeed makes a stall more likely because the aircraft must typically increase its angle of attack to maintain lift, but an aircraft can stall </a:t>
            </a:r>
            <a:r>
              <a:rPr b="1" lang="en-US">
                <a:solidFill>
                  <a:schemeClr val="dk1"/>
                </a:solidFill>
              </a:rPr>
              <a:t>at any airspeed, altitude, or attitude</a:t>
            </a:r>
            <a:r>
              <a:rPr lang="en-US">
                <a:solidFill>
                  <a:schemeClr val="dk1"/>
                </a:solidFill>
              </a:rPr>
              <a:t> if the critical angle of attack is exceeded.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also connects directly to our previous discussion about load factor: </a:t>
            </a:r>
            <a:r>
              <a:rPr b="1" lang="en-US">
                <a:solidFill>
                  <a:schemeClr val="dk1"/>
                </a:solidFill>
              </a:rPr>
              <a:t>as load factor increases, the aircraft can reach its critical angle of attack at a higher airspeed.</a:t>
            </a:r>
            <a:endParaRPr b="1">
              <a:solidFill>
                <a:schemeClr val="dk1"/>
              </a:solidFill>
            </a:endParaRPr>
          </a:p>
          <a:p>
            <a:pPr indent="0" lvl="0" marL="0" rtl="0" algn="l">
              <a:spcBef>
                <a:spcPts val="1200"/>
              </a:spcBef>
              <a:spcAft>
                <a:spcPts val="0"/>
              </a:spcAft>
              <a:buNone/>
            </a:pPr>
            <a:r>
              <a:t/>
            </a:r>
            <a:endParaRPr/>
          </a:p>
        </p:txBody>
      </p:sp>
      <p:sp>
        <p:nvSpPr>
          <p:cNvPr id="212" name="Google Shape;21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a:t>
            </a:r>
            <a:r>
              <a:rPr b="1" lang="en-US">
                <a:solidFill>
                  <a:schemeClr val="dk1"/>
                </a:solidFill>
              </a:rPr>
              <a:t>stall occurs when the wing exceeds its critical angle of attack</a:t>
            </a:r>
            <a:r>
              <a:rPr lang="en-US">
                <a:solidFill>
                  <a:schemeClr val="dk1"/>
                </a:solidFill>
              </a:rPr>
              <a:t>. For many conventional airfoils, this occurs somewhere around </a:t>
            </a:r>
            <a:r>
              <a:rPr b="1" lang="en-US">
                <a:solidFill>
                  <a:schemeClr val="dk1"/>
                </a:solidFill>
              </a:rPr>
              <a:t>15 to 20 degrees</a:t>
            </a:r>
            <a:r>
              <a:rPr lang="en-US">
                <a:solidFill>
                  <a:schemeClr val="dk1"/>
                </a:solidFill>
              </a:rPr>
              <a:t>, but the actual critical angle depends on the particular airfoil and aircraft design.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As we increase angle of attack, the wing initially produces more lift. However, eventually the airflow can no longer remain smoothly attached to the upper surface of the wing.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As the critical angle of attack is reached and exceeded, the airflow begins to </a:t>
            </a:r>
            <a:r>
              <a:rPr b="1" lang="en-US">
                <a:solidFill>
                  <a:schemeClr val="dk1"/>
                </a:solidFill>
              </a:rPr>
              <a:t>separate from the wing</a:t>
            </a:r>
            <a:r>
              <a:rPr lang="en-US">
                <a:solidFill>
                  <a:schemeClr val="dk1"/>
                </a:solidFill>
              </a:rPr>
              <a:t>. This creates turbulent airflow and causes a significant reduction in lift. At that point, the wing is stalled.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diagram shows this progression. At a </a:t>
            </a:r>
            <a:r>
              <a:rPr b="1" lang="en-US">
                <a:solidFill>
                  <a:schemeClr val="dk1"/>
                </a:solidFill>
              </a:rPr>
              <a:t>low angle of attack</a:t>
            </a:r>
            <a:r>
              <a:rPr lang="en-US">
                <a:solidFill>
                  <a:schemeClr val="dk1"/>
                </a:solidFill>
              </a:rPr>
              <a:t>, airflow remains relatively smooth and attached. As angle of attack increases, separation begins to develop. At an excessive angle of attack, significant separation occurs and the wing can no longer produce enough lift for the flight condition.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 important point is that </a:t>
            </a:r>
            <a:r>
              <a:rPr b="1" lang="en-US">
                <a:solidFill>
                  <a:schemeClr val="dk1"/>
                </a:solidFill>
              </a:rPr>
              <a:t>a wing always stalls when its critical angle of attack is exceeded</a:t>
            </a:r>
            <a:r>
              <a:rPr lang="en-US">
                <a:solidFill>
                  <a:schemeClr val="dk1"/>
                </a:solidFill>
              </a:rPr>
              <a:t>. It doesn't matter whether the aircraft is high or low, fast or slow, or whether the nose is pointed up or down.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often associate stalls with low airspeed because slowing an aircraft generally requires us to increase angle of attack to maintain lift. But </a:t>
            </a:r>
            <a:r>
              <a:rPr b="1" lang="en-US">
                <a:solidFill>
                  <a:schemeClr val="dk1"/>
                </a:solidFill>
              </a:rPr>
              <a:t>airspeed itself does not cause the stall—the excessive angle of attack does</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also connects to our discussion of load factor. When we increase the load factor—for example, during a steep level turn—the wing must produce additional lift. As a result, the aircraft will reach its critical angle of attack at a </a:t>
            </a:r>
            <a:r>
              <a:rPr b="1" lang="en-US">
                <a:solidFill>
                  <a:schemeClr val="dk1"/>
                </a:solidFill>
              </a:rPr>
              <a:t>higher airspeed</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remember these two relationships: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Critical angle of attack exceeded → Stall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Higher load factor → Higher stall speed</a:t>
            </a:r>
            <a:endParaRPr b="1">
              <a:solidFill>
                <a:schemeClr val="dk1"/>
              </a:solidFill>
            </a:endParaRPr>
          </a:p>
          <a:p>
            <a:pPr indent="0" lvl="0" marL="0" rtl="0" algn="l">
              <a:spcBef>
                <a:spcPts val="1200"/>
              </a:spcBef>
              <a:spcAft>
                <a:spcPts val="0"/>
              </a:spcAft>
              <a:buNone/>
            </a:pPr>
            <a:r>
              <a:t/>
            </a:r>
            <a:endParaRPr/>
          </a:p>
        </p:txBody>
      </p:sp>
      <p:sp>
        <p:nvSpPr>
          <p:cNvPr id="219" name="Google Shape;21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remote PIC is ultimately responsible for determining whether the UAS can safely complete the planned flight</a:t>
            </a:r>
            <a:r>
              <a:rPr lang="en-US">
                <a:solidFill>
                  <a:schemeClr val="dk1"/>
                </a:solidFill>
              </a:rPr>
              <a:t>. Before launching, we need to consider the aircraft, payload, environmental conditions, launch area, and the performance required for the mission. If those factors create an unacceptable risk or increase the likelihood of losing positive control of the aircraft, we should not launch.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a fixed-wing UAS that uses a </a:t>
            </a:r>
            <a:r>
              <a:rPr b="1" lang="en-US">
                <a:solidFill>
                  <a:schemeClr val="dk1"/>
                </a:solidFill>
              </a:rPr>
              <a:t>runway or rolling takeoff</a:t>
            </a:r>
            <a:r>
              <a:rPr lang="en-US">
                <a:solidFill>
                  <a:schemeClr val="dk1"/>
                </a:solidFill>
              </a:rPr>
              <a:t>, runway slope can affect the distance required to become airborne. An </a:t>
            </a:r>
            <a:r>
              <a:rPr b="1" lang="en-US">
                <a:solidFill>
                  <a:schemeClr val="dk1"/>
                </a:solidFill>
              </a:rPr>
              <a:t>upslope increases resistance</a:t>
            </a:r>
            <a:r>
              <a:rPr lang="en-US">
                <a:solidFill>
                  <a:schemeClr val="dk1"/>
                </a:solidFill>
              </a:rPr>
              <a:t>, so the aircraft generally requires more distance to accelerate to launch speed. A </a:t>
            </a:r>
            <a:r>
              <a:rPr b="1" lang="en-US">
                <a:solidFill>
                  <a:schemeClr val="dk1"/>
                </a:solidFill>
              </a:rPr>
              <a:t>downslope assists acceleration</a:t>
            </a:r>
            <a:r>
              <a:rPr lang="en-US">
                <a:solidFill>
                  <a:schemeClr val="dk1"/>
                </a:solidFill>
              </a:rPr>
              <a:t> and can reduce the required distance. For hand-launched or catapult-launched UAS, runway slope may not be relevant, but the same basic idea applies: anything that makes it harder to reach the required airspeed affects launch performance.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Four particularly important performance factors are </a:t>
            </a:r>
            <a:r>
              <a:rPr b="1" lang="en-US">
                <a:solidFill>
                  <a:schemeClr val="dk1"/>
                </a:solidFill>
              </a:rPr>
              <a:t>weight, altitude, temperature, and wind</a:t>
            </a:r>
            <a:r>
              <a:rPr lang="en-US">
                <a:solidFill>
                  <a:schemeClr val="dk1"/>
                </a:solidFill>
              </a:rPr>
              <a:t>. A heavier aircraft requires more lift and generally needs a higher launch speed. Higher density altitude—often caused by </a:t>
            </a:r>
            <a:r>
              <a:rPr b="1" lang="en-US">
                <a:solidFill>
                  <a:schemeClr val="dk1"/>
                </a:solidFill>
              </a:rPr>
              <a:t>higher elevation and higher temperature—reduces air density</a:t>
            </a:r>
            <a:r>
              <a:rPr lang="en-US">
                <a:solidFill>
                  <a:schemeClr val="dk1"/>
                </a:solidFill>
              </a:rPr>
              <a:t>, which can decrease aerodynamic and propeller performance. Wind is also important: a </a:t>
            </a:r>
            <a:r>
              <a:rPr b="1" lang="en-US">
                <a:solidFill>
                  <a:schemeClr val="dk1"/>
                </a:solidFill>
              </a:rPr>
              <a:t>headwind generally improves launch performance</a:t>
            </a:r>
            <a:r>
              <a:rPr lang="en-US">
                <a:solidFill>
                  <a:schemeClr val="dk1"/>
                </a:solidFill>
              </a:rPr>
              <a:t>, while a tailwind increases the ground speed and distance needed to achieve the required airspeed.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a:t>
            </a:r>
            <a:r>
              <a:rPr b="1" lang="en-US">
                <a:solidFill>
                  <a:schemeClr val="dk1"/>
                </a:solidFill>
              </a:rPr>
              <a:t>maximum endurance</a:t>
            </a:r>
            <a:r>
              <a:rPr lang="en-US">
                <a:solidFill>
                  <a:schemeClr val="dk1"/>
                </a:solidFill>
              </a:rPr>
              <a:t> means keeping the aircraft airborne for the greatest amount of time. For a fixed-wing aircraft, this occurs near the condition where the </a:t>
            </a:r>
            <a:r>
              <a:rPr b="1" lang="en-US">
                <a:solidFill>
                  <a:schemeClr val="dk1"/>
                </a:solidFill>
              </a:rPr>
              <a:t>minimum power is required to maintain flight</a:t>
            </a:r>
            <a:r>
              <a:rPr lang="en-US">
                <a:solidFill>
                  <a:schemeClr val="dk1"/>
                </a:solidFill>
              </a:rPr>
              <a:t>. For an electric UAS, that means operating where the propulsion system requires the least battery power necessary to remain airborne.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It is useful to distinguish </a:t>
            </a:r>
            <a:r>
              <a:rPr b="1" lang="en-US">
                <a:solidFill>
                  <a:schemeClr val="dk1"/>
                </a:solidFill>
              </a:rPr>
              <a:t>endurance from range</a:t>
            </a:r>
            <a:r>
              <a:rPr lang="en-US">
                <a:solidFill>
                  <a:schemeClr val="dk1"/>
                </a:solidFill>
              </a:rPr>
              <a:t>: endurance asks, </a:t>
            </a:r>
            <a:r>
              <a:rPr b="1" lang="en-US">
                <a:solidFill>
                  <a:schemeClr val="dk1"/>
                </a:solidFill>
              </a:rPr>
              <a:t>“How long can I stay airborne?”</a:t>
            </a:r>
            <a:r>
              <a:rPr lang="en-US">
                <a:solidFill>
                  <a:schemeClr val="dk1"/>
                </a:solidFill>
              </a:rPr>
              <a:t> Range asks, </a:t>
            </a:r>
            <a:r>
              <a:rPr b="1" lang="en-US">
                <a:solidFill>
                  <a:schemeClr val="dk1"/>
                </a:solidFill>
              </a:rPr>
              <a:t>“How far can I travel?”</a:t>
            </a:r>
            <a:r>
              <a:rPr lang="en-US">
                <a:solidFill>
                  <a:schemeClr val="dk1"/>
                </a:solidFill>
              </a:rPr>
              <a:t> The airspeed for maximum endurance is not necessarily the same as the airspeed for maximum range.</a:t>
            </a:r>
            <a:endParaRPr>
              <a:solidFill>
                <a:schemeClr val="dk1"/>
              </a:solidFill>
            </a:endParaRPr>
          </a:p>
          <a:p>
            <a:pPr indent="0" lvl="0" marL="0" rtl="0" algn="l">
              <a:spcBef>
                <a:spcPts val="1200"/>
              </a:spcBef>
              <a:spcAft>
                <a:spcPts val="0"/>
              </a:spcAft>
              <a:buNone/>
            </a:pPr>
            <a:r>
              <a:t/>
            </a:r>
            <a:endParaRPr/>
          </a:p>
        </p:txBody>
      </p:sp>
      <p:sp>
        <p:nvSpPr>
          <p:cNvPr id="226" name="Google Shape;22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5400"/>
              <a:buFont typeface="Lustria"/>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 type="subTitle"/>
          </p:nvPr>
        </p:nvSpPr>
        <p:spPr>
          <a:xfrm>
            <a:off x="1370693" y="359833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spcBef>
                <a:spcPts val="400"/>
              </a:spcBef>
              <a:spcAft>
                <a:spcPts val="0"/>
              </a:spcAft>
              <a:buSzPts val="1400"/>
              <a:buNone/>
              <a:defRPr>
                <a:solidFill>
                  <a:schemeClr val="lt1"/>
                </a:solidFill>
              </a:defRPr>
            </a:lvl1pPr>
            <a:lvl2pPr lvl="1" algn="ctr">
              <a:spcBef>
                <a:spcPts val="600"/>
              </a:spcBef>
              <a:spcAft>
                <a:spcPts val="0"/>
              </a:spcAft>
              <a:buSzPts val="1260"/>
              <a:buNone/>
              <a:defRPr>
                <a:solidFill>
                  <a:schemeClr val="lt1"/>
                </a:solidFill>
              </a:defRPr>
            </a:lvl2pPr>
            <a:lvl3pPr lvl="2" algn="ctr">
              <a:spcBef>
                <a:spcPts val="600"/>
              </a:spcBef>
              <a:spcAft>
                <a:spcPts val="0"/>
              </a:spcAft>
              <a:buSzPts val="1120"/>
              <a:buNone/>
              <a:defRPr>
                <a:solidFill>
                  <a:schemeClr val="lt1"/>
                </a:solidFill>
              </a:defRPr>
            </a:lvl3pPr>
            <a:lvl4pPr lvl="3" algn="ctr">
              <a:spcBef>
                <a:spcPts val="600"/>
              </a:spcBef>
              <a:spcAft>
                <a:spcPts val="0"/>
              </a:spcAft>
              <a:buSzPts val="980"/>
              <a:buNone/>
              <a:defRPr>
                <a:solidFill>
                  <a:schemeClr val="lt1"/>
                </a:solidFill>
              </a:defRPr>
            </a:lvl4pPr>
            <a:lvl5pPr lvl="4" algn="ctr">
              <a:spcBef>
                <a:spcPts val="600"/>
              </a:spcBef>
              <a:spcAft>
                <a:spcPts val="0"/>
              </a:spcAft>
              <a:buSzPts val="98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14" name="Google Shape;14;p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20" name="Google Shape;20;p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1295401" y="1761067"/>
            <a:ext cx="9590550" cy="182881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4000"/>
              <a:buFont typeface="Lustria"/>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 type="body"/>
          </p:nvPr>
        </p:nvSpPr>
        <p:spPr>
          <a:xfrm>
            <a:off x="1295401" y="3589879"/>
            <a:ext cx="9590550" cy="150705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400"/>
              </a:spcBef>
              <a:spcAft>
                <a:spcPts val="0"/>
              </a:spcAft>
              <a:buSzPts val="1400"/>
              <a:buNone/>
              <a:defRPr sz="2000">
                <a:solidFill>
                  <a:schemeClr val="lt1"/>
                </a:solidFill>
              </a:defRPr>
            </a:lvl1pPr>
            <a:lvl2pPr indent="-228600" lvl="1" marL="914400" algn="l">
              <a:spcBef>
                <a:spcPts val="600"/>
              </a:spcBef>
              <a:spcAft>
                <a:spcPts val="0"/>
              </a:spcAft>
              <a:buSzPts val="1260"/>
              <a:buNone/>
              <a:defRPr sz="1800">
                <a:solidFill>
                  <a:schemeClr val="lt1"/>
                </a:solidFill>
              </a:defRPr>
            </a:lvl2pPr>
            <a:lvl3pPr indent="-228600" lvl="2" marL="1371600" algn="l">
              <a:spcBef>
                <a:spcPts val="600"/>
              </a:spcBef>
              <a:spcAft>
                <a:spcPts val="0"/>
              </a:spcAft>
              <a:buSzPts val="1120"/>
              <a:buNone/>
              <a:defRPr sz="1600">
                <a:solidFill>
                  <a:schemeClr val="lt1"/>
                </a:solidFill>
              </a:defRPr>
            </a:lvl3pPr>
            <a:lvl4pPr indent="-228600" lvl="3" marL="1828800" algn="l">
              <a:spcBef>
                <a:spcPts val="600"/>
              </a:spcBef>
              <a:spcAft>
                <a:spcPts val="0"/>
              </a:spcAft>
              <a:buSzPts val="980"/>
              <a:buNone/>
              <a:defRPr sz="1400">
                <a:solidFill>
                  <a:schemeClr val="lt1"/>
                </a:solidFill>
              </a:defRPr>
            </a:lvl4pPr>
            <a:lvl5pPr indent="-228600" lvl="4" marL="2286000" algn="l">
              <a:spcBef>
                <a:spcPts val="600"/>
              </a:spcBef>
              <a:spcAft>
                <a:spcPts val="0"/>
              </a:spcAft>
              <a:buSzPts val="980"/>
              <a:buNone/>
              <a:defRPr sz="1400">
                <a:solidFill>
                  <a:schemeClr val="lt1"/>
                </a:solidFill>
              </a:defRPr>
            </a:lvl5pPr>
            <a:lvl6pPr indent="-228600" lvl="5" marL="2743200" algn="l">
              <a:spcBef>
                <a:spcPts val="600"/>
              </a:spcBef>
              <a:spcAft>
                <a:spcPts val="0"/>
              </a:spcAft>
              <a:buSzPts val="980"/>
              <a:buNone/>
              <a:defRPr sz="1400">
                <a:solidFill>
                  <a:schemeClr val="lt1"/>
                </a:solidFill>
              </a:defRPr>
            </a:lvl6pPr>
            <a:lvl7pPr indent="-228600" lvl="6" marL="3200400" algn="l">
              <a:spcBef>
                <a:spcPts val="600"/>
              </a:spcBef>
              <a:spcAft>
                <a:spcPts val="0"/>
              </a:spcAft>
              <a:buSzPts val="980"/>
              <a:buNone/>
              <a:defRPr sz="1400">
                <a:solidFill>
                  <a:schemeClr val="lt1"/>
                </a:solidFill>
              </a:defRPr>
            </a:lvl7pPr>
            <a:lvl8pPr indent="-228600" lvl="7" marL="3657600" algn="l">
              <a:spcBef>
                <a:spcPts val="600"/>
              </a:spcBef>
              <a:spcAft>
                <a:spcPts val="0"/>
              </a:spcAft>
              <a:buSzPts val="980"/>
              <a:buNone/>
              <a:defRPr sz="1400">
                <a:solidFill>
                  <a:schemeClr val="lt1"/>
                </a:solidFill>
              </a:defRPr>
            </a:lvl8pPr>
            <a:lvl9pPr indent="-228600" lvl="8" marL="4114800" algn="l">
              <a:spcBef>
                <a:spcPts val="600"/>
              </a:spcBef>
              <a:spcAft>
                <a:spcPts val="600"/>
              </a:spcAft>
              <a:buSzPts val="980"/>
              <a:buNone/>
              <a:defRPr sz="1400">
                <a:solidFill>
                  <a:schemeClr val="lt1"/>
                </a:solidFill>
              </a:defRPr>
            </a:lvl9pPr>
          </a:lstStyle>
          <a:p/>
        </p:txBody>
      </p:sp>
      <p:sp>
        <p:nvSpPr>
          <p:cNvPr id="26" name="Google Shape;26;p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 type="body"/>
          </p:nvPr>
        </p:nvSpPr>
        <p:spPr>
          <a:xfrm>
            <a:off x="913795" y="1732449"/>
            <a:ext cx="5060497" cy="40587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32" name="Google Shape;32;p5"/>
          <p:cNvSpPr txBox="1"/>
          <p:nvPr>
            <p:ph idx="2" type="body"/>
          </p:nvPr>
        </p:nvSpPr>
        <p:spPr>
          <a:xfrm>
            <a:off x="6202892" y="1732449"/>
            <a:ext cx="5064665"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33" name="Google Shape;33;p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pic>
        <p:nvPicPr>
          <p:cNvPr descr="Slate-V2-HD-compPhotoInset.png" id="37" name="Google Shape;37;p6"/>
          <p:cNvPicPr preferRelativeResize="0"/>
          <p:nvPr/>
        </p:nvPicPr>
        <p:blipFill rotWithShape="1">
          <a:blip r:embed="rId2">
            <a:alphaModFix/>
          </a:blip>
          <a:srcRect b="0" l="0" r="0" t="0"/>
          <a:stretch/>
        </p:blipFill>
        <p:spPr>
          <a:xfrm>
            <a:off x="913795" y="1734506"/>
            <a:ext cx="5089072" cy="4148769"/>
          </a:xfrm>
          <a:prstGeom prst="rect">
            <a:avLst/>
          </a:prstGeom>
          <a:noFill/>
          <a:ln>
            <a:noFill/>
          </a:ln>
        </p:spPr>
      </p:pic>
      <p:pic>
        <p:nvPicPr>
          <p:cNvPr descr="Slate-V2-HD-compPhotoInset.png" id="38" name="Google Shape;38;p6"/>
          <p:cNvPicPr preferRelativeResize="0"/>
          <p:nvPr/>
        </p:nvPicPr>
        <p:blipFill rotWithShape="1">
          <a:blip r:embed="rId2">
            <a:alphaModFix/>
          </a:blip>
          <a:srcRect b="0" l="0" r="0" t="0"/>
          <a:stretch/>
        </p:blipFill>
        <p:spPr>
          <a:xfrm>
            <a:off x="6178485" y="1734506"/>
            <a:ext cx="5089072" cy="4148769"/>
          </a:xfrm>
          <a:prstGeom prst="rect">
            <a:avLst/>
          </a:prstGeom>
          <a:noFill/>
          <a:ln>
            <a:noFill/>
          </a:ln>
        </p:spPr>
      </p:pic>
      <p:sp>
        <p:nvSpPr>
          <p:cNvPr id="39" name="Google Shape;39;p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 type="body"/>
          </p:nvPr>
        </p:nvSpPr>
        <p:spPr>
          <a:xfrm>
            <a:off x="1005872" y="1835254"/>
            <a:ext cx="4876344" cy="54488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1" name="Google Shape;41;p6"/>
          <p:cNvSpPr txBox="1"/>
          <p:nvPr>
            <p:ph idx="2" type="body"/>
          </p:nvPr>
        </p:nvSpPr>
        <p:spPr>
          <a:xfrm>
            <a:off x="1005872" y="2380137"/>
            <a:ext cx="4876344"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20"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40" lvl="3" marL="1828800" algn="l">
              <a:spcBef>
                <a:spcPts val="600"/>
              </a:spcBef>
              <a:spcAft>
                <a:spcPts val="0"/>
              </a:spcAft>
              <a:buSzPts val="840"/>
              <a:buChar char="🞚"/>
              <a:defRPr sz="1200"/>
            </a:lvl4pPr>
            <a:lvl5pPr indent="-281940"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42" name="Google Shape;42;p6"/>
          <p:cNvSpPr txBox="1"/>
          <p:nvPr>
            <p:ph idx="3" type="body"/>
          </p:nvPr>
        </p:nvSpPr>
        <p:spPr>
          <a:xfrm>
            <a:off x="6294967" y="1835254"/>
            <a:ext cx="4895330" cy="54488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3" name="Google Shape;43;p6"/>
          <p:cNvSpPr txBox="1"/>
          <p:nvPr>
            <p:ph idx="4" type="body"/>
          </p:nvPr>
        </p:nvSpPr>
        <p:spPr>
          <a:xfrm>
            <a:off x="6294967" y="2380137"/>
            <a:ext cx="4895330"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20"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40" lvl="3" marL="1828800" algn="l">
              <a:spcBef>
                <a:spcPts val="600"/>
              </a:spcBef>
              <a:spcAft>
                <a:spcPts val="0"/>
              </a:spcAft>
              <a:buSzPts val="840"/>
              <a:buChar char="🞚"/>
              <a:defRPr sz="1200"/>
            </a:lvl4pPr>
            <a:lvl5pPr indent="-281940"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44" name="Google Shape;44;p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913795" y="609600"/>
            <a:ext cx="3706889" cy="182191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400"/>
              <a:buFont typeface="Lustria"/>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 type="body"/>
          </p:nvPr>
        </p:nvSpPr>
        <p:spPr>
          <a:xfrm>
            <a:off x="4855633" y="609600"/>
            <a:ext cx="6411924" cy="51816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59" name="Google Shape;59;p9"/>
          <p:cNvSpPr txBox="1"/>
          <p:nvPr>
            <p:ph idx="2" type="body"/>
          </p:nvPr>
        </p:nvSpPr>
        <p:spPr>
          <a:xfrm>
            <a:off x="913795" y="2431518"/>
            <a:ext cx="3706889" cy="335968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0" name="Google Shape;60;p9"/>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pic>
        <p:nvPicPr>
          <p:cNvPr descr="Slate-V2-HD-vertPhotoInset.png" id="64" name="Google Shape;64;p10"/>
          <p:cNvPicPr preferRelativeResize="0"/>
          <p:nvPr/>
        </p:nvPicPr>
        <p:blipFill rotWithShape="1">
          <a:blip r:embed="rId2">
            <a:alphaModFix/>
          </a:blip>
          <a:srcRect b="0" l="0" r="0" t="0"/>
          <a:stretch/>
        </p:blipFill>
        <p:spPr>
          <a:xfrm>
            <a:off x="7293665" y="609600"/>
            <a:ext cx="3584166" cy="5204832"/>
          </a:xfrm>
          <a:prstGeom prst="rect">
            <a:avLst/>
          </a:prstGeom>
          <a:noFill/>
          <a:ln>
            <a:noFill/>
          </a:ln>
        </p:spPr>
      </p:pic>
      <p:sp>
        <p:nvSpPr>
          <p:cNvPr id="65" name="Google Shape;65;p10"/>
          <p:cNvSpPr txBox="1"/>
          <p:nvPr>
            <p:ph type="title"/>
          </p:nvPr>
        </p:nvSpPr>
        <p:spPr>
          <a:xfrm>
            <a:off x="913795" y="609923"/>
            <a:ext cx="5934949" cy="182933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lvl="0" algn="ctr">
              <a:spcBef>
                <a:spcPts val="0"/>
              </a:spcBef>
              <a:spcAft>
                <a:spcPts val="0"/>
              </a:spcAft>
              <a:buClr>
                <a:schemeClr val="lt2"/>
              </a:buClr>
              <a:buSzPts val="3200"/>
              <a:buFont typeface="Lustria"/>
              <a:buNone/>
              <a:defRPr b="0"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p:nvPr>
            <p:ph idx="2" type="pic"/>
          </p:nvPr>
        </p:nvSpPr>
        <p:spPr>
          <a:xfrm>
            <a:off x="7442551" y="763702"/>
            <a:ext cx="3275751" cy="4912822"/>
          </a:xfrm>
          <a:prstGeom prst="rect">
            <a:avLst/>
          </a:prstGeom>
          <a:noFill/>
          <a:ln>
            <a:noFill/>
          </a:ln>
          <a:effectLst>
            <a:outerShdw blurRad="38100" dir="4440000" dist="25400">
              <a:srgbClr val="000000">
                <a:alpha val="35686"/>
              </a:srgbClr>
            </a:outerShdw>
          </a:effectLst>
        </p:spPr>
      </p:sp>
      <p:sp>
        <p:nvSpPr>
          <p:cNvPr id="67" name="Google Shape;67;p10"/>
          <p:cNvSpPr txBox="1"/>
          <p:nvPr>
            <p:ph idx="1" type="body"/>
          </p:nvPr>
        </p:nvSpPr>
        <p:spPr>
          <a:xfrm>
            <a:off x="913795" y="2439261"/>
            <a:ext cx="5934949" cy="337613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8" name="Google Shape;68;p10"/>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pic>
        <p:nvPicPr>
          <p:cNvPr descr="Slate-V2-HD-panoPhotoInset.png" id="72" name="Google Shape;72;p11"/>
          <p:cNvPicPr preferRelativeResize="0"/>
          <p:nvPr/>
        </p:nvPicPr>
        <p:blipFill rotWithShape="1">
          <a:blip r:embed="rId2">
            <a:alphaModFix/>
          </a:blip>
          <a:srcRect b="0" l="0" r="0" t="0"/>
          <a:stretch/>
        </p:blipFill>
        <p:spPr>
          <a:xfrm>
            <a:off x="1013883" y="547807"/>
            <a:ext cx="10141799" cy="3816806"/>
          </a:xfrm>
          <a:prstGeom prst="rect">
            <a:avLst/>
          </a:prstGeom>
          <a:noFill/>
          <a:ln>
            <a:noFill/>
          </a:ln>
        </p:spPr>
      </p:pic>
      <p:sp>
        <p:nvSpPr>
          <p:cNvPr id="73" name="Google Shape;73;p11"/>
          <p:cNvSpPr txBox="1"/>
          <p:nvPr>
            <p:ph type="title"/>
          </p:nvPr>
        </p:nvSpPr>
        <p:spPr>
          <a:xfrm>
            <a:off x="913806" y="4565255"/>
            <a:ext cx="10355326" cy="54347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800"/>
              <a:buFont typeface="Lustria"/>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p:nvPr>
            <p:ph idx="2" type="pic"/>
          </p:nvPr>
        </p:nvSpPr>
        <p:spPr>
          <a:xfrm>
            <a:off x="1169349" y="695009"/>
            <a:ext cx="9845346" cy="3525671"/>
          </a:xfrm>
          <a:prstGeom prst="rect">
            <a:avLst/>
          </a:prstGeom>
          <a:noFill/>
          <a:ln>
            <a:noFill/>
          </a:ln>
          <a:effectLst>
            <a:outerShdw blurRad="38100" dir="4440000" dist="25400">
              <a:srgbClr val="000000">
                <a:alpha val="35686"/>
              </a:srgbClr>
            </a:outerShdw>
          </a:effectLst>
        </p:spPr>
      </p:sp>
      <p:sp>
        <p:nvSpPr>
          <p:cNvPr id="75" name="Google Shape;75;p11"/>
          <p:cNvSpPr txBox="1"/>
          <p:nvPr>
            <p:ph idx="1" type="body"/>
          </p:nvPr>
        </p:nvSpPr>
        <p:spPr>
          <a:xfrm>
            <a:off x="913795" y="5108728"/>
            <a:ext cx="10353762" cy="6824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76" name="Google Shape;76;p1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79" name="Shape 79"/>
        <p:cNvGrpSpPr/>
        <p:nvPr/>
      </p:nvGrpSpPr>
      <p:grpSpPr>
        <a:xfrm>
          <a:off x="0" y="0"/>
          <a:ext cx="0" cy="0"/>
          <a:chOff x="0" y="0"/>
          <a:chExt cx="0" cy="0"/>
        </a:xfrm>
      </p:grpSpPr>
      <p:sp>
        <p:nvSpPr>
          <p:cNvPr id="80" name="Google Shape;80;p12"/>
          <p:cNvSpPr txBox="1"/>
          <p:nvPr>
            <p:ph type="title"/>
          </p:nvPr>
        </p:nvSpPr>
        <p:spPr>
          <a:xfrm>
            <a:off x="913795" y="608437"/>
            <a:ext cx="10353762" cy="353434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idx="1" type="body"/>
          </p:nvPr>
        </p:nvSpPr>
        <p:spPr>
          <a:xfrm>
            <a:off x="913794" y="4295180"/>
            <a:ext cx="10353763" cy="150182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2" name="Google Shape;82;p1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5" name="Shape 85"/>
        <p:cNvGrpSpPr/>
        <p:nvPr/>
      </p:nvGrpSpPr>
      <p:grpSpPr>
        <a:xfrm>
          <a:off x="0" y="0"/>
          <a:ext cx="0" cy="0"/>
          <a:chOff x="0" y="0"/>
          <a:chExt cx="0" cy="0"/>
        </a:xfrm>
      </p:grpSpPr>
      <p:sp>
        <p:nvSpPr>
          <p:cNvPr id="86" name="Google Shape;86;p13"/>
          <p:cNvSpPr txBox="1"/>
          <p:nvPr>
            <p:ph type="title"/>
          </p:nvPr>
        </p:nvSpPr>
        <p:spPr>
          <a:xfrm>
            <a:off x="1446212" y="609600"/>
            <a:ext cx="9302752" cy="299290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 type="body"/>
          </p:nvPr>
        </p:nvSpPr>
        <p:spPr>
          <a:xfrm>
            <a:off x="1720644" y="3610032"/>
            <a:ext cx="8752299" cy="532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r">
              <a:spcBef>
                <a:spcPts val="280"/>
              </a:spcBef>
              <a:spcAft>
                <a:spcPts val="0"/>
              </a:spcAft>
              <a:buSzPts val="980"/>
              <a:buNone/>
              <a:defRPr sz="14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8" name="Google Shape;88;p13"/>
          <p:cNvSpPr txBox="1"/>
          <p:nvPr>
            <p:ph idx="2" type="body"/>
          </p:nvPr>
        </p:nvSpPr>
        <p:spPr>
          <a:xfrm>
            <a:off x="913794" y="4304353"/>
            <a:ext cx="10353763" cy="14894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9" name="Google Shape;89;p1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3"/>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3"/>
          <p:cNvSpPr txBox="1"/>
          <p:nvPr/>
        </p:nvSpPr>
        <p:spPr>
          <a:xfrm>
            <a:off x="990600" y="88479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
        <p:nvSpPr>
          <p:cNvPr id="93" name="Google Shape;93;p13"/>
          <p:cNvSpPr txBox="1"/>
          <p:nvPr/>
        </p:nvSpPr>
        <p:spPr>
          <a:xfrm>
            <a:off x="10504716" y="292825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4" name="Shape 94"/>
        <p:cNvGrpSpPr/>
        <p:nvPr/>
      </p:nvGrpSpPr>
      <p:grpSpPr>
        <a:xfrm>
          <a:off x="0" y="0"/>
          <a:ext cx="0" cy="0"/>
          <a:chOff x="0" y="0"/>
          <a:chExt cx="0" cy="0"/>
        </a:xfrm>
      </p:grpSpPr>
      <p:sp>
        <p:nvSpPr>
          <p:cNvPr id="95" name="Google Shape;95;p14"/>
          <p:cNvSpPr txBox="1"/>
          <p:nvPr>
            <p:ph type="title"/>
          </p:nvPr>
        </p:nvSpPr>
        <p:spPr>
          <a:xfrm>
            <a:off x="913794" y="2126942"/>
            <a:ext cx="10353763" cy="251183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txBox="1"/>
          <p:nvPr>
            <p:ph idx="1" type="body"/>
          </p:nvPr>
        </p:nvSpPr>
        <p:spPr>
          <a:xfrm>
            <a:off x="913784" y="4650556"/>
            <a:ext cx="10352199" cy="11406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7" name="Google Shape;97;p1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4"/>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0" name="Shape 100"/>
        <p:cNvGrpSpPr/>
        <p:nvPr/>
      </p:nvGrpSpPr>
      <p:grpSpPr>
        <a:xfrm>
          <a:off x="0" y="0"/>
          <a:ext cx="0" cy="0"/>
          <a:chOff x="0" y="0"/>
          <a:chExt cx="0" cy="0"/>
        </a:xfrm>
      </p:grpSpPr>
      <p:sp>
        <p:nvSpPr>
          <p:cNvPr id="101" name="Google Shape;101;p1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5"/>
          <p:cNvSpPr txBox="1"/>
          <p:nvPr>
            <p:ph idx="1" type="body"/>
          </p:nvPr>
        </p:nvSpPr>
        <p:spPr>
          <a:xfrm>
            <a:off x="913795"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3" name="Google Shape;103;p15"/>
          <p:cNvSpPr txBox="1"/>
          <p:nvPr>
            <p:ph idx="2" type="body"/>
          </p:nvPr>
        </p:nvSpPr>
        <p:spPr>
          <a:xfrm>
            <a:off x="913795"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4" name="Google Shape;104;p15"/>
          <p:cNvSpPr txBox="1"/>
          <p:nvPr>
            <p:ph idx="3" type="body"/>
          </p:nvPr>
        </p:nvSpPr>
        <p:spPr>
          <a:xfrm>
            <a:off x="4446711"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5" name="Google Shape;105;p15"/>
          <p:cNvSpPr txBox="1"/>
          <p:nvPr>
            <p:ph idx="4" type="body"/>
          </p:nvPr>
        </p:nvSpPr>
        <p:spPr>
          <a:xfrm>
            <a:off x="4441435"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6" name="Google Shape;106;p15"/>
          <p:cNvSpPr txBox="1"/>
          <p:nvPr>
            <p:ph idx="5" type="body"/>
          </p:nvPr>
        </p:nvSpPr>
        <p:spPr>
          <a:xfrm>
            <a:off x="7966572"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7" name="Google Shape;107;p15"/>
          <p:cNvSpPr txBox="1"/>
          <p:nvPr>
            <p:ph idx="6" type="body"/>
          </p:nvPr>
        </p:nvSpPr>
        <p:spPr>
          <a:xfrm>
            <a:off x="7966572"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8" name="Google Shape;108;p1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5"/>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1" name="Shape 111"/>
        <p:cNvGrpSpPr/>
        <p:nvPr/>
      </p:nvGrpSpPr>
      <p:grpSpPr>
        <a:xfrm>
          <a:off x="0" y="0"/>
          <a:ext cx="0" cy="0"/>
          <a:chOff x="0" y="0"/>
          <a:chExt cx="0" cy="0"/>
        </a:xfrm>
      </p:grpSpPr>
      <p:pic>
        <p:nvPicPr>
          <p:cNvPr descr="Slate-V2-HD-3colPhotoInset.png" id="112" name="Google Shape;112;p16"/>
          <p:cNvPicPr preferRelativeResize="0"/>
          <p:nvPr/>
        </p:nvPicPr>
        <p:blipFill rotWithShape="1">
          <a:blip r:embed="rId2">
            <a:alphaModFix/>
          </a:blip>
          <a:srcRect b="0" l="0" r="0" t="0"/>
          <a:stretch/>
        </p:blipFill>
        <p:spPr>
          <a:xfrm>
            <a:off x="897962" y="1818214"/>
            <a:ext cx="3339972" cy="1847851"/>
          </a:xfrm>
          <a:prstGeom prst="rect">
            <a:avLst/>
          </a:prstGeom>
          <a:noFill/>
          <a:ln>
            <a:noFill/>
          </a:ln>
        </p:spPr>
      </p:pic>
      <p:pic>
        <p:nvPicPr>
          <p:cNvPr descr="Slate-V2-HD-3colPhotoInset.png" id="113" name="Google Shape;113;p16"/>
          <p:cNvPicPr preferRelativeResize="0"/>
          <p:nvPr/>
        </p:nvPicPr>
        <p:blipFill rotWithShape="1">
          <a:blip r:embed="rId2">
            <a:alphaModFix/>
          </a:blip>
          <a:srcRect b="0" l="0" r="0" t="0"/>
          <a:stretch/>
        </p:blipFill>
        <p:spPr>
          <a:xfrm>
            <a:off x="4403800" y="1818214"/>
            <a:ext cx="3339972" cy="1847851"/>
          </a:xfrm>
          <a:prstGeom prst="rect">
            <a:avLst/>
          </a:prstGeom>
          <a:noFill/>
          <a:ln>
            <a:noFill/>
          </a:ln>
        </p:spPr>
      </p:pic>
      <p:pic>
        <p:nvPicPr>
          <p:cNvPr descr="Slate-V2-HD-3colPhotoInset.png" id="114" name="Google Shape;114;p16"/>
          <p:cNvPicPr preferRelativeResize="0"/>
          <p:nvPr/>
        </p:nvPicPr>
        <p:blipFill rotWithShape="1">
          <a:blip r:embed="rId2">
            <a:alphaModFix/>
          </a:blip>
          <a:srcRect b="0" l="0" r="0" t="0"/>
          <a:stretch/>
        </p:blipFill>
        <p:spPr>
          <a:xfrm>
            <a:off x="7936051" y="1818214"/>
            <a:ext cx="3339972" cy="1847851"/>
          </a:xfrm>
          <a:prstGeom prst="rect">
            <a:avLst/>
          </a:prstGeom>
          <a:noFill/>
          <a:ln>
            <a:noFill/>
          </a:ln>
        </p:spPr>
      </p:pic>
      <p:sp>
        <p:nvSpPr>
          <p:cNvPr id="115" name="Google Shape;115;p16"/>
          <p:cNvSpPr txBox="1"/>
          <p:nvPr>
            <p:ph type="title"/>
          </p:nvPr>
        </p:nvSpPr>
        <p:spPr>
          <a:xfrm>
            <a:off x="913794" y="609600"/>
            <a:ext cx="10353763"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6"/>
          <p:cNvSpPr txBox="1"/>
          <p:nvPr>
            <p:ph idx="1" type="body"/>
          </p:nvPr>
        </p:nvSpPr>
        <p:spPr>
          <a:xfrm>
            <a:off x="913795"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17" name="Google Shape;117;p16"/>
          <p:cNvSpPr/>
          <p:nvPr>
            <p:ph idx="2" type="pic"/>
          </p:nvPr>
        </p:nvSpPr>
        <p:spPr>
          <a:xfrm>
            <a:off x="1018102" y="1938918"/>
            <a:ext cx="3092368" cy="1602954"/>
          </a:xfrm>
          <a:prstGeom prst="roundRect">
            <a:avLst>
              <a:gd fmla="val 1858" name="adj"/>
            </a:avLst>
          </a:prstGeom>
          <a:noFill/>
          <a:ln>
            <a:noFill/>
          </a:ln>
          <a:effectLst>
            <a:outerShdw blurRad="38100" dir="4440000" dist="25400">
              <a:srgbClr val="000000">
                <a:alpha val="35686"/>
              </a:srgbClr>
            </a:outerShdw>
          </a:effectLst>
        </p:spPr>
      </p:sp>
      <p:sp>
        <p:nvSpPr>
          <p:cNvPr id="118" name="Google Shape;118;p16"/>
          <p:cNvSpPr txBox="1"/>
          <p:nvPr>
            <p:ph idx="3" type="body"/>
          </p:nvPr>
        </p:nvSpPr>
        <p:spPr>
          <a:xfrm>
            <a:off x="913795" y="4480368"/>
            <a:ext cx="3300984"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19" name="Google Shape;119;p16"/>
          <p:cNvSpPr txBox="1"/>
          <p:nvPr>
            <p:ph idx="4" type="body"/>
          </p:nvPr>
        </p:nvSpPr>
        <p:spPr>
          <a:xfrm>
            <a:off x="4442788"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0" name="Google Shape;120;p16"/>
          <p:cNvSpPr/>
          <p:nvPr>
            <p:ph idx="5" type="pic"/>
          </p:nvPr>
        </p:nvSpPr>
        <p:spPr>
          <a:xfrm>
            <a:off x="4545743" y="1939094"/>
            <a:ext cx="3092368" cy="1608164"/>
          </a:xfrm>
          <a:prstGeom prst="roundRect">
            <a:avLst>
              <a:gd fmla="val 1858" name="adj"/>
            </a:avLst>
          </a:prstGeom>
          <a:noFill/>
          <a:ln>
            <a:noFill/>
          </a:ln>
          <a:effectLst>
            <a:outerShdw blurRad="38100" dir="4440000" dist="25400">
              <a:srgbClr val="000000">
                <a:alpha val="35686"/>
              </a:srgbClr>
            </a:outerShdw>
          </a:effectLst>
        </p:spPr>
      </p:sp>
      <p:sp>
        <p:nvSpPr>
          <p:cNvPr id="121" name="Google Shape;121;p16"/>
          <p:cNvSpPr txBox="1"/>
          <p:nvPr>
            <p:ph idx="6" type="body"/>
          </p:nvPr>
        </p:nvSpPr>
        <p:spPr>
          <a:xfrm>
            <a:off x="4441435" y="4480367"/>
            <a:ext cx="3300984"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2" name="Google Shape;122;p16"/>
          <p:cNvSpPr txBox="1"/>
          <p:nvPr>
            <p:ph idx="7" type="body"/>
          </p:nvPr>
        </p:nvSpPr>
        <p:spPr>
          <a:xfrm>
            <a:off x="7966697"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3" name="Google Shape;123;p16"/>
          <p:cNvSpPr/>
          <p:nvPr>
            <p:ph idx="8" type="pic"/>
          </p:nvPr>
        </p:nvSpPr>
        <p:spPr>
          <a:xfrm>
            <a:off x="8075698" y="1934432"/>
            <a:ext cx="3092368" cy="1607294"/>
          </a:xfrm>
          <a:prstGeom prst="roundRect">
            <a:avLst>
              <a:gd fmla="val 1858" name="adj"/>
            </a:avLst>
          </a:prstGeom>
          <a:noFill/>
          <a:ln>
            <a:noFill/>
          </a:ln>
          <a:effectLst>
            <a:outerShdw blurRad="38100" dir="4440000" dist="25400">
              <a:srgbClr val="000000">
                <a:alpha val="35686"/>
              </a:srgbClr>
            </a:outerShdw>
          </a:effectLst>
        </p:spPr>
      </p:sp>
      <p:sp>
        <p:nvSpPr>
          <p:cNvPr id="124" name="Google Shape;124;p16"/>
          <p:cNvSpPr txBox="1"/>
          <p:nvPr>
            <p:ph idx="9" type="body"/>
          </p:nvPr>
        </p:nvSpPr>
        <p:spPr>
          <a:xfrm>
            <a:off x="7966572" y="4480365"/>
            <a:ext cx="3300984" cy="131083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5" name="Google Shape;125;p1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6"/>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 name="Shape 128"/>
        <p:cNvGrpSpPr/>
        <p:nvPr/>
      </p:nvGrpSpPr>
      <p:grpSpPr>
        <a:xfrm>
          <a:off x="0" y="0"/>
          <a:ext cx="0" cy="0"/>
          <a:chOff x="0" y="0"/>
          <a:chExt cx="0" cy="0"/>
        </a:xfrm>
      </p:grpSpPr>
      <p:sp>
        <p:nvSpPr>
          <p:cNvPr id="129" name="Google Shape;129;p1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7"/>
          <p:cNvSpPr txBox="1"/>
          <p:nvPr>
            <p:ph idx="1" type="body"/>
          </p:nvPr>
        </p:nvSpPr>
        <p:spPr>
          <a:xfrm rot="5400000">
            <a:off x="4061301" y="-1415056"/>
            <a:ext cx="4058751" cy="1035376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131" name="Google Shape;131;p1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7"/>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4" name="Shape 134"/>
        <p:cNvGrpSpPr/>
        <p:nvPr/>
      </p:nvGrpSpPr>
      <p:grpSpPr>
        <a:xfrm>
          <a:off x="0" y="0"/>
          <a:ext cx="0" cy="0"/>
          <a:chOff x="0" y="0"/>
          <a:chExt cx="0" cy="0"/>
        </a:xfrm>
      </p:grpSpPr>
      <p:sp>
        <p:nvSpPr>
          <p:cNvPr id="135" name="Google Shape;135;p18"/>
          <p:cNvSpPr txBox="1"/>
          <p:nvPr>
            <p:ph type="title"/>
          </p:nvPr>
        </p:nvSpPr>
        <p:spPr>
          <a:xfrm rot="5400000">
            <a:off x="7534511" y="2058156"/>
            <a:ext cx="5181601" cy="2284487"/>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l">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8"/>
          <p:cNvSpPr txBox="1"/>
          <p:nvPr>
            <p:ph idx="1" type="body"/>
          </p:nvPr>
        </p:nvSpPr>
        <p:spPr>
          <a:xfrm rot="5400000">
            <a:off x="2281431" y="-758036"/>
            <a:ext cx="5181601" cy="79168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137" name="Google Shape;137;p1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8"/>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spcBef>
                <a:spcPts val="0"/>
              </a:spcBef>
              <a:spcAft>
                <a:spcPts val="0"/>
              </a:spcAft>
              <a:buSzPts val="4000"/>
              <a:buFont typeface="Lustria"/>
              <a:buNone/>
              <a:defRPr b="0" i="0" sz="4000" u="none" cap="none" strike="noStrike">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7" name="Google Shape;7;p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17500" lvl="0" marL="457200" marR="0" rtl="0" algn="l">
              <a:spcBef>
                <a:spcPts val="400"/>
              </a:spcBef>
              <a:spcAft>
                <a:spcPts val="0"/>
              </a:spcAft>
              <a:buSzPts val="1400"/>
              <a:buFont typeface="Noto Sans Symbols"/>
              <a:buChar char="◈"/>
              <a:defRPr b="0" i="0" sz="2000" u="none" cap="none" strike="noStrike">
                <a:latin typeface="Lustria"/>
                <a:ea typeface="Lustria"/>
                <a:cs typeface="Lustria"/>
                <a:sym typeface="Lustria"/>
              </a:defRPr>
            </a:lvl1pPr>
            <a:lvl2pPr indent="-308610" lvl="1" marL="914400" marR="0" rtl="0" algn="l">
              <a:spcBef>
                <a:spcPts val="600"/>
              </a:spcBef>
              <a:spcAft>
                <a:spcPts val="0"/>
              </a:spcAft>
              <a:buSzPts val="1260"/>
              <a:buFont typeface="Noto Sans Symbols"/>
              <a:buChar char="🞚"/>
              <a:defRPr b="0" i="0" sz="1800" u="none" cap="none" strike="noStrike">
                <a:latin typeface="Lustria"/>
                <a:ea typeface="Lustria"/>
                <a:cs typeface="Lustria"/>
                <a:sym typeface="Lustria"/>
              </a:defRPr>
            </a:lvl2pPr>
            <a:lvl3pPr indent="-299720" lvl="2" marL="1371600" marR="0" rtl="0" algn="l">
              <a:spcBef>
                <a:spcPts val="600"/>
              </a:spcBef>
              <a:spcAft>
                <a:spcPts val="0"/>
              </a:spcAft>
              <a:buSzPts val="1120"/>
              <a:buFont typeface="Noto Sans Symbols"/>
              <a:buChar char="◈"/>
              <a:defRPr b="0" i="0" sz="1600" u="none" cap="none" strike="noStrike">
                <a:latin typeface="Lustria"/>
                <a:ea typeface="Lustria"/>
                <a:cs typeface="Lustria"/>
                <a:sym typeface="Lustria"/>
              </a:defRPr>
            </a:lvl3pPr>
            <a:lvl4pPr indent="-290830" lvl="3" marL="18288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4pPr>
            <a:lvl5pPr indent="-290830" lvl="4" marL="22860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5pPr>
            <a:lvl6pPr indent="-290830" lvl="5" marL="27432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6pPr>
            <a:lvl7pPr indent="-290830" lvl="6" marL="32004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7pPr>
            <a:lvl8pPr indent="-290830" lvl="7" marL="3657600" marR="0" rtl="0" algn="l">
              <a:spcBef>
                <a:spcPts val="600"/>
              </a:spcBef>
              <a:spcAft>
                <a:spcPts val="0"/>
              </a:spcAft>
              <a:buSzPts val="980"/>
              <a:buFont typeface="Noto Sans Symbols"/>
              <a:buChar char="◈"/>
              <a:defRPr b="0" i="0" sz="1400" u="none" cap="none" strike="noStrike">
                <a:latin typeface="Lustria"/>
                <a:ea typeface="Lustria"/>
                <a:cs typeface="Lustria"/>
                <a:sym typeface="Lustria"/>
              </a:defRPr>
            </a:lvl8pPr>
            <a:lvl9pPr indent="-290830" lvl="8" marL="4114800" marR="0" rtl="0" algn="l">
              <a:spcBef>
                <a:spcPts val="600"/>
              </a:spcBef>
              <a:spcAft>
                <a:spcPts val="600"/>
              </a:spcAft>
              <a:buSzPts val="980"/>
              <a:buFont typeface="Noto Sans Symbols"/>
              <a:buChar char="◈"/>
              <a:defRPr b="0" i="0" sz="1400" u="none" cap="none" strike="noStrike">
                <a:latin typeface="Lustria"/>
                <a:ea typeface="Lustria"/>
                <a:cs typeface="Lustria"/>
                <a:sym typeface="Lustria"/>
              </a:defRPr>
            </a:lvl9pPr>
          </a:lstStyle>
          <a:p/>
        </p:txBody>
      </p:sp>
      <p:sp>
        <p:nvSpPr>
          <p:cNvPr id="8" name="Google Shape;8;p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Clr>
                <a:schemeClr val="dk1"/>
              </a:buClr>
              <a:buSzPts val="1400"/>
              <a:buNone/>
              <a:defRPr b="0" i="0" sz="1000" u="none" cap="none" strike="noStrike">
                <a:solidFill>
                  <a:schemeClr val="dk1"/>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9" name="Google Shape;9;p1"/>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1"/>
              </a:buClr>
              <a:buSzPts val="1400"/>
              <a:buNone/>
              <a:defRPr b="0" i="0" sz="1000" u="none" cap="none" strike="noStrike">
                <a:solidFill>
                  <a:schemeClr val="dk1"/>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10" name="Google Shape;10;p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rgbClr val="F2F2F2"/>
                </a:solidFill>
                <a:latin typeface="Lustria"/>
                <a:ea typeface="Lustria"/>
                <a:cs typeface="Lustria"/>
                <a:sym typeface="Lustria"/>
              </a:defRPr>
            </a:lvl1pPr>
            <a:lvl2pPr indent="0" lvl="1" marL="0" marR="0" rtl="0" algn="r">
              <a:spcBef>
                <a:spcPts val="0"/>
              </a:spcBef>
              <a:buNone/>
              <a:defRPr b="0" i="0" sz="1000" u="none" cap="none" strike="noStrike">
                <a:solidFill>
                  <a:srgbClr val="F2F2F2"/>
                </a:solidFill>
                <a:latin typeface="Lustria"/>
                <a:ea typeface="Lustria"/>
                <a:cs typeface="Lustria"/>
                <a:sym typeface="Lustria"/>
              </a:defRPr>
            </a:lvl2pPr>
            <a:lvl3pPr indent="0" lvl="2" marL="0" marR="0" rtl="0" algn="r">
              <a:spcBef>
                <a:spcPts val="0"/>
              </a:spcBef>
              <a:buNone/>
              <a:defRPr b="0" i="0" sz="1000" u="none" cap="none" strike="noStrike">
                <a:solidFill>
                  <a:srgbClr val="F2F2F2"/>
                </a:solidFill>
                <a:latin typeface="Lustria"/>
                <a:ea typeface="Lustria"/>
                <a:cs typeface="Lustria"/>
                <a:sym typeface="Lustria"/>
              </a:defRPr>
            </a:lvl3pPr>
            <a:lvl4pPr indent="0" lvl="3" marL="0" marR="0" rtl="0" algn="r">
              <a:spcBef>
                <a:spcPts val="0"/>
              </a:spcBef>
              <a:buNone/>
              <a:defRPr b="0" i="0" sz="1000" u="none" cap="none" strike="noStrike">
                <a:solidFill>
                  <a:srgbClr val="F2F2F2"/>
                </a:solidFill>
                <a:latin typeface="Lustria"/>
                <a:ea typeface="Lustria"/>
                <a:cs typeface="Lustria"/>
                <a:sym typeface="Lustria"/>
              </a:defRPr>
            </a:lvl4pPr>
            <a:lvl5pPr indent="0" lvl="4" marL="0" marR="0" rtl="0" algn="r">
              <a:spcBef>
                <a:spcPts val="0"/>
              </a:spcBef>
              <a:buNone/>
              <a:defRPr b="0" i="0" sz="1000" u="none" cap="none" strike="noStrike">
                <a:solidFill>
                  <a:srgbClr val="F2F2F2"/>
                </a:solidFill>
                <a:latin typeface="Lustria"/>
                <a:ea typeface="Lustria"/>
                <a:cs typeface="Lustria"/>
                <a:sym typeface="Lustria"/>
              </a:defRPr>
            </a:lvl5pPr>
            <a:lvl6pPr indent="0" lvl="5" marL="0" marR="0" rtl="0" algn="r">
              <a:spcBef>
                <a:spcPts val="0"/>
              </a:spcBef>
              <a:buNone/>
              <a:defRPr b="0" i="0" sz="1000" u="none" cap="none" strike="noStrike">
                <a:solidFill>
                  <a:srgbClr val="F2F2F2"/>
                </a:solidFill>
                <a:latin typeface="Lustria"/>
                <a:ea typeface="Lustria"/>
                <a:cs typeface="Lustria"/>
                <a:sym typeface="Lustria"/>
              </a:defRPr>
            </a:lvl6pPr>
            <a:lvl7pPr indent="0" lvl="6" marL="0" marR="0" rtl="0" algn="r">
              <a:spcBef>
                <a:spcPts val="0"/>
              </a:spcBef>
              <a:buNone/>
              <a:defRPr b="0" i="0" sz="1000" u="none" cap="none" strike="noStrike">
                <a:solidFill>
                  <a:srgbClr val="F2F2F2"/>
                </a:solidFill>
                <a:latin typeface="Lustria"/>
                <a:ea typeface="Lustria"/>
                <a:cs typeface="Lustria"/>
                <a:sym typeface="Lustria"/>
              </a:defRPr>
            </a:lvl7pPr>
            <a:lvl8pPr indent="0" lvl="7" marL="0" marR="0" rtl="0" algn="r">
              <a:spcBef>
                <a:spcPts val="0"/>
              </a:spcBef>
              <a:buNone/>
              <a:defRPr b="0" i="0" sz="1000" u="none" cap="none" strike="noStrike">
                <a:solidFill>
                  <a:srgbClr val="F2F2F2"/>
                </a:solidFill>
                <a:latin typeface="Lustria"/>
                <a:ea typeface="Lustria"/>
                <a:cs typeface="Lustria"/>
                <a:sym typeface="Lustria"/>
              </a:defRPr>
            </a:lvl8pPr>
            <a:lvl9pPr indent="0" lvl="8" marL="0" marR="0" rtl="0" algn="r">
              <a:spcBef>
                <a:spcPts val="0"/>
              </a:spcBef>
              <a:buNone/>
              <a:defRPr b="0" i="0" sz="1000" u="none" cap="none" strike="noStrike">
                <a:solidFill>
                  <a:srgbClr val="F2F2F2"/>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143" name="Shape 143"/>
        <p:cNvGrpSpPr/>
        <p:nvPr/>
      </p:nvGrpSpPr>
      <p:grpSpPr>
        <a:xfrm>
          <a:off x="0" y="0"/>
          <a:ext cx="0" cy="0"/>
          <a:chOff x="0" y="0"/>
          <a:chExt cx="0" cy="0"/>
        </a:xfrm>
      </p:grpSpPr>
      <p:sp>
        <p:nvSpPr>
          <p:cNvPr id="144" name="Google Shape;144;p19"/>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ctr">
              <a:spcBef>
                <a:spcPts val="0"/>
              </a:spcBef>
              <a:spcAft>
                <a:spcPts val="0"/>
              </a:spcAft>
              <a:buClr>
                <a:schemeClr val="lt2"/>
              </a:buClr>
              <a:buSzPts val="5400"/>
              <a:buFont typeface="Lustria"/>
              <a:buNone/>
            </a:pPr>
            <a:r>
              <a:rPr lang="en-US"/>
              <a:t>Unmanned Aircraft Systems UAS</a:t>
            </a:r>
            <a:endParaRPr/>
          </a:p>
        </p:txBody>
      </p:sp>
      <p:sp>
        <p:nvSpPr>
          <p:cNvPr id="145" name="Google Shape;145;p19"/>
          <p:cNvSpPr txBox="1"/>
          <p:nvPr>
            <p:ph idx="1" type="subTitle"/>
          </p:nvPr>
        </p:nvSpPr>
        <p:spPr>
          <a:xfrm>
            <a:off x="1370693" y="359833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0" rtl="0" algn="ctr">
              <a:spcBef>
                <a:spcPts val="940"/>
              </a:spcBef>
              <a:spcAft>
                <a:spcPts val="0"/>
              </a:spcAft>
              <a:buSzPts val="1400"/>
              <a:buNone/>
            </a:pPr>
            <a:r>
              <a:rPr lang="en-US">
                <a:solidFill>
                  <a:schemeClr val="dk1"/>
                </a:solidFill>
              </a:rPr>
              <a:t>Loading and Performance</a:t>
            </a:r>
            <a:endParaRPr>
              <a:solidFill>
                <a:schemeClr val="dk1"/>
              </a:solidFill>
            </a:endParaRPr>
          </a:p>
          <a:p>
            <a:pPr indent="0" lvl="0" marL="0" rtl="0" algn="ctr">
              <a:spcBef>
                <a:spcPts val="940"/>
              </a:spcBef>
              <a:spcAft>
                <a:spcPts val="0"/>
              </a:spcAft>
              <a:buSzPts val="1400"/>
              <a:buNone/>
            </a:pPr>
            <a:r>
              <a:rPr lang="en-US">
                <a:solidFill>
                  <a:schemeClr val="dk1"/>
                </a:solidFill>
              </a:rPr>
              <a:t>FAA Remote Pilot Part 107 Exam Prep</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FAA Remote Pilot Test Prep</a:t>
            </a:r>
            <a:br>
              <a:rPr lang="en-US"/>
            </a:br>
            <a:endParaRPr/>
          </a:p>
        </p:txBody>
      </p:sp>
      <p:sp>
        <p:nvSpPr>
          <p:cNvPr id="151" name="Google Shape;151;p20"/>
          <p:cNvSpPr txBox="1"/>
          <p:nvPr/>
        </p:nvSpPr>
        <p:spPr>
          <a:xfrm>
            <a:off x="2146725" y="1580050"/>
            <a:ext cx="7655100" cy="2308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n-US" sz="1800">
                <a:solidFill>
                  <a:schemeClr val="dk1"/>
                </a:solidFill>
                <a:latin typeface="Lustria"/>
                <a:ea typeface="Lustria"/>
                <a:cs typeface="Lustria"/>
                <a:sym typeface="Lustria"/>
              </a:rPr>
              <a:t>Topics Covered in this lesson</a:t>
            </a:r>
            <a:endParaRPr b="1" sz="1800">
              <a:solidFill>
                <a:schemeClr val="dk1"/>
              </a:solidFill>
              <a:latin typeface="Lustria"/>
              <a:ea typeface="Lustria"/>
              <a:cs typeface="Lustria"/>
              <a:sym typeface="Lustria"/>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Introduction</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Determining speed and altitude</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Loading</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Computing weight and balance</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Load factor</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Stalls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Performance</a:t>
            </a:r>
            <a:endParaRPr>
              <a:solidFill>
                <a:schemeClr val="dk1"/>
              </a:solidFill>
            </a:endParaRPr>
          </a:p>
        </p:txBody>
      </p:sp>
      <p:pic>
        <p:nvPicPr>
          <p:cNvPr id="152" name="Google Shape;152;p20"/>
          <p:cNvPicPr preferRelativeResize="0"/>
          <p:nvPr/>
        </p:nvPicPr>
        <p:blipFill rotWithShape="1">
          <a:blip r:embed="rId3">
            <a:alphaModFix/>
          </a:blip>
          <a:srcRect b="0" l="1390" r="0" t="0"/>
          <a:stretch/>
        </p:blipFill>
        <p:spPr>
          <a:xfrm>
            <a:off x="3937686" y="4566337"/>
            <a:ext cx="4367552" cy="1943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Introduction</a:t>
            </a:r>
            <a:endParaRPr/>
          </a:p>
        </p:txBody>
      </p:sp>
      <p:sp>
        <p:nvSpPr>
          <p:cNvPr id="158" name="Google Shape;158;p21"/>
          <p:cNvSpPr txBox="1"/>
          <p:nvPr>
            <p:ph idx="1" type="body"/>
          </p:nvPr>
        </p:nvSpPr>
        <p:spPr>
          <a:xfrm>
            <a:off x="913795" y="1732449"/>
            <a:ext cx="10353762" cy="11013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Prior to each flight, the remote PIC must ensure that any object attached to or carried by the small unmanned aircraft is secure and does not adversely affect the flight characteristics or controllability of the aircraft. </a:t>
            </a:r>
            <a:endParaRPr/>
          </a:p>
        </p:txBody>
      </p:sp>
      <p:pic>
        <p:nvPicPr>
          <p:cNvPr id="159" name="Google Shape;159;p21"/>
          <p:cNvPicPr preferRelativeResize="0"/>
          <p:nvPr/>
        </p:nvPicPr>
        <p:blipFill rotWithShape="1">
          <a:blip r:embed="rId3">
            <a:alphaModFix/>
          </a:blip>
          <a:srcRect b="0" l="0" r="0" t="0"/>
          <a:stretch/>
        </p:blipFill>
        <p:spPr>
          <a:xfrm>
            <a:off x="3841617" y="3104849"/>
            <a:ext cx="4498118" cy="33474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Introduction</a:t>
            </a:r>
            <a:endParaRPr/>
          </a:p>
        </p:txBody>
      </p:sp>
      <p:graphicFrame>
        <p:nvGraphicFramePr>
          <p:cNvPr id="165" name="Google Shape;165;p22"/>
          <p:cNvGraphicFramePr/>
          <p:nvPr/>
        </p:nvGraphicFramePr>
        <p:xfrm>
          <a:off x="1828799" y="2243666"/>
          <a:ext cx="3000000" cy="3000000"/>
        </p:xfrm>
        <a:graphic>
          <a:graphicData uri="http://schemas.openxmlformats.org/drawingml/2006/table">
            <a:tbl>
              <a:tblPr bandRow="1" firstRow="1">
                <a:noFill/>
                <a:tableStyleId>{FACC5065-02EF-4E40-80BB-A19E760E0917}</a:tableStyleId>
              </a:tblPr>
              <a:tblGrid>
                <a:gridCol w="2103400"/>
                <a:gridCol w="2103400"/>
                <a:gridCol w="2103400"/>
                <a:gridCol w="2103400"/>
              </a:tblGrid>
              <a:tr h="370850">
                <a:tc>
                  <a:txBody>
                    <a:bodyPr/>
                    <a:lstStyle/>
                    <a:p>
                      <a:pPr indent="0" lvl="0" marL="0" marR="0" rtl="0" algn="l">
                        <a:spcBef>
                          <a:spcPts val="0"/>
                        </a:spcBef>
                        <a:spcAft>
                          <a:spcPts val="0"/>
                        </a:spcAft>
                        <a:buNone/>
                      </a:pPr>
                      <a:r>
                        <a:rPr lang="en-US" sz="1800" u="none" cap="none" strike="noStrike"/>
                        <a:t>Primary Control Surface</a:t>
                      </a:r>
                      <a:endParaRPr/>
                    </a:p>
                  </a:txBody>
                  <a:tcPr marT="45725" marB="45725" marR="91450" marL="91450"/>
                </a:tc>
                <a:tc>
                  <a:txBody>
                    <a:bodyPr/>
                    <a:lstStyle/>
                    <a:p>
                      <a:pPr indent="0" lvl="0" marL="0" marR="0" rtl="0" algn="l">
                        <a:spcBef>
                          <a:spcPts val="0"/>
                        </a:spcBef>
                        <a:spcAft>
                          <a:spcPts val="0"/>
                        </a:spcAft>
                        <a:buNone/>
                      </a:pPr>
                      <a:r>
                        <a:rPr lang="en-US" sz="1800"/>
                        <a:t>Airplane Movement</a:t>
                      </a:r>
                      <a:endParaRPr/>
                    </a:p>
                  </a:txBody>
                  <a:tcPr marT="45725" marB="45725" marR="91450" marL="91450"/>
                </a:tc>
                <a:tc>
                  <a:txBody>
                    <a:bodyPr/>
                    <a:lstStyle/>
                    <a:p>
                      <a:pPr indent="0" lvl="0" marL="0" marR="0" rtl="0" algn="l">
                        <a:spcBef>
                          <a:spcPts val="0"/>
                        </a:spcBef>
                        <a:spcAft>
                          <a:spcPts val="0"/>
                        </a:spcAft>
                        <a:buNone/>
                      </a:pPr>
                      <a:r>
                        <a:rPr lang="en-US" sz="1800"/>
                        <a:t>Axes</a:t>
                      </a:r>
                      <a:r>
                        <a:rPr lang="en-US" sz="1800"/>
                        <a:t> of rotation</a:t>
                      </a:r>
                      <a:endParaRPr sz="1800"/>
                    </a:p>
                  </a:txBody>
                  <a:tcPr marT="45725" marB="45725" marR="91450" marL="91450"/>
                </a:tc>
                <a:tc>
                  <a:txBody>
                    <a:bodyPr/>
                    <a:lstStyle/>
                    <a:p>
                      <a:pPr indent="0" lvl="0" marL="0" marR="0" rtl="0" algn="l">
                        <a:spcBef>
                          <a:spcPts val="0"/>
                        </a:spcBef>
                        <a:spcAft>
                          <a:spcPts val="0"/>
                        </a:spcAft>
                        <a:buNone/>
                      </a:pPr>
                      <a:r>
                        <a:rPr lang="en-US" sz="1800"/>
                        <a:t>Type of stability</a:t>
                      </a:r>
                      <a:endParaRPr/>
                    </a:p>
                  </a:txBody>
                  <a:tcPr marT="45725" marB="45725" marR="91450" marL="91450"/>
                </a:tc>
              </a:tr>
              <a:tr h="370850">
                <a:tc>
                  <a:txBody>
                    <a:bodyPr/>
                    <a:lstStyle/>
                    <a:p>
                      <a:pPr indent="0" lvl="0" marL="0" marR="0" rtl="0" algn="l">
                        <a:spcBef>
                          <a:spcPts val="0"/>
                        </a:spcBef>
                        <a:spcAft>
                          <a:spcPts val="0"/>
                        </a:spcAft>
                        <a:buNone/>
                      </a:pPr>
                      <a:r>
                        <a:rPr lang="en-US" sz="1800"/>
                        <a:t>Aileron</a:t>
                      </a:r>
                      <a:endParaRPr/>
                    </a:p>
                  </a:txBody>
                  <a:tcPr marT="45725" marB="45725" marR="91450" marL="91450"/>
                </a:tc>
                <a:tc>
                  <a:txBody>
                    <a:bodyPr/>
                    <a:lstStyle/>
                    <a:p>
                      <a:pPr indent="0" lvl="0" marL="0" marR="0" rtl="0" algn="l">
                        <a:spcBef>
                          <a:spcPts val="0"/>
                        </a:spcBef>
                        <a:spcAft>
                          <a:spcPts val="0"/>
                        </a:spcAft>
                        <a:buNone/>
                      </a:pPr>
                      <a:r>
                        <a:rPr lang="en-US" sz="1800"/>
                        <a:t>Roll</a:t>
                      </a:r>
                      <a:endParaRPr/>
                    </a:p>
                  </a:txBody>
                  <a:tcPr marT="45725" marB="45725" marR="91450" marL="91450"/>
                </a:tc>
                <a:tc>
                  <a:txBody>
                    <a:bodyPr/>
                    <a:lstStyle/>
                    <a:p>
                      <a:pPr indent="0" lvl="0" marL="0" marR="0" rtl="0" algn="l">
                        <a:spcBef>
                          <a:spcPts val="0"/>
                        </a:spcBef>
                        <a:spcAft>
                          <a:spcPts val="0"/>
                        </a:spcAft>
                        <a:buNone/>
                      </a:pPr>
                      <a:r>
                        <a:rPr lang="en-US" sz="1800"/>
                        <a:t>Longitudinal</a:t>
                      </a:r>
                      <a:endParaRPr/>
                    </a:p>
                  </a:txBody>
                  <a:tcPr marT="45725" marB="45725" marR="91450" marL="91450"/>
                </a:tc>
                <a:tc>
                  <a:txBody>
                    <a:bodyPr/>
                    <a:lstStyle/>
                    <a:p>
                      <a:pPr indent="0" lvl="0" marL="0" marR="0" rtl="0" algn="l">
                        <a:spcBef>
                          <a:spcPts val="0"/>
                        </a:spcBef>
                        <a:spcAft>
                          <a:spcPts val="0"/>
                        </a:spcAft>
                        <a:buNone/>
                      </a:pPr>
                      <a:r>
                        <a:rPr lang="en-US" sz="1800"/>
                        <a:t>Lateral</a:t>
                      </a:r>
                      <a:endParaRPr/>
                    </a:p>
                  </a:txBody>
                  <a:tcPr marT="45725" marB="45725" marR="91450" marL="91450"/>
                </a:tc>
              </a:tr>
              <a:tr h="370850">
                <a:tc>
                  <a:txBody>
                    <a:bodyPr/>
                    <a:lstStyle/>
                    <a:p>
                      <a:pPr indent="0" lvl="0" marL="0" marR="0" rtl="0" algn="l">
                        <a:spcBef>
                          <a:spcPts val="0"/>
                        </a:spcBef>
                        <a:spcAft>
                          <a:spcPts val="0"/>
                        </a:spcAft>
                        <a:buNone/>
                      </a:pPr>
                      <a:r>
                        <a:rPr lang="en-US" sz="1800"/>
                        <a:t>Elevator/Stabilator</a:t>
                      </a:r>
                      <a:endParaRPr sz="1800"/>
                    </a:p>
                  </a:txBody>
                  <a:tcPr marT="45725" marB="45725" marR="91450" marL="91450"/>
                </a:tc>
                <a:tc>
                  <a:txBody>
                    <a:bodyPr/>
                    <a:lstStyle/>
                    <a:p>
                      <a:pPr indent="0" lvl="0" marL="0" marR="0" rtl="0" algn="l">
                        <a:spcBef>
                          <a:spcPts val="0"/>
                        </a:spcBef>
                        <a:spcAft>
                          <a:spcPts val="0"/>
                        </a:spcAft>
                        <a:buNone/>
                      </a:pPr>
                      <a:r>
                        <a:rPr lang="en-US" sz="1800"/>
                        <a:t>Pitch</a:t>
                      </a:r>
                      <a:endParaRPr/>
                    </a:p>
                  </a:txBody>
                  <a:tcPr marT="45725" marB="45725" marR="91450" marL="91450"/>
                </a:tc>
                <a:tc>
                  <a:txBody>
                    <a:bodyPr/>
                    <a:lstStyle/>
                    <a:p>
                      <a:pPr indent="0" lvl="0" marL="0" marR="0" rtl="0" algn="l">
                        <a:spcBef>
                          <a:spcPts val="0"/>
                        </a:spcBef>
                        <a:spcAft>
                          <a:spcPts val="0"/>
                        </a:spcAft>
                        <a:buNone/>
                      </a:pPr>
                      <a:r>
                        <a:rPr lang="en-US" sz="1800"/>
                        <a:t>Lateral</a:t>
                      </a:r>
                      <a:endParaRPr/>
                    </a:p>
                  </a:txBody>
                  <a:tcPr marT="45725" marB="45725" marR="91450" marL="91450"/>
                </a:tc>
                <a:tc>
                  <a:txBody>
                    <a:bodyPr/>
                    <a:lstStyle/>
                    <a:p>
                      <a:pPr indent="0" lvl="0" marL="0" marR="0" rtl="0" algn="l">
                        <a:spcBef>
                          <a:spcPts val="0"/>
                        </a:spcBef>
                        <a:spcAft>
                          <a:spcPts val="0"/>
                        </a:spcAft>
                        <a:buNone/>
                      </a:pPr>
                      <a:r>
                        <a:rPr lang="en-US" sz="1800"/>
                        <a:t>Longitudinal</a:t>
                      </a:r>
                      <a:endParaRPr/>
                    </a:p>
                  </a:txBody>
                  <a:tcPr marT="45725" marB="45725" marR="91450" marL="91450"/>
                </a:tc>
              </a:tr>
              <a:tr h="370850">
                <a:tc>
                  <a:txBody>
                    <a:bodyPr/>
                    <a:lstStyle/>
                    <a:p>
                      <a:pPr indent="0" lvl="0" marL="0" marR="0" rtl="0" algn="l">
                        <a:spcBef>
                          <a:spcPts val="0"/>
                        </a:spcBef>
                        <a:spcAft>
                          <a:spcPts val="0"/>
                        </a:spcAft>
                        <a:buNone/>
                      </a:pPr>
                      <a:r>
                        <a:rPr lang="en-US" sz="1800"/>
                        <a:t>Rudder</a:t>
                      </a:r>
                      <a:endParaRPr/>
                    </a:p>
                  </a:txBody>
                  <a:tcPr marT="45725" marB="45725" marR="91450" marL="91450"/>
                </a:tc>
                <a:tc>
                  <a:txBody>
                    <a:bodyPr/>
                    <a:lstStyle/>
                    <a:p>
                      <a:pPr indent="0" lvl="0" marL="0" marR="0" rtl="0" algn="l">
                        <a:spcBef>
                          <a:spcPts val="0"/>
                        </a:spcBef>
                        <a:spcAft>
                          <a:spcPts val="0"/>
                        </a:spcAft>
                        <a:buNone/>
                      </a:pPr>
                      <a:r>
                        <a:rPr lang="en-US" sz="1800"/>
                        <a:t>Yaw</a:t>
                      </a:r>
                      <a:endParaRPr/>
                    </a:p>
                  </a:txBody>
                  <a:tcPr marT="45725" marB="45725" marR="91450" marL="91450"/>
                </a:tc>
                <a:tc>
                  <a:txBody>
                    <a:bodyPr/>
                    <a:lstStyle/>
                    <a:p>
                      <a:pPr indent="0" lvl="0" marL="0" marR="0" rtl="0" algn="l">
                        <a:spcBef>
                          <a:spcPts val="0"/>
                        </a:spcBef>
                        <a:spcAft>
                          <a:spcPts val="0"/>
                        </a:spcAft>
                        <a:buNone/>
                      </a:pPr>
                      <a:r>
                        <a:rPr lang="en-US" sz="1800"/>
                        <a:t>Vertical</a:t>
                      </a:r>
                      <a:endParaRPr/>
                    </a:p>
                  </a:txBody>
                  <a:tcPr marT="45725" marB="45725" marR="91450" marL="91450"/>
                </a:tc>
                <a:tc>
                  <a:txBody>
                    <a:bodyPr/>
                    <a:lstStyle/>
                    <a:p>
                      <a:pPr indent="0" lvl="0" marL="0" marR="0" rtl="0" algn="l">
                        <a:spcBef>
                          <a:spcPts val="0"/>
                        </a:spcBef>
                        <a:spcAft>
                          <a:spcPts val="0"/>
                        </a:spcAft>
                        <a:buNone/>
                      </a:pPr>
                      <a:r>
                        <a:rPr lang="en-US" sz="1800"/>
                        <a:t>Directional</a:t>
                      </a:r>
                      <a:endParaRPr/>
                    </a:p>
                  </a:txBody>
                  <a:tcPr marT="45725" marB="45725" marR="91450" marL="914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Determining Speed and Altitude</a:t>
            </a:r>
            <a:endParaRPr/>
          </a:p>
        </p:txBody>
      </p:sp>
      <p:sp>
        <p:nvSpPr>
          <p:cNvPr id="171" name="Google Shape;171;p2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b="1" lang="en-US"/>
              <a:t>Dead reckoning </a:t>
            </a:r>
            <a:r>
              <a:rPr lang="en-US"/>
              <a:t>– navigation solely by means of computations based on time, airspeed, distance, and direction. The products derived from these variables, when adjusted by wind speed and velocity, are heading and ground speed. </a:t>
            </a:r>
            <a:endParaRPr/>
          </a:p>
          <a:p>
            <a:pPr indent="-306000" lvl="0" marL="342900" rtl="0" algn="l">
              <a:spcBef>
                <a:spcPts val="1000"/>
              </a:spcBef>
              <a:spcAft>
                <a:spcPts val="0"/>
              </a:spcAft>
              <a:buSzPts val="1400"/>
              <a:buChar char="◈"/>
            </a:pPr>
            <a:r>
              <a:rPr b="1" lang="en-US"/>
              <a:t>Pilotage</a:t>
            </a:r>
            <a:r>
              <a:rPr lang="en-US"/>
              <a:t> – navigation by reference to landmarks or checkpoints. </a:t>
            </a:r>
            <a:endParaRPr/>
          </a:p>
          <a:p>
            <a:pPr indent="-306000" lvl="0" marL="342900" rtl="0" algn="l">
              <a:spcBef>
                <a:spcPts val="1000"/>
              </a:spcBef>
              <a:spcAft>
                <a:spcPts val="0"/>
              </a:spcAft>
              <a:buSzPts val="1400"/>
              <a:buChar char="◈"/>
            </a:pPr>
            <a:r>
              <a:rPr b="1" lang="en-US"/>
              <a:t>The Wind Triangle </a:t>
            </a:r>
            <a:r>
              <a:rPr lang="en-US"/>
              <a:t>– navigation using triangulation. The true heading and ground speed can be found by drawing a wind triangle of vectors. One side of the triangle is the wind direction and velocity, another side is the true heading and true airspeed, the last side is the track, or true course, and the ground speed. Each side of a wind triangle is the vector sum of the other two sides.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Determining Speed and Altitude</a:t>
            </a:r>
            <a:endParaRPr/>
          </a:p>
        </p:txBody>
      </p:sp>
      <p:sp>
        <p:nvSpPr>
          <p:cNvPr id="177" name="Google Shape;177;p24"/>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Altitude determination on a sUAS: [sUAS must remain below 400 feet AGL (Above Ground Level)]</a:t>
            </a:r>
            <a:endParaRPr/>
          </a:p>
          <a:p>
            <a:pPr indent="-270000" lvl="1" marL="720000" rtl="0" algn="l">
              <a:spcBef>
                <a:spcPts val="960"/>
              </a:spcBef>
              <a:spcAft>
                <a:spcPts val="0"/>
              </a:spcAft>
              <a:buSzPts val="1260"/>
              <a:buChar char="🞚"/>
            </a:pPr>
            <a:r>
              <a:rPr lang="en-US"/>
              <a:t>Install a calibrated altimeter that reports MSL (mean sea level) altitude back to control station. AGL (above ground level) altitude must be converted by adding or subtracting field elevation from MSL altitude. </a:t>
            </a:r>
            <a:endParaRPr/>
          </a:p>
          <a:p>
            <a:pPr indent="-270000" lvl="1" marL="720000" rtl="0" algn="l">
              <a:spcBef>
                <a:spcPts val="960"/>
              </a:spcBef>
              <a:spcAft>
                <a:spcPts val="0"/>
              </a:spcAft>
              <a:buSzPts val="1260"/>
              <a:buChar char="🞚"/>
            </a:pPr>
            <a:r>
              <a:rPr lang="en-US"/>
              <a:t>GPS reported altitude from sUAS.</a:t>
            </a:r>
            <a:endParaRPr/>
          </a:p>
          <a:p>
            <a:pPr indent="-270000" lvl="1" marL="720000" rtl="0" algn="l">
              <a:spcBef>
                <a:spcPts val="960"/>
              </a:spcBef>
              <a:spcAft>
                <a:spcPts val="0"/>
              </a:spcAft>
              <a:buSzPts val="1260"/>
              <a:buChar char="🞚"/>
            </a:pPr>
            <a:r>
              <a:rPr lang="en-US"/>
              <a:t>Have a visual observer pace off 400’ to establish a rough visual reference of 400 feet.</a:t>
            </a:r>
            <a:endParaRPr/>
          </a:p>
          <a:p>
            <a:pPr indent="-270000" lvl="1" marL="720000" rtl="0" algn="l">
              <a:spcBef>
                <a:spcPts val="960"/>
              </a:spcBef>
              <a:spcAft>
                <a:spcPts val="0"/>
              </a:spcAft>
              <a:buSzPts val="1260"/>
              <a:buChar char="🞚"/>
            </a:pPr>
            <a:r>
              <a:rPr lang="en-US"/>
              <a:t>Use the height of known terrain or obstructions.</a:t>
            </a:r>
            <a:endParaRPr/>
          </a:p>
          <a:p>
            <a:pPr indent="-270000" lvl="1" marL="720000" rtl="0" algn="l">
              <a:spcBef>
                <a:spcPts val="960"/>
              </a:spcBef>
              <a:spcAft>
                <a:spcPts val="0"/>
              </a:spcAft>
              <a:buSzPts val="1260"/>
              <a:buChar char="🞚"/>
            </a:pPr>
            <a:r>
              <a:rPr lang="en-US"/>
              <a:t>Use a measurement of distance if control station is so equipped.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Loading</a:t>
            </a:r>
            <a:endParaRPr/>
          </a:p>
        </p:txBody>
      </p:sp>
      <p:sp>
        <p:nvSpPr>
          <p:cNvPr id="183" name="Google Shape;183;p25"/>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b="1" lang="en-US"/>
              <a:t>Empty weight </a:t>
            </a:r>
            <a:r>
              <a:rPr lang="en-US"/>
              <a:t>- includes the airframe, power source, all fixed equipment, and unusable fuel.</a:t>
            </a:r>
            <a:endParaRPr/>
          </a:p>
          <a:p>
            <a:pPr indent="-306000" lvl="0" marL="342900" rtl="0" algn="l">
              <a:spcBef>
                <a:spcPts val="1000"/>
              </a:spcBef>
              <a:spcAft>
                <a:spcPts val="0"/>
              </a:spcAft>
              <a:buSzPts val="1400"/>
              <a:buChar char="◈"/>
            </a:pPr>
            <a:r>
              <a:rPr b="1" lang="en-US"/>
              <a:t>Useful load </a:t>
            </a:r>
            <a:r>
              <a:rPr lang="en-US"/>
              <a:t>– power source (battery or fuel) and payload equipment.</a:t>
            </a:r>
            <a:endParaRPr/>
          </a:p>
          <a:p>
            <a:pPr indent="-306000" lvl="0" marL="342900" rtl="0" algn="l">
              <a:spcBef>
                <a:spcPts val="1000"/>
              </a:spcBef>
              <a:spcAft>
                <a:spcPts val="0"/>
              </a:spcAft>
              <a:buSzPts val="1400"/>
              <a:buChar char="◈"/>
            </a:pPr>
            <a:r>
              <a:rPr b="1" lang="en-US"/>
              <a:t>Launch weight </a:t>
            </a:r>
            <a:r>
              <a:rPr lang="en-US"/>
              <a:t>– empty weight plus useful load.</a:t>
            </a:r>
            <a:endParaRPr/>
          </a:p>
          <a:p>
            <a:pPr indent="-306000" lvl="0" marL="342900" rtl="0" algn="l">
              <a:spcBef>
                <a:spcPts val="1000"/>
              </a:spcBef>
              <a:spcAft>
                <a:spcPts val="0"/>
              </a:spcAft>
              <a:buSzPts val="1400"/>
              <a:buChar char="◈"/>
            </a:pPr>
            <a:r>
              <a:rPr b="1" lang="en-US"/>
              <a:t>Landing weight </a:t>
            </a:r>
            <a:r>
              <a:rPr lang="en-US"/>
              <a:t>– launch weight minus any fuel used or jettisoned load.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Computing weight and balance</a:t>
            </a:r>
            <a:endParaRPr/>
          </a:p>
        </p:txBody>
      </p:sp>
      <p:sp>
        <p:nvSpPr>
          <p:cNvPr id="189" name="Google Shape;189;p26"/>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20000"/>
          </a:bodyPr>
          <a:lstStyle/>
          <a:p>
            <a:pPr indent="-306000" lvl="0" marL="342900" rtl="0" algn="l">
              <a:spcBef>
                <a:spcPts val="0"/>
              </a:spcBef>
              <a:spcAft>
                <a:spcPts val="0"/>
              </a:spcAft>
              <a:buSzPts val="1400"/>
              <a:buChar char="◈"/>
            </a:pPr>
            <a:r>
              <a:rPr b="1" lang="en-US"/>
              <a:t>Arm</a:t>
            </a:r>
            <a:r>
              <a:rPr lang="en-US"/>
              <a:t> - horizontal distance measured in inches from the datum line to a point on the aircraft.</a:t>
            </a:r>
            <a:endParaRPr/>
          </a:p>
          <a:p>
            <a:pPr indent="-306000" lvl="0" marL="342900" rtl="0" algn="l">
              <a:spcBef>
                <a:spcPts val="1000"/>
              </a:spcBef>
              <a:spcAft>
                <a:spcPts val="0"/>
              </a:spcAft>
              <a:buSzPts val="1400"/>
              <a:buChar char="◈"/>
            </a:pPr>
            <a:r>
              <a:rPr b="1" lang="en-US"/>
              <a:t>Datum line </a:t>
            </a:r>
            <a:r>
              <a:rPr lang="en-US"/>
              <a:t>- a reference point along the longitudinal axis indicated by the manufacturer.</a:t>
            </a:r>
            <a:endParaRPr/>
          </a:p>
          <a:p>
            <a:pPr indent="-306000" lvl="0" marL="342900" rtl="0" algn="l">
              <a:spcBef>
                <a:spcPts val="1000"/>
              </a:spcBef>
              <a:spcAft>
                <a:spcPts val="0"/>
              </a:spcAft>
              <a:buSzPts val="1400"/>
              <a:buChar char="◈"/>
            </a:pPr>
            <a:r>
              <a:rPr b="1" lang="en-US"/>
              <a:t>Moment </a:t>
            </a:r>
            <a:r>
              <a:rPr lang="en-US"/>
              <a:t>– product of the weight of an object multiplied by its arm and is expressed in pound-inches (lbs.-in). </a:t>
            </a:r>
            <a:endParaRPr/>
          </a:p>
          <a:p>
            <a:pPr indent="-306000" lvl="0" marL="342900" rtl="0" algn="l">
              <a:spcBef>
                <a:spcPts val="1000"/>
              </a:spcBef>
              <a:spcAft>
                <a:spcPts val="0"/>
              </a:spcAft>
              <a:buSzPts val="1400"/>
              <a:buChar char="◈"/>
            </a:pPr>
            <a:r>
              <a:rPr b="1" lang="en-US"/>
              <a:t>C.G. (center of gravity) </a:t>
            </a:r>
            <a:r>
              <a:rPr lang="en-US"/>
              <a:t>– The total moment divide by the total weight equals the CG.</a:t>
            </a:r>
            <a:endParaRPr/>
          </a:p>
          <a:p>
            <a:pPr indent="0" lvl="1" marL="414000" rtl="0" algn="l">
              <a:spcBef>
                <a:spcPts val="960"/>
              </a:spcBef>
              <a:spcAft>
                <a:spcPts val="0"/>
              </a:spcAft>
              <a:buSzPts val="1260"/>
              <a:buNone/>
            </a:pPr>
            <a:r>
              <a:rPr lang="en-US"/>
              <a:t>C.G. represents the number of inches from the datum that the airplanes balances.</a:t>
            </a:r>
            <a:endParaRPr/>
          </a:p>
          <a:p>
            <a:pPr indent="-306000" lvl="0" marL="342900" rtl="0" algn="l">
              <a:spcBef>
                <a:spcPts val="1000"/>
              </a:spcBef>
              <a:spcAft>
                <a:spcPts val="0"/>
              </a:spcAft>
              <a:buSzPts val="1400"/>
              <a:buChar char="◈"/>
            </a:pPr>
            <a:r>
              <a:rPr lang="en-US"/>
              <a:t>While longitudinal stability is typically the focus of weight and balance , lateral CG is also a concern. (eg. fuels used  in the wings must be used evenly or the aircraft can become laterally unstable). </a:t>
            </a:r>
            <a:endParaRPr/>
          </a:p>
          <a:p>
            <a:pPr indent="-217100" lvl="0" marL="342900" rtl="0" algn="l">
              <a:spcBef>
                <a:spcPts val="1000"/>
              </a:spcBef>
              <a:spcAft>
                <a:spcPts val="0"/>
              </a:spcAft>
              <a:buSzPts val="14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Computing weight and balance</a:t>
            </a:r>
            <a:endParaRPr/>
          </a:p>
        </p:txBody>
      </p:sp>
      <p:sp>
        <p:nvSpPr>
          <p:cNvPr id="195" name="Google Shape;195;p27"/>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Loading an aircraft outside of its CG limits can make the aircraft difficult or impossible to control. </a:t>
            </a:r>
            <a:endParaRPr/>
          </a:p>
          <a:p>
            <a:pPr indent="-306000" lvl="0" marL="342900" rtl="0" algn="l">
              <a:spcBef>
                <a:spcPts val="1000"/>
              </a:spcBef>
              <a:spcAft>
                <a:spcPts val="0"/>
              </a:spcAft>
              <a:buSzPts val="1400"/>
              <a:buChar char="◈"/>
            </a:pPr>
            <a:r>
              <a:rPr lang="en-US"/>
              <a:t>It is the responsibility of the remote PIC to use the most current weight and balance data when planning a flight and operating the sUAS. </a:t>
            </a:r>
            <a:endParaRPr/>
          </a:p>
        </p:txBody>
      </p:sp>
      <p:sp>
        <p:nvSpPr>
          <p:cNvPr id="196" name="Google Shape;196;p27"/>
          <p:cNvSpPr txBox="1"/>
          <p:nvPr/>
        </p:nvSpPr>
        <p:spPr>
          <a:xfrm>
            <a:off x="1112390" y="4011827"/>
            <a:ext cx="9956700" cy="25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Lustria"/>
                <a:ea typeface="Lustria"/>
                <a:cs typeface="Lustria"/>
                <a:sym typeface="Lustria"/>
              </a:rPr>
              <a:t>		</a:t>
            </a:r>
            <a:r>
              <a:rPr b="1" i="0" lang="en-US" sz="1800" u="none" cap="none" strike="noStrike">
                <a:solidFill>
                  <a:schemeClr val="dk1"/>
                </a:solidFill>
                <a:latin typeface="Lustria"/>
                <a:ea typeface="Lustria"/>
                <a:cs typeface="Lustria"/>
                <a:sym typeface="Lustria"/>
              </a:rPr>
              <a:t>		Weight		x	Arm	     =	Moment/1000</a:t>
            </a:r>
            <a:endParaRPr sz="1800">
              <a:solidFill>
                <a:schemeClr val="dk1"/>
              </a:solidFill>
              <a:latin typeface="Lustria"/>
              <a:ea typeface="Lustria"/>
              <a:cs typeface="Lustria"/>
              <a:sym typeface="Lustria"/>
            </a:endParaRPr>
          </a:p>
          <a:p>
            <a:pPr indent="0" lvl="0" marL="0" marR="0" rtl="0" algn="l">
              <a:spcBef>
                <a:spcPts val="0"/>
              </a:spcBef>
              <a:spcAft>
                <a:spcPts val="0"/>
              </a:spcAft>
              <a:buNone/>
            </a:pPr>
            <a:r>
              <a:rPr b="1" lang="en-US" sz="1800">
                <a:solidFill>
                  <a:schemeClr val="dk1"/>
                </a:solidFill>
                <a:latin typeface="Lustria"/>
                <a:ea typeface="Lustria"/>
                <a:cs typeface="Lustria"/>
                <a:sym typeface="Lustria"/>
              </a:rPr>
              <a:t>Aircraft empty weight: 		</a:t>
            </a:r>
            <a:r>
              <a:rPr lang="en-US" sz="1800">
                <a:solidFill>
                  <a:schemeClr val="dk1"/>
                </a:solidFill>
                <a:latin typeface="Lustria"/>
                <a:ea typeface="Lustria"/>
                <a:cs typeface="Lustria"/>
                <a:sym typeface="Lustria"/>
              </a:rPr>
              <a:t>1639lbs 			39.29		64.4 in/lbs.</a:t>
            </a:r>
            <a:endParaRPr>
              <a:solidFill>
                <a:schemeClr val="dk1"/>
              </a:solidFill>
            </a:endParaRPr>
          </a:p>
          <a:p>
            <a:pPr indent="0" lvl="0" marL="0" marR="0" rtl="0" algn="l">
              <a:spcBef>
                <a:spcPts val="0"/>
              </a:spcBef>
              <a:spcAft>
                <a:spcPts val="0"/>
              </a:spcAft>
              <a:buNone/>
            </a:pPr>
            <a:r>
              <a:rPr b="1" lang="en-US" sz="1800">
                <a:solidFill>
                  <a:schemeClr val="dk1"/>
                </a:solidFill>
                <a:latin typeface="Lustria"/>
                <a:ea typeface="Lustria"/>
                <a:cs typeface="Lustria"/>
                <a:sym typeface="Lustria"/>
              </a:rPr>
              <a:t>Pilot &amp; Front Passenger:</a:t>
            </a:r>
            <a:r>
              <a:rPr lang="en-US" sz="1800">
                <a:solidFill>
                  <a:schemeClr val="dk1"/>
                </a:solidFill>
                <a:latin typeface="Lustria"/>
                <a:ea typeface="Lustria"/>
                <a:cs typeface="Lustria"/>
                <a:sym typeface="Lustria"/>
              </a:rPr>
              <a:t> 		340 lbs.			37”		12.58 in/lbs.</a:t>
            </a:r>
            <a:endParaRPr>
              <a:solidFill>
                <a:schemeClr val="dk1"/>
              </a:solidFill>
            </a:endParaRPr>
          </a:p>
          <a:p>
            <a:pPr indent="0" lvl="0" marL="0" marR="0" rtl="0" algn="l">
              <a:spcBef>
                <a:spcPts val="0"/>
              </a:spcBef>
              <a:spcAft>
                <a:spcPts val="0"/>
              </a:spcAft>
              <a:buNone/>
            </a:pPr>
            <a:r>
              <a:rPr b="1" lang="en-US" sz="1800">
                <a:solidFill>
                  <a:schemeClr val="dk1"/>
                </a:solidFill>
                <a:latin typeface="Lustria"/>
                <a:ea typeface="Lustria"/>
                <a:cs typeface="Lustria"/>
                <a:sym typeface="Lustria"/>
              </a:rPr>
              <a:t>Fuel: 53 gallons</a:t>
            </a:r>
            <a:r>
              <a:rPr lang="en-US" sz="1800">
                <a:solidFill>
                  <a:schemeClr val="dk1"/>
                </a:solidFill>
                <a:latin typeface="Lustria"/>
                <a:ea typeface="Lustria"/>
                <a:cs typeface="Lustria"/>
                <a:sym typeface="Lustria"/>
              </a:rPr>
              <a:t>	</a:t>
            </a:r>
            <a:r>
              <a:rPr b="1" lang="en-US" sz="1800">
                <a:solidFill>
                  <a:schemeClr val="dk1"/>
                </a:solidFill>
                <a:latin typeface="Lustria"/>
                <a:ea typeface="Lustria"/>
                <a:cs typeface="Lustria"/>
                <a:sym typeface="Lustria"/>
              </a:rPr>
              <a:t>(max)</a:t>
            </a:r>
            <a:r>
              <a:rPr lang="en-US" sz="1800">
                <a:solidFill>
                  <a:schemeClr val="dk1"/>
                </a:solidFill>
                <a:latin typeface="Lustria"/>
                <a:ea typeface="Lustria"/>
                <a:cs typeface="Lustria"/>
                <a:sym typeface="Lustria"/>
              </a:rPr>
              <a:t>		318 lbs.			48”		15.26 in/lbs.</a:t>
            </a:r>
            <a:endParaRPr>
              <a:solidFill>
                <a:schemeClr val="dk1"/>
              </a:solidFill>
            </a:endParaRPr>
          </a:p>
          <a:p>
            <a:pPr indent="0" lvl="0" marL="0" marR="0" rtl="0" algn="l">
              <a:spcBef>
                <a:spcPts val="0"/>
              </a:spcBef>
              <a:spcAft>
                <a:spcPts val="0"/>
              </a:spcAft>
              <a:buNone/>
            </a:pPr>
            <a:r>
              <a:rPr b="1" lang="en-US" sz="1800">
                <a:solidFill>
                  <a:schemeClr val="dk1"/>
                </a:solidFill>
                <a:latin typeface="Lustria"/>
                <a:ea typeface="Lustria"/>
                <a:cs typeface="Lustria"/>
                <a:sym typeface="Lustria"/>
              </a:rPr>
              <a:t>Rear passenger			</a:t>
            </a:r>
            <a:r>
              <a:rPr lang="en-US" sz="1800">
                <a:solidFill>
                  <a:schemeClr val="dk1"/>
                </a:solidFill>
                <a:latin typeface="Lustria"/>
                <a:ea typeface="Lustria"/>
                <a:cs typeface="Lustria"/>
                <a:sym typeface="Lustria"/>
              </a:rPr>
              <a:t>80 lbs.			72”		5.76 in/lbs.</a:t>
            </a:r>
            <a:endParaRPr>
              <a:solidFill>
                <a:schemeClr val="dk1"/>
              </a:solidFill>
            </a:endParaRPr>
          </a:p>
          <a:p>
            <a:pPr indent="0" lvl="0" marL="0" marR="0" rtl="0" algn="l">
              <a:spcBef>
                <a:spcPts val="0"/>
              </a:spcBef>
              <a:spcAft>
                <a:spcPts val="0"/>
              </a:spcAft>
              <a:buNone/>
            </a:pPr>
            <a:r>
              <a:rPr b="1" lang="en-US" sz="1800">
                <a:solidFill>
                  <a:schemeClr val="dk1"/>
                </a:solidFill>
                <a:latin typeface="Lustria"/>
                <a:ea typeface="Lustria"/>
                <a:cs typeface="Lustria"/>
                <a:sym typeface="Lustria"/>
              </a:rPr>
              <a:t>Baggage:</a:t>
            </a:r>
            <a:r>
              <a:rPr lang="en-US" sz="1800">
                <a:solidFill>
                  <a:schemeClr val="dk1"/>
                </a:solidFill>
                <a:latin typeface="Lustria"/>
                <a:ea typeface="Lustria"/>
                <a:cs typeface="Lustria"/>
                <a:sym typeface="Lustria"/>
              </a:rPr>
              <a:t> 			30 lbs.			76”		2.28</a:t>
            </a:r>
            <a:endParaRPr>
              <a:solidFill>
                <a:schemeClr val="dk1"/>
              </a:solidFill>
            </a:endParaRPr>
          </a:p>
          <a:p>
            <a:pPr indent="0" lvl="0" marL="0" marR="0" rtl="0" algn="l">
              <a:spcBef>
                <a:spcPts val="0"/>
              </a:spcBef>
              <a:spcAft>
                <a:spcPts val="0"/>
              </a:spcAft>
              <a:buNone/>
            </a:pPr>
            <a:r>
              <a:rPr b="1" lang="en-US" sz="1800" u="sng">
                <a:solidFill>
                  <a:schemeClr val="dk1"/>
                </a:solidFill>
                <a:latin typeface="Lustria"/>
                <a:ea typeface="Lustria"/>
                <a:cs typeface="Lustria"/>
                <a:sym typeface="Lustria"/>
              </a:rPr>
              <a:t>Total:				2,407 lbs.				100.28</a:t>
            </a:r>
            <a:endParaRPr sz="1800">
              <a:solidFill>
                <a:schemeClr val="dk1"/>
              </a:solidFill>
              <a:latin typeface="Lustria"/>
              <a:ea typeface="Lustria"/>
              <a:cs typeface="Lustria"/>
              <a:sym typeface="Lustria"/>
            </a:endParaRPr>
          </a:p>
          <a:p>
            <a:pPr indent="0" lvl="0" marL="0" marR="0" rtl="0" algn="l">
              <a:spcBef>
                <a:spcPts val="0"/>
              </a:spcBef>
              <a:spcAft>
                <a:spcPts val="0"/>
              </a:spcAft>
              <a:buNone/>
            </a:pPr>
            <a:r>
              <a:rPr b="1" lang="en-US" sz="1800">
                <a:solidFill>
                  <a:schemeClr val="dk1"/>
                </a:solidFill>
                <a:latin typeface="Lustria"/>
                <a:ea typeface="Lustria"/>
                <a:cs typeface="Lustria"/>
                <a:sym typeface="Lustria"/>
              </a:rPr>
              <a:t>Center of gravity</a:t>
            </a:r>
            <a:r>
              <a:rPr lang="en-US" sz="1800">
                <a:solidFill>
                  <a:schemeClr val="dk1"/>
                </a:solidFill>
                <a:latin typeface="Lustria"/>
                <a:ea typeface="Lustria"/>
                <a:cs typeface="Lustria"/>
                <a:sym typeface="Lustria"/>
              </a:rPr>
              <a:t> =total moment/total weight = [100.28/2407 x 1000] = </a:t>
            </a:r>
            <a:r>
              <a:rPr b="1" lang="en-US" sz="1800" u="sng">
                <a:solidFill>
                  <a:schemeClr val="dk1"/>
                </a:solidFill>
                <a:latin typeface="Lustria"/>
                <a:ea typeface="Lustria"/>
                <a:cs typeface="Lustria"/>
                <a:sym typeface="Lustria"/>
              </a:rPr>
              <a:t>41.66” from Datum</a:t>
            </a:r>
            <a:endParaRPr sz="1800">
              <a:solidFill>
                <a:schemeClr val="dk1"/>
              </a:solidFill>
              <a:latin typeface="Lustria"/>
              <a:ea typeface="Lustria"/>
              <a:cs typeface="Lustria"/>
              <a:sym typeface="Lustria"/>
            </a:endParaRPr>
          </a:p>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p:txBody>
      </p:sp>
      <p:sp>
        <p:nvSpPr>
          <p:cNvPr id="197" name="Google Shape;197;p27"/>
          <p:cNvSpPr txBox="1"/>
          <p:nvPr/>
        </p:nvSpPr>
        <p:spPr>
          <a:xfrm>
            <a:off x="1112398" y="3490100"/>
            <a:ext cx="102426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Lustria"/>
                <a:ea typeface="Lustria"/>
                <a:cs typeface="Lustria"/>
                <a:sym typeface="Lustria"/>
              </a:rPr>
              <a:t>Example of a weight and balance calculation</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Load Factor</a:t>
            </a:r>
            <a:endParaRPr/>
          </a:p>
        </p:txBody>
      </p:sp>
      <p:sp>
        <p:nvSpPr>
          <p:cNvPr id="203" name="Google Shape;203;p28"/>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b="1" lang="en-US"/>
              <a:t>Load</a:t>
            </a:r>
            <a:r>
              <a:rPr lang="en-US"/>
              <a:t> - in aerodynamics, load is the force or imposed stress that must be supported by a sUAS structure in flight. </a:t>
            </a:r>
            <a:endParaRPr/>
          </a:p>
          <a:p>
            <a:pPr indent="-306000" lvl="0" marL="342900" rtl="0" algn="l">
              <a:spcBef>
                <a:spcPts val="1000"/>
              </a:spcBef>
              <a:spcAft>
                <a:spcPts val="0"/>
              </a:spcAft>
              <a:buSzPts val="1400"/>
              <a:buChar char="◈"/>
            </a:pPr>
            <a:r>
              <a:rPr b="1" lang="en-US"/>
              <a:t>Load Factor </a:t>
            </a:r>
            <a:r>
              <a:rPr lang="en-US"/>
              <a:t>– The loads imposed on the wings or rotors in flight.</a:t>
            </a:r>
            <a:endParaRPr/>
          </a:p>
          <a:p>
            <a:pPr indent="-306000" lvl="0" marL="342900" rtl="0" algn="l">
              <a:spcBef>
                <a:spcPts val="1000"/>
              </a:spcBef>
              <a:spcAft>
                <a:spcPts val="0"/>
              </a:spcAft>
              <a:buSzPts val="1400"/>
              <a:buChar char="◈"/>
            </a:pPr>
            <a:r>
              <a:rPr b="1" lang="en-US"/>
              <a:t>G force </a:t>
            </a:r>
            <a:r>
              <a:rPr lang="en-US"/>
              <a:t>– the force an object or person experiences due to acceleration.</a:t>
            </a:r>
            <a:endParaRPr/>
          </a:p>
          <a:p>
            <a:pPr indent="-306000" lvl="0" marL="342900" rtl="0" algn="l">
              <a:spcBef>
                <a:spcPts val="1000"/>
              </a:spcBef>
              <a:spcAft>
                <a:spcPts val="0"/>
              </a:spcAft>
              <a:buSzPts val="1400"/>
              <a:buChar char="◈"/>
            </a:pPr>
            <a:r>
              <a:rPr lang="en-US"/>
              <a:t>An aircraft in straight and level unaccelerated flight experiences 1 G. Gravity applies and acceleration force of 1 G.</a:t>
            </a:r>
            <a:endParaRPr/>
          </a:p>
          <a:p>
            <a:pPr indent="-306000" lvl="0" marL="342900" rtl="0" algn="l">
              <a:spcBef>
                <a:spcPts val="1000"/>
              </a:spcBef>
              <a:spcAft>
                <a:spcPts val="0"/>
              </a:spcAft>
              <a:buSzPts val="1400"/>
              <a:buChar char="◈"/>
            </a:pPr>
            <a:r>
              <a:rPr lang="en-US"/>
              <a:t>G force is increased or decreased in turns, climbs, dives, accelerations,  and decelerations.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Load Factor</a:t>
            </a:r>
            <a:endParaRPr/>
          </a:p>
        </p:txBody>
      </p:sp>
      <p:pic>
        <p:nvPicPr>
          <p:cNvPr id="209" name="Google Shape;209;p29"/>
          <p:cNvPicPr preferRelativeResize="0"/>
          <p:nvPr/>
        </p:nvPicPr>
        <p:blipFill rotWithShape="1">
          <a:blip r:embed="rId3">
            <a:alphaModFix/>
          </a:blip>
          <a:srcRect b="0" l="0" r="0" t="0"/>
          <a:stretch/>
        </p:blipFill>
        <p:spPr>
          <a:xfrm>
            <a:off x="3037774" y="1818947"/>
            <a:ext cx="6105803" cy="4724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Stalls</a:t>
            </a:r>
            <a:endParaRPr/>
          </a:p>
        </p:txBody>
      </p:sp>
      <p:sp>
        <p:nvSpPr>
          <p:cNvPr id="215" name="Google Shape;215;p30"/>
          <p:cNvSpPr txBox="1"/>
          <p:nvPr>
            <p:ph idx="1" type="body"/>
          </p:nvPr>
        </p:nvSpPr>
        <p:spPr>
          <a:xfrm>
            <a:off x="913795" y="1732449"/>
            <a:ext cx="10353762" cy="222171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b="1" lang="en-US"/>
              <a:t>Airfoil</a:t>
            </a:r>
            <a:r>
              <a:rPr lang="en-US"/>
              <a:t> – a structure or body that produces a useful reaction to air movement.</a:t>
            </a:r>
            <a:endParaRPr/>
          </a:p>
          <a:p>
            <a:pPr indent="-306000" lvl="0" marL="342900" rtl="0" algn="l">
              <a:spcBef>
                <a:spcPts val="1000"/>
              </a:spcBef>
              <a:spcAft>
                <a:spcPts val="0"/>
              </a:spcAft>
              <a:buSzPts val="1400"/>
              <a:buChar char="◈"/>
            </a:pPr>
            <a:r>
              <a:rPr b="1" lang="en-US"/>
              <a:t>Chord Line </a:t>
            </a:r>
            <a:r>
              <a:rPr lang="en-US"/>
              <a:t>– an imaginary straight line from the leading edge to the trailing edge of an airfoil. </a:t>
            </a:r>
            <a:endParaRPr/>
          </a:p>
          <a:p>
            <a:pPr indent="-306000" lvl="0" marL="342900" rtl="0" algn="l">
              <a:spcBef>
                <a:spcPts val="1000"/>
              </a:spcBef>
              <a:spcAft>
                <a:spcPts val="0"/>
              </a:spcAft>
              <a:buSzPts val="1400"/>
              <a:buChar char="◈"/>
            </a:pPr>
            <a:r>
              <a:rPr b="1" lang="en-US"/>
              <a:t>Relative wind </a:t>
            </a:r>
            <a:r>
              <a:rPr lang="en-US"/>
              <a:t>- the wind “felt” or experienced by an airfoil.</a:t>
            </a:r>
            <a:endParaRPr/>
          </a:p>
          <a:p>
            <a:pPr indent="-306000" lvl="0" marL="342900" rtl="0" algn="l">
              <a:spcBef>
                <a:spcPts val="1000"/>
              </a:spcBef>
              <a:spcAft>
                <a:spcPts val="0"/>
              </a:spcAft>
              <a:buSzPts val="1400"/>
              <a:buChar char="◈"/>
            </a:pPr>
            <a:r>
              <a:rPr b="1" lang="en-US"/>
              <a:t>Angle of attack </a:t>
            </a:r>
            <a:r>
              <a:rPr lang="en-US"/>
              <a:t>– angle between the chord line of the airfoil and the relative wind. </a:t>
            </a:r>
            <a:endParaRPr/>
          </a:p>
        </p:txBody>
      </p:sp>
      <p:pic>
        <p:nvPicPr>
          <p:cNvPr id="216" name="Google Shape;216;p30"/>
          <p:cNvPicPr preferRelativeResize="0"/>
          <p:nvPr/>
        </p:nvPicPr>
        <p:blipFill rotWithShape="1">
          <a:blip r:embed="rId3">
            <a:alphaModFix/>
          </a:blip>
          <a:srcRect b="0" l="0" r="0" t="0"/>
          <a:stretch/>
        </p:blipFill>
        <p:spPr>
          <a:xfrm>
            <a:off x="3849984" y="3954162"/>
            <a:ext cx="4481384" cy="248343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Stalls</a:t>
            </a:r>
            <a:endParaRPr/>
          </a:p>
        </p:txBody>
      </p:sp>
      <p:pic>
        <p:nvPicPr>
          <p:cNvPr id="222" name="Google Shape;222;p31"/>
          <p:cNvPicPr preferRelativeResize="0"/>
          <p:nvPr>
            <p:ph idx="1" type="body"/>
          </p:nvPr>
        </p:nvPicPr>
        <p:blipFill rotWithShape="1">
          <a:blip r:embed="rId3">
            <a:alphaModFix/>
          </a:blip>
          <a:srcRect b="0" l="0" r="0" t="0"/>
          <a:stretch/>
        </p:blipFill>
        <p:spPr>
          <a:xfrm>
            <a:off x="8639159" y="3638261"/>
            <a:ext cx="2544300" cy="3097200"/>
          </a:xfrm>
          <a:prstGeom prst="rect">
            <a:avLst/>
          </a:prstGeom>
          <a:noFill/>
          <a:ln>
            <a:noFill/>
          </a:ln>
          <a:effectLst>
            <a:outerShdw blurRad="25400">
              <a:srgbClr val="000000">
                <a:alpha val="45882"/>
              </a:srgbClr>
            </a:outerShdw>
          </a:effectLst>
        </p:spPr>
      </p:pic>
      <p:sp>
        <p:nvSpPr>
          <p:cNvPr id="223" name="Google Shape;223;p31"/>
          <p:cNvSpPr txBox="1"/>
          <p:nvPr/>
        </p:nvSpPr>
        <p:spPr>
          <a:xfrm>
            <a:off x="1167025" y="1856448"/>
            <a:ext cx="9847200" cy="25860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ustria"/>
                <a:ea typeface="Lustria"/>
                <a:cs typeface="Lustria"/>
                <a:sym typeface="Lustria"/>
              </a:rPr>
              <a:t>Stalls occur when the critical angle of attack is exceeded (18-20 degrees for most airfoils). During a stall, the smooth airflow over the airfoil becomes separated from the airfoil.</a:t>
            </a:r>
            <a:endParaRPr>
              <a:solidFill>
                <a:schemeClr val="dk1"/>
              </a:solidFil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ustria"/>
                <a:ea typeface="Lustria"/>
                <a:cs typeface="Lustria"/>
                <a:sym typeface="Lustria"/>
              </a:rPr>
              <a:t>Turbulence caused by the separation of airflow becomes so great the airfoil stops producing enough lift to maintain flight.</a:t>
            </a:r>
            <a:endParaRPr>
              <a:solidFill>
                <a:schemeClr val="dk1"/>
              </a:solidFil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ustria"/>
                <a:ea typeface="Lustria"/>
                <a:cs typeface="Lustria"/>
                <a:sym typeface="Lustria"/>
              </a:rPr>
              <a:t>A wing will always stall at the critical angle of attack regardless of altitude, airspeed, or weight.</a:t>
            </a:r>
            <a:endParaRPr>
              <a:solidFill>
                <a:schemeClr val="dk1"/>
              </a:solidFil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ustria"/>
                <a:ea typeface="Lustria"/>
                <a:cs typeface="Lustria"/>
                <a:sym typeface="Lustria"/>
              </a:rPr>
              <a:t>Increases in load factor will increase an aircraft’s stall speed. </a:t>
            </a:r>
            <a:endParaRPr>
              <a:solidFill>
                <a:schemeClr val="dk1"/>
              </a:solidFill>
            </a:endParaRPr>
          </a:p>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Loading and Performance</a:t>
            </a:r>
            <a:br>
              <a:rPr lang="en-US"/>
            </a:br>
            <a:r>
              <a:rPr lang="en-US"/>
              <a:t>Performance</a:t>
            </a:r>
            <a:endParaRPr/>
          </a:p>
        </p:txBody>
      </p:sp>
      <p:sp>
        <p:nvSpPr>
          <p:cNvPr id="229" name="Google Shape;229;p32"/>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The remote PIC is responsible for ensuring that every flight can be accomplished safely, does not pose an undue hazard, and does not increase the likelihood of a loss of positive control.</a:t>
            </a:r>
            <a:endParaRPr/>
          </a:p>
          <a:p>
            <a:pPr indent="-306000" lvl="0" marL="342900" rtl="0" algn="l">
              <a:spcBef>
                <a:spcPts val="1000"/>
              </a:spcBef>
              <a:spcAft>
                <a:spcPts val="0"/>
              </a:spcAft>
              <a:buSzPts val="1400"/>
              <a:buChar char="◈"/>
            </a:pPr>
            <a:r>
              <a:rPr lang="en-US"/>
              <a:t>The effect of runway slope on launch distance is due to the component of weight along the inclined path of the aircraft. An upslope would contribute a retarding force component, while a downslope would contribute an accelerating force component. </a:t>
            </a:r>
            <a:endParaRPr/>
          </a:p>
          <a:p>
            <a:pPr indent="-306000" lvl="0" marL="342900" rtl="0" algn="l">
              <a:spcBef>
                <a:spcPts val="1000"/>
              </a:spcBef>
              <a:spcAft>
                <a:spcPts val="0"/>
              </a:spcAft>
              <a:buSzPts val="1400"/>
              <a:buChar char="◈"/>
            </a:pPr>
            <a:r>
              <a:rPr lang="en-US"/>
              <a:t>Weight, altitude, temperature and unfavorable wind are the most critical factors in launch performance of a sUAS. </a:t>
            </a:r>
            <a:endParaRPr/>
          </a:p>
          <a:p>
            <a:pPr indent="-306000" lvl="0" marL="342900" rtl="0" algn="l">
              <a:spcBef>
                <a:spcPts val="1000"/>
              </a:spcBef>
              <a:spcAft>
                <a:spcPts val="0"/>
              </a:spcAft>
              <a:buSzPts val="1400"/>
              <a:buChar char="◈"/>
            </a:pPr>
            <a:r>
              <a:rPr lang="en-US"/>
              <a:t>The maximum endurance condition is obtained at the point of minimum power required (least fuel or battery power required to maintain flight).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References</a:t>
            </a:r>
            <a:endParaRPr/>
          </a:p>
        </p:txBody>
      </p:sp>
      <p:sp>
        <p:nvSpPr>
          <p:cNvPr id="235" name="Google Shape;235;p3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Marshall, D.; Barnhart, R., Shappee, E., Most, M. (2016). </a:t>
            </a:r>
            <a:r>
              <a:rPr i="1" lang="en-US"/>
              <a:t>Introduction to Unmanned Aircraft Systems.</a:t>
            </a:r>
            <a:r>
              <a:rPr lang="en-US"/>
              <a:t> New York, NY: CRC Press.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000000"/>
      </a:dk1>
      <a:lt1>
        <a:srgbClr val="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