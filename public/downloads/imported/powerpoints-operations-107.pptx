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9144000"/>
  <p:embeddedFontLst>
    <p:embeddedFont>
      <p:font typeface="Lustria"/>
      <p:regular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23" Type="http://schemas.openxmlformats.org/officeDocument/2006/relationships/font" Target="fonts/Lustria-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lesson moves beyond simply knowing the regulations and focuses on </a:t>
            </a:r>
            <a:r>
              <a:rPr b="1" lang="en-US">
                <a:solidFill>
                  <a:schemeClr val="dk1"/>
                </a:solidFill>
              </a:rPr>
              <a:t>how we safely operate a UAS in the real world</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We'll begin with </a:t>
            </a:r>
            <a:r>
              <a:rPr b="1" lang="en-US">
                <a:solidFill>
                  <a:schemeClr val="dk1"/>
                </a:solidFill>
              </a:rPr>
              <a:t>communication procedures</a:t>
            </a:r>
            <a:r>
              <a:rPr lang="en-US">
                <a:solidFill>
                  <a:schemeClr val="dk1"/>
                </a:solidFill>
              </a:rPr>
              <a:t>. Good communication between the remote PIC, visual observer, and other members of the flight crew is essential. Everyone needs to understand their responsibilities and know how to communicate hazards or changing conditions quickly and clearly.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We'll also discuss </a:t>
            </a:r>
            <a:r>
              <a:rPr b="1" lang="en-US">
                <a:solidFill>
                  <a:schemeClr val="dk1"/>
                </a:solidFill>
              </a:rPr>
              <a:t>UAS radio frequencies</a:t>
            </a:r>
            <a:r>
              <a:rPr lang="en-US">
                <a:solidFill>
                  <a:schemeClr val="dk1"/>
                </a:solidFill>
              </a:rPr>
              <a:t> and the different wireless links that may be used for aircraft control, telemetry, GPS/GNSS, and video. Understanding these systems helps us recognize potential interference and communication problems.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 major portion of this lesson deals with </a:t>
            </a:r>
            <a:r>
              <a:rPr b="1" lang="en-US">
                <a:solidFill>
                  <a:schemeClr val="dk1"/>
                </a:solidFill>
              </a:rPr>
              <a:t>emergency procedures</a:t>
            </a:r>
            <a:r>
              <a:rPr lang="en-US">
                <a:solidFill>
                  <a:schemeClr val="dk1"/>
                </a:solidFill>
              </a:rPr>
              <a:t>. We need to think about emergencies before they happen rather than trying to invent a solution while the aircraft is already in trouble.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One of the most important emergencies is </a:t>
            </a:r>
            <a:r>
              <a:rPr b="1" lang="en-US">
                <a:solidFill>
                  <a:schemeClr val="dk1"/>
                </a:solidFill>
              </a:rPr>
              <a:t>lost link</a:t>
            </a:r>
            <a:r>
              <a:rPr lang="en-US">
                <a:solidFill>
                  <a:schemeClr val="dk1"/>
                </a:solidFill>
              </a:rPr>
              <a:t>, where communication between the control station and the aircraft is interrupted. We'll discuss how different UAS respond to lost link and why the remote PIC needs to understand and configure those behaviors before flight.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We'll also look at </a:t>
            </a:r>
            <a:r>
              <a:rPr b="1" lang="en-US">
                <a:solidFill>
                  <a:schemeClr val="dk1"/>
                </a:solidFill>
              </a:rPr>
              <a:t>flight termination</a:t>
            </a:r>
            <a:r>
              <a:rPr lang="en-US">
                <a:solidFill>
                  <a:schemeClr val="dk1"/>
                </a:solidFill>
              </a:rPr>
              <a:t>, or situations where intentionally ending the flight may be safer than allowing the aircraft to continue.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For fixed-wing UAS, we'll discuss </a:t>
            </a:r>
            <a:r>
              <a:rPr b="1" lang="en-US">
                <a:solidFill>
                  <a:schemeClr val="dk1"/>
                </a:solidFill>
              </a:rPr>
              <a:t>flyaways</a:t>
            </a:r>
            <a:r>
              <a:rPr lang="en-US">
                <a:solidFill>
                  <a:schemeClr val="dk1"/>
                </a:solidFill>
              </a:rPr>
              <a:t> and what can happen when the aircraft no longer responds as expected. We'll also examine </a:t>
            </a:r>
            <a:r>
              <a:rPr b="1" lang="en-US">
                <a:solidFill>
                  <a:schemeClr val="dk1"/>
                </a:solidFill>
              </a:rPr>
              <a:t>loss of GPS</a:t>
            </a:r>
            <a:r>
              <a:rPr lang="en-US">
                <a:solidFill>
                  <a:schemeClr val="dk1"/>
                </a:solidFill>
              </a:rPr>
              <a:t>, including how the aircraft's behavior may change when position-hold or autonomous navigation is no longer available.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We'll spend some time on </a:t>
            </a:r>
            <a:r>
              <a:rPr b="1" lang="en-US">
                <a:solidFill>
                  <a:schemeClr val="dk1"/>
                </a:solidFill>
              </a:rPr>
              <a:t>lithium battery fires</a:t>
            </a:r>
            <a:r>
              <a:rPr lang="en-US">
                <a:solidFill>
                  <a:schemeClr val="dk1"/>
                </a:solidFill>
              </a:rPr>
              <a:t> because batteries introduce hazards that are different from those associated with traditional aircraft fuel systems. Proper charging, handling, storage, and emergency response are important parts of safe UAS operations.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We'll then introduce </a:t>
            </a:r>
            <a:r>
              <a:rPr b="1" lang="en-US">
                <a:solidFill>
                  <a:schemeClr val="dk1"/>
                </a:solidFill>
              </a:rPr>
              <a:t>Aeronautical Decision Making, or ADM</a:t>
            </a:r>
            <a:r>
              <a:rPr lang="en-US">
                <a:solidFill>
                  <a:schemeClr val="dk1"/>
                </a:solidFill>
              </a:rPr>
              <a:t>. ADM gives us a systematic way to recognize hazards, evaluate risk, and make good decisions before and during a flight.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We'll also discuss </a:t>
            </a:r>
            <a:r>
              <a:rPr b="1" lang="en-US">
                <a:solidFill>
                  <a:schemeClr val="dk1"/>
                </a:solidFill>
              </a:rPr>
              <a:t>human physiology and human factors</a:t>
            </a:r>
            <a:r>
              <a:rPr lang="en-US">
                <a:solidFill>
                  <a:schemeClr val="dk1"/>
                </a:solidFill>
              </a:rPr>
              <a:t>. Fatigue, stress, illness, medications, alcohol, dehydration, and other factors can affect our ability to safely operate an aircraft—even when we're standing on the ground.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Finally, we'll cover </a:t>
            </a:r>
            <a:r>
              <a:rPr b="1" lang="en-US">
                <a:solidFill>
                  <a:schemeClr val="dk1"/>
                </a:solidFill>
              </a:rPr>
              <a:t>maintenance and inspection procedures</a:t>
            </a:r>
            <a:r>
              <a:rPr lang="en-US">
                <a:solidFill>
                  <a:schemeClr val="dk1"/>
                </a:solidFill>
              </a:rPr>
              <a:t>. The remote PIC needs to ensure that the aircraft is in a condition for safe operation before every flight.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common theme throughout this lesson is </a:t>
            </a:r>
            <a:r>
              <a:rPr b="1" lang="en-US">
                <a:solidFill>
                  <a:schemeClr val="dk1"/>
                </a:solidFill>
              </a:rPr>
              <a:t>risk management</a:t>
            </a:r>
            <a:r>
              <a:rPr lang="en-US">
                <a:solidFill>
                  <a:schemeClr val="dk1"/>
                </a:solidFill>
              </a:rPr>
              <a:t>: recognizing what can go wrong, planning for it ahead of time, and knowing what to do when something doesn't go according to plan.</a:t>
            </a:r>
            <a:endParaRPr>
              <a:solidFill>
                <a:schemeClr val="dk1"/>
              </a:solidFill>
            </a:endParaRPr>
          </a:p>
          <a:p>
            <a:pPr indent="0" lvl="0" marL="0" rtl="0" algn="l">
              <a:spcBef>
                <a:spcPts val="1200"/>
              </a:spcBef>
              <a:spcAft>
                <a:spcPts val="0"/>
              </a:spcAft>
              <a:buNone/>
            </a:pPr>
            <a:r>
              <a:t/>
            </a:r>
            <a:endParaRPr/>
          </a:p>
        </p:txBody>
      </p:sp>
      <p:sp>
        <p:nvSpPr>
          <p:cNvPr id="149" name="Google Shape;14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Before every flight, the </a:t>
            </a:r>
            <a:r>
              <a:rPr b="1" lang="en-US">
                <a:solidFill>
                  <a:schemeClr val="dk1"/>
                </a:solidFill>
              </a:rPr>
              <a:t>remote PIC is responsible for determining that the UAS is in a condition for safe operation</a:t>
            </a:r>
            <a:r>
              <a:rPr lang="en-US">
                <a:solidFill>
                  <a:schemeClr val="dk1"/>
                </a:solidFill>
              </a:rPr>
              <a:t>. We cannot assume that an aircraft is safe simply because it flew successfully on the previous flight.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 </a:t>
            </a:r>
            <a:r>
              <a:rPr b="1" lang="en-US">
                <a:solidFill>
                  <a:schemeClr val="dk1"/>
                </a:solidFill>
              </a:rPr>
              <a:t>preflight inspection should be systematic and thorough</a:t>
            </a:r>
            <a:r>
              <a:rPr lang="en-US">
                <a:solidFill>
                  <a:schemeClr val="dk1"/>
                </a:solidFill>
              </a:rPr>
              <a:t>. Using the same procedure or checklist every time helps prevent us from overlooking something important.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For a fixed-wing UAS, we should inspect the </a:t>
            </a:r>
            <a:r>
              <a:rPr b="1" lang="en-US">
                <a:solidFill>
                  <a:schemeClr val="dk1"/>
                </a:solidFill>
              </a:rPr>
              <a:t>airframe, wings, control surfaces, hinges, control linkages, propeller, motor, landing gear or launch equipment, antennas, payload, and electrical connections</a:t>
            </a:r>
            <a:r>
              <a:rPr lang="en-US">
                <a:solidFill>
                  <a:schemeClr val="dk1"/>
                </a:solidFill>
              </a:rPr>
              <a:t>. We should also verify that batteries are properly charged, securely installed, and show no signs of damage or swelling.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 also need to perform functional checks. Make sure the </a:t>
            </a:r>
            <a:r>
              <a:rPr b="1" lang="en-US">
                <a:solidFill>
                  <a:schemeClr val="dk1"/>
                </a:solidFill>
              </a:rPr>
              <a:t>ailerons, elevator, and rudder move freely and in the correct direction</a:t>
            </a:r>
            <a:r>
              <a:rPr lang="en-US">
                <a:solidFill>
                  <a:schemeClr val="dk1"/>
                </a:solidFill>
              </a:rPr>
              <a:t> when commanded. Verify the propulsion system, communications link, GPS/GNSS, telemetry, and any other systems required for the mission.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Pay particular attention to anything that has changed since the previous flight. A </a:t>
            </a:r>
            <a:r>
              <a:rPr b="1" lang="en-US">
                <a:solidFill>
                  <a:schemeClr val="dk1"/>
                </a:solidFill>
              </a:rPr>
              <a:t>hard landing, transportation damage, payload change, repair, firmware update, or battery replacement</a:t>
            </a:r>
            <a:r>
              <a:rPr lang="en-US">
                <a:solidFill>
                  <a:schemeClr val="dk1"/>
                </a:solidFill>
              </a:rPr>
              <a:t> may introduce a new problem.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If we find a damaged or questionable component, don't simply decide that it is </a:t>
            </a:r>
            <a:r>
              <a:rPr b="1" lang="en-US">
                <a:solidFill>
                  <a:schemeClr val="dk1"/>
                </a:solidFill>
              </a:rPr>
              <a:t>“probably good enough.”</a:t>
            </a:r>
            <a:r>
              <a:rPr lang="en-US">
                <a:solidFill>
                  <a:schemeClr val="dk1"/>
                </a:solidFill>
              </a:rPr>
              <a:t> When in doubt, remove the aircraft from service and repair or replace the affected component.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Repairs and replacement parts should follow the </a:t>
            </a:r>
            <a:r>
              <a:rPr b="1" lang="en-US">
                <a:solidFill>
                  <a:schemeClr val="dk1"/>
                </a:solidFill>
              </a:rPr>
              <a:t>manufacturer's recommendations and procedures</a:t>
            </a:r>
            <a:r>
              <a:rPr lang="en-US">
                <a:solidFill>
                  <a:schemeClr val="dk1"/>
                </a:solidFill>
              </a:rPr>
              <a:t> whenever they are available.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key idea is simple: </a:t>
            </a:r>
            <a:r>
              <a:rPr b="1" lang="en-US">
                <a:solidFill>
                  <a:schemeClr val="dk1"/>
                </a:solidFill>
              </a:rPr>
              <a:t>the remote PIC makes the final decision that the aircraft is safe to fly—and that decision needs to be made before every flight.</a:t>
            </a:r>
            <a:endParaRPr b="1">
              <a:solidFill>
                <a:schemeClr val="dk1"/>
              </a:solidFill>
            </a:endParaRPr>
          </a:p>
          <a:p>
            <a:pPr indent="0" lvl="0" marL="0" rtl="0" algn="l">
              <a:spcBef>
                <a:spcPts val="1200"/>
              </a:spcBef>
              <a:spcAft>
                <a:spcPts val="0"/>
              </a:spcAft>
              <a:buNone/>
            </a:pPr>
            <a:r>
              <a:t/>
            </a:r>
            <a:endParaRPr/>
          </a:p>
        </p:txBody>
      </p:sp>
      <p:sp>
        <p:nvSpPr>
          <p:cNvPr id="155" name="Google Shape;15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1f9699a7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e1f9699a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is an example of a </a:t>
            </a:r>
            <a:r>
              <a:rPr b="1" lang="en-US">
                <a:solidFill>
                  <a:schemeClr val="dk1"/>
                </a:solidFill>
              </a:rPr>
              <a:t>systematic preflight inspection</a:t>
            </a:r>
            <a:r>
              <a:rPr lang="en-US">
                <a:solidFill>
                  <a:schemeClr val="dk1"/>
                </a:solidFill>
              </a:rPr>
              <a:t>. The exact checklist will vary depending on the UAS, but the goal is always the same: determine that the </a:t>
            </a:r>
            <a:r>
              <a:rPr b="1" lang="en-US">
                <a:solidFill>
                  <a:schemeClr val="dk1"/>
                </a:solidFill>
              </a:rPr>
              <a:t>entire system is ready for safe flight</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Start with a </a:t>
            </a:r>
            <a:r>
              <a:rPr b="1" lang="en-US">
                <a:solidFill>
                  <a:schemeClr val="dk1"/>
                </a:solidFill>
              </a:rPr>
              <a:t>visual inspection</a:t>
            </a:r>
            <a:r>
              <a:rPr lang="en-US">
                <a:solidFill>
                  <a:schemeClr val="dk1"/>
                </a:solidFill>
              </a:rPr>
              <a:t>. Look over the aircraft for anything that appears damaged, loose, cracked, bent, or out of place. For a fixed-wing UAS, pay particular attention to the wings, fuselage, control surfaces, hinges, linkages, propeller, motor, and attachment points.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Next, verify the </a:t>
            </a:r>
            <a:r>
              <a:rPr b="1" lang="en-US">
                <a:solidFill>
                  <a:schemeClr val="dk1"/>
                </a:solidFill>
              </a:rPr>
              <a:t>fuel or battery system</a:t>
            </a:r>
            <a:r>
              <a:rPr lang="en-US">
                <a:solidFill>
                  <a:schemeClr val="dk1"/>
                </a:solidFill>
              </a:rPr>
              <a:t>. Make sure we have the correct battery or fuel, that we have enough energy to complete the mission with an appropriate reserve, and that batteries are not damaged, swollen, or improperly secured.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Any </a:t>
            </a:r>
            <a:r>
              <a:rPr b="1" lang="en-US">
                <a:solidFill>
                  <a:schemeClr val="dk1"/>
                </a:solidFill>
              </a:rPr>
              <a:t>payload equipment</a:t>
            </a:r>
            <a:r>
              <a:rPr lang="en-US">
                <a:solidFill>
                  <a:schemeClr val="dk1"/>
                </a:solidFill>
              </a:rPr>
              <a:t>—such as cameras or sensors—needs to be securely attached. A loose payload can affect the aircraft's center of gravity and could potentially separate from the aircraft during flight.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Check the aircraft's </a:t>
            </a:r>
            <a:r>
              <a:rPr b="1" lang="en-US">
                <a:solidFill>
                  <a:schemeClr val="dk1"/>
                </a:solidFill>
              </a:rPr>
              <a:t>registration markings</a:t>
            </a:r>
            <a:r>
              <a:rPr lang="en-US">
                <a:solidFill>
                  <a:schemeClr val="dk1"/>
                </a:solidFill>
              </a:rPr>
              <a:t> and any other required identification.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 also need to inspect the </a:t>
            </a:r>
            <a:r>
              <a:rPr b="1" lang="en-US">
                <a:solidFill>
                  <a:schemeClr val="dk1"/>
                </a:solidFill>
              </a:rPr>
              <a:t>avionics, antennas, wiring, and communication systems</a:t>
            </a:r>
            <a:r>
              <a:rPr lang="en-US">
                <a:solidFill>
                  <a:schemeClr val="dk1"/>
                </a:solidFill>
              </a:rPr>
              <a:t>. Remember that we're not just preflighting an aircraft; we're preflighting an entire </a:t>
            </a:r>
            <a:r>
              <a:rPr b="1" lang="en-US">
                <a:solidFill>
                  <a:schemeClr val="dk1"/>
                </a:solidFill>
              </a:rPr>
              <a:t>UAS</a:t>
            </a:r>
            <a:r>
              <a:rPr lang="en-US">
                <a:solidFill>
                  <a:schemeClr val="dk1"/>
                </a:solidFill>
              </a:rPr>
              <a:t>, including the controller, ground station, communications link, and supporting equipment.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Compass or other sensor calibration should be performed </a:t>
            </a:r>
            <a:r>
              <a:rPr b="1" lang="en-US">
                <a:solidFill>
                  <a:schemeClr val="dk1"/>
                </a:solidFill>
              </a:rPr>
              <a:t>when required by the manufacturer or operating conditions</a:t>
            </a:r>
            <a:r>
              <a:rPr lang="en-US">
                <a:solidFill>
                  <a:schemeClr val="dk1"/>
                </a:solidFill>
              </a:rPr>
              <a:t>. We don't necessarily want to recalibrate a compass before every flight unless the manufacturer calls for 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For a fixed-wing aircraft, I would also add an important functional check that isn't specifically shown here: </a:t>
            </a:r>
            <a:r>
              <a:rPr b="1" lang="en-US">
                <a:solidFill>
                  <a:schemeClr val="dk1"/>
                </a:solidFill>
              </a:rPr>
              <a:t>verify control direction</a:t>
            </a:r>
            <a:r>
              <a:rPr lang="en-US">
                <a:solidFill>
                  <a:schemeClr val="dk1"/>
                </a:solidFill>
              </a:rPr>
              <a:t>. Move the transmitter sticks and physically confirm that the ailerons, elevator, and rudder move in the correct direction.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 good habit is to use the checklist </a:t>
            </a:r>
            <a:r>
              <a:rPr b="1" lang="en-US">
                <a:solidFill>
                  <a:schemeClr val="dk1"/>
                </a:solidFill>
              </a:rPr>
              <a:t>every time—even when you've flown the aircraft hundreds of times</a:t>
            </a:r>
            <a:r>
              <a:rPr lang="en-US">
                <a:solidFill>
                  <a:schemeClr val="dk1"/>
                </a:solidFill>
              </a:rPr>
              <a:t>. Familiarity is exactly when it's easy to start skipping steps.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remote PIC ultimately makes the decision: </a:t>
            </a:r>
            <a:r>
              <a:rPr b="1" lang="en-US">
                <a:solidFill>
                  <a:schemeClr val="dk1"/>
                </a:solidFill>
              </a:rPr>
              <a:t>Is this aircraft—and the entire UAS—ready for safe flight?</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1f9699a76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e1f9699a7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Good communication is an important part of </a:t>
            </a:r>
            <a:r>
              <a:rPr b="1" lang="en-US">
                <a:solidFill>
                  <a:schemeClr val="dk1"/>
                </a:solidFill>
              </a:rPr>
              <a:t>crew resource management</a:t>
            </a:r>
            <a:r>
              <a:rPr lang="en-US">
                <a:solidFill>
                  <a:schemeClr val="dk1"/>
                </a:solidFill>
              </a:rPr>
              <a:t> during UAS operations. The remote PIC, visual observer, and any other crew members need to understand their responsibilities and communicate clearly throughout the flight.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One of the crew's most important responsibilities is maintaining </a:t>
            </a:r>
            <a:r>
              <a:rPr b="1" lang="en-US">
                <a:solidFill>
                  <a:schemeClr val="dk1"/>
                </a:solidFill>
              </a:rPr>
              <a:t>situational awareness</a:t>
            </a:r>
            <a:r>
              <a:rPr lang="en-US">
                <a:solidFill>
                  <a:schemeClr val="dk1"/>
                </a:solidFill>
              </a:rPr>
              <a:t>. We need to continuously scan the surrounding airspace for other aircraft, people, obstacles, or anything else that could create a collision hazard.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remote PIC must also be able to maintain the required </a:t>
            </a:r>
            <a:r>
              <a:rPr b="1" lang="en-US">
                <a:solidFill>
                  <a:schemeClr val="dk1"/>
                </a:solidFill>
              </a:rPr>
              <a:t>visual line of sight with the UAS</a:t>
            </a:r>
            <a:r>
              <a:rPr lang="en-US">
                <a:solidFill>
                  <a:schemeClr val="dk1"/>
                </a:solidFill>
              </a:rPr>
              <a:t>. A visual observer can assist the remote PIC by watching the aircraft and surrounding airspace, but the crew needs an effective way to communicate what the observer sees.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For example, simply saying </a:t>
            </a:r>
            <a:r>
              <a:rPr b="1" lang="en-US">
                <a:solidFill>
                  <a:schemeClr val="dk1"/>
                </a:solidFill>
              </a:rPr>
              <a:t>“airplane!”</a:t>
            </a:r>
            <a:r>
              <a:rPr lang="en-US">
                <a:solidFill>
                  <a:schemeClr val="dk1"/>
                </a:solidFill>
              </a:rPr>
              <a:t> isn't very helpful. We want to communicate where the traffic is located. We might say, </a:t>
            </a:r>
            <a:r>
              <a:rPr b="1" lang="en-US">
                <a:solidFill>
                  <a:schemeClr val="dk1"/>
                </a:solidFill>
              </a:rPr>
              <a:t>“Traffic, two o'clock, low, moving left to right.”</a:t>
            </a:r>
            <a:r>
              <a:rPr lang="en-US">
                <a:solidFill>
                  <a:schemeClr val="dk1"/>
                </a:solidFill>
              </a:rPr>
              <a:t> That immediately gives the remote PIC useful information.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crew should also agree on important terminology </a:t>
            </a:r>
            <a:r>
              <a:rPr b="1" lang="en-US">
                <a:solidFill>
                  <a:schemeClr val="dk1"/>
                </a:solidFill>
              </a:rPr>
              <a:t>before the flight</a:t>
            </a:r>
            <a:r>
              <a:rPr lang="en-US">
                <a:solidFill>
                  <a:schemeClr val="dk1"/>
                </a:solidFill>
              </a:rPr>
              <a:t>. Commands such as </a:t>
            </a:r>
            <a:r>
              <a:rPr i="1" lang="en-US">
                <a:solidFill>
                  <a:schemeClr val="dk1"/>
                </a:solidFill>
              </a:rPr>
              <a:t>abort, land, hold, traffic,</a:t>
            </a:r>
            <a:r>
              <a:rPr lang="en-US">
                <a:solidFill>
                  <a:schemeClr val="dk1"/>
                </a:solidFill>
              </a:rPr>
              <a:t> or </a:t>
            </a:r>
            <a:r>
              <a:rPr i="1" lang="en-US">
                <a:solidFill>
                  <a:schemeClr val="dk1"/>
                </a:solidFill>
              </a:rPr>
              <a:t>lost link</a:t>
            </a:r>
            <a:r>
              <a:rPr lang="en-US">
                <a:solidFill>
                  <a:schemeClr val="dk1"/>
                </a:solidFill>
              </a:rPr>
              <a:t> should have a clear meaning to everyone on the crew.</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If communication with </a:t>
            </a:r>
            <a:r>
              <a:rPr b="1" lang="en-US">
                <a:solidFill>
                  <a:schemeClr val="dk1"/>
                </a:solidFill>
              </a:rPr>
              <a:t>Air Traffic Control</a:t>
            </a:r>
            <a:r>
              <a:rPr lang="en-US">
                <a:solidFill>
                  <a:schemeClr val="dk1"/>
                </a:solidFill>
              </a:rPr>
              <a:t> is required for a particular operation, we should use standard aviation terminology and phraseology. Communications should be </a:t>
            </a:r>
            <a:r>
              <a:rPr b="1" lang="en-US">
                <a:solidFill>
                  <a:schemeClr val="dk1"/>
                </a:solidFill>
              </a:rPr>
              <a:t>brief, clear, and professional</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is where the </a:t>
            </a:r>
            <a:r>
              <a:rPr b="1" lang="en-US">
                <a:solidFill>
                  <a:schemeClr val="dk1"/>
                </a:solidFill>
              </a:rPr>
              <a:t>ICAO phonetic alphabet</a:t>
            </a:r>
            <a:r>
              <a:rPr lang="en-US">
                <a:solidFill>
                  <a:schemeClr val="dk1"/>
                </a:solidFill>
              </a:rPr>
              <a:t> becomes useful. Instead of saying individual letters that might sound alike over a radio—such as B, D, E, or P—we use words such as </a:t>
            </a:r>
            <a:r>
              <a:rPr b="1" lang="en-US">
                <a:solidFill>
                  <a:schemeClr val="dk1"/>
                </a:solidFill>
              </a:rPr>
              <a:t>Bravo, Delta, Echo, and Papa</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One small correction on the slide: the phonetic alphabet should read </a:t>
            </a:r>
            <a:r>
              <a:rPr b="1" lang="en-US">
                <a:solidFill>
                  <a:schemeClr val="dk1"/>
                </a:solidFill>
              </a:rPr>
              <a:t>I = India</a:t>
            </a:r>
            <a:r>
              <a:rPr lang="en-US">
                <a:solidFill>
                  <a:schemeClr val="dk1"/>
                </a:solidFill>
              </a:rPr>
              <a:t> and </a:t>
            </a:r>
            <a:r>
              <a:rPr b="1" lang="en-US">
                <a:solidFill>
                  <a:schemeClr val="dk1"/>
                </a:solidFill>
              </a:rPr>
              <a:t>J = Juliett</a:t>
            </a:r>
            <a:r>
              <a:rPr lang="en-US">
                <a:solidFill>
                  <a:schemeClr val="dk1"/>
                </a:solidFill>
              </a:rPr>
              <a:t>. </a:t>
            </a:r>
            <a:r>
              <a:rPr i="1" lang="en-US">
                <a:solidFill>
                  <a:schemeClr val="dk1"/>
                </a:solidFill>
              </a:rPr>
              <a:t>Juliett</a:t>
            </a:r>
            <a:r>
              <a:rPr lang="en-US">
                <a:solidFill>
                  <a:schemeClr val="dk1"/>
                </a:solidFill>
              </a:rPr>
              <a:t> is officially spelled with two T's in the ICAO alphabet.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main idea is that effective UAS communication isn't about talking more—it's about making sure </a:t>
            </a:r>
            <a:r>
              <a:rPr b="1" lang="en-US">
                <a:solidFill>
                  <a:schemeClr val="dk1"/>
                </a:solidFill>
              </a:rPr>
              <a:t>the right information gets to the right crew member quickly and unambiguously.</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When operating a UAS near an airport, we need to understand how </a:t>
            </a:r>
            <a:r>
              <a:rPr b="1" lang="en-US">
                <a:solidFill>
                  <a:schemeClr val="dk1"/>
                </a:solidFill>
              </a:rPr>
              <a:t>manned aircraft move through the airport traffic pattern</a:t>
            </a:r>
            <a:r>
              <a:rPr lang="en-US">
                <a:solidFill>
                  <a:schemeClr val="dk1"/>
                </a:solidFill>
              </a:rPr>
              <a:t>. This allows us to anticipate where aircraft are likely to be rather than waiting until we see one.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 standard traffic pattern consists of several legs: </a:t>
            </a:r>
            <a:r>
              <a:rPr b="1" lang="en-US">
                <a:solidFill>
                  <a:schemeClr val="dk1"/>
                </a:solidFill>
              </a:rPr>
              <a:t>departure or upwind, crosswind, downwind, base, and final</a:t>
            </a:r>
            <a:r>
              <a:rPr lang="en-US">
                <a:solidFill>
                  <a:schemeClr val="dk1"/>
                </a:solidFill>
              </a:rPr>
              <a:t>. Most standard traffic patterns use </a:t>
            </a:r>
            <a:r>
              <a:rPr b="1" lang="en-US">
                <a:solidFill>
                  <a:schemeClr val="dk1"/>
                </a:solidFill>
              </a:rPr>
              <a:t>left turns</a:t>
            </a:r>
            <a:r>
              <a:rPr lang="en-US">
                <a:solidFill>
                  <a:schemeClr val="dk1"/>
                </a:solidFill>
              </a:rPr>
              <a:t>, although some runways use right-hand patterns because of terrain, obstacles, noise considerations, or other operational requirements.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Pilots at non-towered airports often announce their position using the </a:t>
            </a:r>
            <a:r>
              <a:rPr b="1" lang="en-US">
                <a:solidFill>
                  <a:schemeClr val="dk1"/>
                </a:solidFill>
              </a:rPr>
              <a:t>runway number and traffic-pattern leg</a:t>
            </a:r>
            <a:r>
              <a:rPr lang="en-US">
                <a:solidFill>
                  <a:schemeClr val="dk1"/>
                </a:solidFill>
              </a:rPr>
              <a:t>. For example, you might hear: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“Entering left downwind Runway 18.”</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That tells us the aircraft is flying parallel to Runway 18, in the opposite direction from landing traffic, and is making a left-hand pattern.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If we hear: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“Turning left base Runway 36,”</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aircraft is getting closer to landing and will soon turn onto final approach.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And: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“Short final Runway 36”</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means the aircraft is </a:t>
            </a:r>
            <a:r>
              <a:rPr b="1" lang="en-US">
                <a:solidFill>
                  <a:schemeClr val="dk1"/>
                </a:solidFill>
              </a:rPr>
              <a:t>very close to the runway and about to land</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Departing aircraft may announce that they are </a:t>
            </a:r>
            <a:r>
              <a:rPr b="1" lang="en-US">
                <a:solidFill>
                  <a:schemeClr val="dk1"/>
                </a:solidFill>
              </a:rPr>
              <a:t>departing the area in a particular direction</a:t>
            </a:r>
            <a:r>
              <a:rPr lang="en-US">
                <a:solidFill>
                  <a:schemeClr val="dk1"/>
                </a:solidFill>
              </a:rPr>
              <a:t> or that they will </a:t>
            </a:r>
            <a:r>
              <a:rPr b="1" lang="en-US">
                <a:solidFill>
                  <a:schemeClr val="dk1"/>
                </a:solidFill>
              </a:rPr>
              <a:t>remain in the traffic pattern</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information becomes extremely important to us as UAS pilots. Imagine we're operating </a:t>
            </a:r>
            <a:r>
              <a:rPr b="1" lang="en-US">
                <a:solidFill>
                  <a:schemeClr val="dk1"/>
                </a:solidFill>
              </a:rPr>
              <a:t>one mile north of the airport</a:t>
            </a:r>
            <a:r>
              <a:rPr lang="en-US">
                <a:solidFill>
                  <a:schemeClr val="dk1"/>
                </a:solidFill>
              </a:rPr>
              <a:t>. We need to look at the runway orientation and traffic pattern and ask: </a:t>
            </a:r>
            <a:r>
              <a:rPr i="1" lang="en-US">
                <a:solidFill>
                  <a:schemeClr val="dk1"/>
                </a:solidFill>
              </a:rPr>
              <a:t>Where will arriving and departing aircraft be relative to our UAS?</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same applies if we're operating a quarter-mile east or two miles northwest. </a:t>
            </a:r>
            <a:r>
              <a:rPr b="1" lang="en-US">
                <a:solidFill>
                  <a:schemeClr val="dk1"/>
                </a:solidFill>
              </a:rPr>
              <a:t>Our distance from the airport alone doesn't tell us the risk.</a:t>
            </a:r>
            <a:r>
              <a:rPr lang="en-US">
                <a:solidFill>
                  <a:schemeClr val="dk1"/>
                </a:solidFill>
              </a:rPr>
              <a:t> We need to understand the runway being used, the traffic-pattern direction, and where aircraft are likely to be climbing, descending, or turning.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Also remember that not every aircraft will make a radio call, and not every aircraft has a radio. </a:t>
            </a:r>
            <a:r>
              <a:rPr b="1" lang="en-US">
                <a:solidFill>
                  <a:schemeClr val="dk1"/>
                </a:solidFill>
              </a:rPr>
              <a:t>Listening to the CTAF can improve situational awareness, but it does not replace visually scanning for traffic.</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For UAS operations, the objective isn't to participate in the airport traffic pattern. It's to </a:t>
            </a:r>
            <a:r>
              <a:rPr b="1" lang="en-US">
                <a:solidFill>
                  <a:schemeClr val="dk1"/>
                </a:solidFill>
              </a:rPr>
              <a:t>understand the pattern well enough to predict where crewed aircraft may appear and keep the UAS safely out of their way.</a:t>
            </a:r>
            <a:endParaRPr b="1">
              <a:solidFill>
                <a:schemeClr val="dk1"/>
              </a:solidFill>
            </a:endParaRPr>
          </a:p>
          <a:p>
            <a:pPr indent="0" lvl="0" marL="0" rtl="0" algn="l">
              <a:spcBef>
                <a:spcPts val="1200"/>
              </a:spcBef>
              <a:spcAft>
                <a:spcPts val="0"/>
              </a:spcAft>
              <a:buNone/>
            </a:pPr>
            <a:r>
              <a:t/>
            </a:r>
            <a:endParaRPr/>
          </a:p>
        </p:txBody>
      </p:sp>
      <p:sp>
        <p:nvSpPr>
          <p:cNvPr id="171" name="Google Shape;17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When operating a UAS near an airport, it is useful to understand the </a:t>
            </a:r>
            <a:r>
              <a:rPr b="1" lang="en-US">
                <a:solidFill>
                  <a:schemeClr val="dk1"/>
                </a:solidFill>
              </a:rPr>
              <a:t>radio frequencies used by crewed aircraft</a:t>
            </a:r>
            <a:r>
              <a:rPr lang="en-US">
                <a:solidFill>
                  <a:schemeClr val="dk1"/>
                </a:solidFill>
              </a:rPr>
              <a:t> and the types of position reports we may hear.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At a </a:t>
            </a:r>
            <a:r>
              <a:rPr b="1" lang="en-US">
                <a:solidFill>
                  <a:schemeClr val="dk1"/>
                </a:solidFill>
              </a:rPr>
              <a:t>non-towered airport</a:t>
            </a:r>
            <a:r>
              <a:rPr lang="en-US">
                <a:solidFill>
                  <a:schemeClr val="dk1"/>
                </a:solidFill>
              </a:rPr>
              <a:t>, pilots commonly communicate using the </a:t>
            </a:r>
            <a:r>
              <a:rPr b="1" lang="en-US">
                <a:solidFill>
                  <a:schemeClr val="dk1"/>
                </a:solidFill>
              </a:rPr>
              <a:t>Common Traffic Advisory Frequency, or CTAF</a:t>
            </a:r>
            <a:r>
              <a:rPr lang="en-US">
                <a:solidFill>
                  <a:schemeClr val="dk1"/>
                </a:solidFill>
              </a:rPr>
              <a:t>. Pilots use CTAF to announce their position and intentions so that other pilots in the area can build situational awareness.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Some airports also have a </a:t>
            </a:r>
            <a:r>
              <a:rPr b="1" lang="en-US">
                <a:solidFill>
                  <a:schemeClr val="dk1"/>
                </a:solidFill>
              </a:rPr>
              <a:t>UNICOM</a:t>
            </a:r>
            <a:r>
              <a:rPr lang="en-US">
                <a:solidFill>
                  <a:schemeClr val="dk1"/>
                </a:solidFill>
              </a:rPr>
              <a:t> frequency. UNICOM is a nongovernment communication service that may provide airport information, but at many non-towered airports the UNICOM frequency also serves as the CTAF.</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table shows some of the typical radio calls we might hear. An inbound aircraft may make a call approximately </a:t>
            </a:r>
            <a:r>
              <a:rPr b="1" lang="en-US">
                <a:solidFill>
                  <a:schemeClr val="dk1"/>
                </a:solidFill>
              </a:rPr>
              <a:t>10 miles from the airport</a:t>
            </a:r>
            <a:r>
              <a:rPr lang="en-US">
                <a:solidFill>
                  <a:schemeClr val="dk1"/>
                </a:solidFill>
              </a:rPr>
              <a:t> and then announce positions such as </a:t>
            </a:r>
            <a:r>
              <a:rPr b="1" lang="en-US">
                <a:solidFill>
                  <a:schemeClr val="dk1"/>
                </a:solidFill>
              </a:rPr>
              <a:t>downwind, base, and final</a:t>
            </a:r>
            <a:r>
              <a:rPr lang="en-US">
                <a:solidFill>
                  <a:schemeClr val="dk1"/>
                </a:solidFill>
              </a:rPr>
              <a:t>. A departing aircraft may announce before entering or taxiing onto the runway and again as it departs.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For us as UAS pilots, these calls provide valuable information. If we hear: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“Bozeman traffic, Cessna 1234 Alpha, ten miles west, inbound Runway 12…”</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 now know an aircraft is approaching the airport, where it is coming from, and where we should begin looking for 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However, an important distinction is that </a:t>
            </a:r>
            <a:r>
              <a:rPr b="1" lang="en-US">
                <a:solidFill>
                  <a:schemeClr val="dk1"/>
                </a:solidFill>
              </a:rPr>
              <a:t>Part 107 does not generally require a remote pilot to monitor CTAF or make radio calls simply because we're operating near a non-towered airport</a:t>
            </a:r>
            <a:r>
              <a:rPr lang="en-US">
                <a:solidFill>
                  <a:schemeClr val="dk1"/>
                </a:solidFill>
              </a:rPr>
              <a:t>. In fact, we don't want unnecessary transmissions interfering with normal aviation communications.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Instead, our goal is to understand these frequencies and calls so we can use them to </a:t>
            </a:r>
            <a:r>
              <a:rPr b="1" lang="en-US">
                <a:solidFill>
                  <a:schemeClr val="dk1"/>
                </a:solidFill>
              </a:rPr>
              <a:t>improve situational awareness when appropriate</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And remember: </a:t>
            </a:r>
            <a:r>
              <a:rPr b="1" lang="en-US">
                <a:solidFill>
                  <a:schemeClr val="dk1"/>
                </a:solidFill>
              </a:rPr>
              <a:t>never rely solely on the radio for traffic avoidance.</a:t>
            </a:r>
            <a:r>
              <a:rPr lang="en-US">
                <a:solidFill>
                  <a:schemeClr val="dk1"/>
                </a:solidFill>
              </a:rPr>
              <a:t> Some aircraft may not have a radio, may be using a different frequency, or may simply not make a call. Our primary responsibility remains maintaining awareness of the surrounding airspace and </a:t>
            </a:r>
            <a:r>
              <a:rPr b="1" lang="en-US">
                <a:solidFill>
                  <a:schemeClr val="dk1"/>
                </a:solidFill>
              </a:rPr>
              <a:t>yielding the right of way to all other aircraft.</a:t>
            </a:r>
            <a:endParaRPr b="1">
              <a:solidFill>
                <a:schemeClr val="dk1"/>
              </a:solidFill>
            </a:endParaRPr>
          </a:p>
          <a:p>
            <a:pPr indent="0" lvl="0" marL="0" rtl="0" algn="l">
              <a:spcBef>
                <a:spcPts val="1200"/>
              </a:spcBef>
              <a:spcAft>
                <a:spcPts val="0"/>
              </a:spcAft>
              <a:buNone/>
            </a:pPr>
            <a:r>
              <a:t/>
            </a:r>
            <a:endParaRPr/>
          </a:p>
        </p:txBody>
      </p:sp>
      <p:sp>
        <p:nvSpPr>
          <p:cNvPr id="178" name="Google Shape;17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Aviation radio communication is designed to be </a:t>
            </a:r>
            <a:r>
              <a:rPr b="1" lang="en-US">
                <a:solidFill>
                  <a:schemeClr val="dk1"/>
                </a:solidFill>
              </a:rPr>
              <a:t>short, standardized, and unambiguous</a:t>
            </a:r>
            <a:r>
              <a:rPr lang="en-US">
                <a:solidFill>
                  <a:schemeClr val="dk1"/>
                </a:solidFill>
              </a:rPr>
              <a:t>. We want everyone listening to understand exactly what is being communicated without unnecessary conversation.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Aircraft </a:t>
            </a:r>
            <a:r>
              <a:rPr b="1" lang="en-US">
                <a:solidFill>
                  <a:schemeClr val="dk1"/>
                </a:solidFill>
              </a:rPr>
              <a:t>call signs</a:t>
            </a:r>
            <a:r>
              <a:rPr lang="en-US">
                <a:solidFill>
                  <a:schemeClr val="dk1"/>
                </a:solidFill>
              </a:rPr>
              <a:t> are used to identify who is transmitting. When making initial contact, the complete call sign is normally used. Letters are pronounced using the </a:t>
            </a:r>
            <a:r>
              <a:rPr b="1" lang="en-US">
                <a:solidFill>
                  <a:schemeClr val="dk1"/>
                </a:solidFill>
              </a:rPr>
              <a:t>phonetic alphabet</a:t>
            </a:r>
            <a:r>
              <a:rPr lang="en-US">
                <a:solidFill>
                  <a:schemeClr val="dk1"/>
                </a:solidFill>
              </a:rPr>
              <a:t> to reduce confusion between similar-sounding letters.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Numbers are generally pronounced </a:t>
            </a:r>
            <a:r>
              <a:rPr b="1" lang="en-US">
                <a:solidFill>
                  <a:schemeClr val="dk1"/>
                </a:solidFill>
              </a:rPr>
              <a:t>one digit at a time</a:t>
            </a:r>
            <a:r>
              <a:rPr lang="en-US">
                <a:solidFill>
                  <a:schemeClr val="dk1"/>
                </a:solidFill>
              </a:rPr>
              <a:t>. For example, an aircraft with the call sign </a:t>
            </a:r>
            <a:r>
              <a:rPr b="1" lang="en-US">
                <a:solidFill>
                  <a:schemeClr val="dk1"/>
                </a:solidFill>
              </a:rPr>
              <a:t>N123AB</a:t>
            </a:r>
            <a:r>
              <a:rPr lang="en-US">
                <a:solidFill>
                  <a:schemeClr val="dk1"/>
                </a:solidFill>
              </a:rPr>
              <a:t> would be spoken as </a:t>
            </a:r>
            <a:r>
              <a:rPr b="1" lang="en-US">
                <a:solidFill>
                  <a:schemeClr val="dk1"/>
                </a:solidFill>
              </a:rPr>
              <a:t>“November One Two Three Alpha Bravo.”</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There are also several standard words and phrases that have very specific meanings in aviation.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“Affirmative”</a:t>
            </a:r>
            <a:r>
              <a:rPr lang="en-US">
                <a:solidFill>
                  <a:schemeClr val="dk1"/>
                </a:solidFill>
              </a:rPr>
              <a:t> means yes, while </a:t>
            </a:r>
            <a:r>
              <a:rPr b="1" lang="en-US">
                <a:solidFill>
                  <a:schemeClr val="dk1"/>
                </a:solidFill>
              </a:rPr>
              <a:t>“Negative”</a:t>
            </a:r>
            <a:r>
              <a:rPr lang="en-US">
                <a:solidFill>
                  <a:schemeClr val="dk1"/>
                </a:solidFill>
              </a:rPr>
              <a:t> means no.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“Roger”</a:t>
            </a:r>
            <a:r>
              <a:rPr lang="en-US">
                <a:solidFill>
                  <a:schemeClr val="dk1"/>
                </a:solidFill>
              </a:rPr>
              <a:t> means </a:t>
            </a:r>
            <a:r>
              <a:rPr i="1" lang="en-US">
                <a:solidFill>
                  <a:schemeClr val="dk1"/>
                </a:solidFill>
              </a:rPr>
              <a:t>I have received your transmission</a:t>
            </a:r>
            <a:r>
              <a:rPr lang="en-US">
                <a:solidFill>
                  <a:schemeClr val="dk1"/>
                </a:solidFill>
              </a:rPr>
              <a:t>. It does </a:t>
            </a:r>
            <a:r>
              <a:rPr b="1" lang="en-US">
                <a:solidFill>
                  <a:schemeClr val="dk1"/>
                </a:solidFill>
              </a:rPr>
              <a:t>not</a:t>
            </a:r>
            <a:r>
              <a:rPr lang="en-US">
                <a:solidFill>
                  <a:schemeClr val="dk1"/>
                </a:solidFill>
              </a:rPr>
              <a:t> mean yes, and it does not necessarily mean that you will comply with an instruction.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“Wilco”</a:t>
            </a:r>
            <a:r>
              <a:rPr lang="en-US">
                <a:solidFill>
                  <a:schemeClr val="dk1"/>
                </a:solidFill>
              </a:rPr>
              <a:t> means </a:t>
            </a:r>
            <a:r>
              <a:rPr i="1" lang="en-US">
                <a:solidFill>
                  <a:schemeClr val="dk1"/>
                </a:solidFill>
              </a:rPr>
              <a:t>I understand your message and will comply with it.</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“Say again”</a:t>
            </a:r>
            <a:r>
              <a:rPr lang="en-US">
                <a:solidFill>
                  <a:schemeClr val="dk1"/>
                </a:solidFill>
              </a:rPr>
              <a:t> means </a:t>
            </a:r>
            <a:r>
              <a:rPr i="1" lang="en-US">
                <a:solidFill>
                  <a:schemeClr val="dk1"/>
                </a:solidFill>
              </a:rPr>
              <a:t>repeat your last transmission</a:t>
            </a:r>
            <a:r>
              <a:rPr lang="en-US">
                <a:solidFill>
                  <a:schemeClr val="dk1"/>
                </a:solidFill>
              </a:rPr>
              <a:t>. We generally avoid using the word </a:t>
            </a:r>
            <a:r>
              <a:rPr b="1" lang="en-US">
                <a:solidFill>
                  <a:schemeClr val="dk1"/>
                </a:solidFill>
              </a:rPr>
              <a:t>“repeat”</a:t>
            </a:r>
            <a:r>
              <a:rPr lang="en-US">
                <a:solidFill>
                  <a:schemeClr val="dk1"/>
                </a:solidFill>
              </a:rPr>
              <a:t> in aviation communications.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“Stand by”</a:t>
            </a:r>
            <a:r>
              <a:rPr lang="en-US">
                <a:solidFill>
                  <a:schemeClr val="dk1"/>
                </a:solidFill>
              </a:rPr>
              <a:t> means </a:t>
            </a:r>
            <a:r>
              <a:rPr i="1" lang="en-US">
                <a:solidFill>
                  <a:schemeClr val="dk1"/>
                </a:solidFill>
              </a:rPr>
              <a:t>wait; I will get back to you.</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“Unable”</a:t>
            </a:r>
            <a:r>
              <a:rPr lang="en-US">
                <a:solidFill>
                  <a:schemeClr val="dk1"/>
                </a:solidFill>
              </a:rPr>
              <a:t> means that the pilot cannot comply with a particular instruction or request.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“Verify”</a:t>
            </a:r>
            <a:r>
              <a:rPr lang="en-US">
                <a:solidFill>
                  <a:schemeClr val="dk1"/>
                </a:solidFill>
              </a:rPr>
              <a:t> asks someone to confirm information, while </a:t>
            </a:r>
            <a:r>
              <a:rPr b="1" lang="en-US">
                <a:solidFill>
                  <a:schemeClr val="dk1"/>
                </a:solidFill>
              </a:rPr>
              <a:t>“read back”</a:t>
            </a:r>
            <a:r>
              <a:rPr lang="en-US">
                <a:solidFill>
                  <a:schemeClr val="dk1"/>
                </a:solidFill>
              </a:rPr>
              <a:t> asks the pilot to repeat an instruction to ensure that it was understood correctly.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As UAS pilots, we may not routinely communicate directly with ATC, but we should still understand this terminology. If we're monitoring aviation frequencies near an airport, understanding these phrases helps us interpret </a:t>
            </a:r>
            <a:r>
              <a:rPr b="1" lang="en-US">
                <a:solidFill>
                  <a:schemeClr val="dk1"/>
                </a:solidFill>
              </a:rPr>
              <a:t>what crewed aircraft and controllers are doing and what may happen next</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goal isn't to sound like an airline pilot. The goal is to communicate and understand information </a:t>
            </a:r>
            <a:r>
              <a:rPr b="1" lang="en-US">
                <a:solidFill>
                  <a:schemeClr val="dk1"/>
                </a:solidFill>
              </a:rPr>
              <a:t>clearly, briefly, and accurately.</a:t>
            </a:r>
            <a:endParaRPr b="1">
              <a:solidFill>
                <a:schemeClr val="dk1"/>
              </a:solidFill>
            </a:endParaRPr>
          </a:p>
          <a:p>
            <a:pPr indent="0" lvl="0" marL="0" rtl="0" algn="l">
              <a:spcBef>
                <a:spcPts val="1200"/>
              </a:spcBef>
              <a:spcAft>
                <a:spcPts val="0"/>
              </a:spcAft>
              <a:buNone/>
            </a:pPr>
            <a:r>
              <a:t/>
            </a:r>
            <a:endParaRPr/>
          </a:p>
        </p:txBody>
      </p:sp>
      <p:sp>
        <p:nvSpPr>
          <p:cNvPr id="185" name="Google Shape;18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term </a:t>
            </a:r>
            <a:r>
              <a:rPr b="1" lang="en-US">
                <a:solidFill>
                  <a:schemeClr val="dk1"/>
                </a:solidFill>
              </a:rPr>
              <a:t>initial radio contact</a:t>
            </a:r>
            <a:r>
              <a:rPr lang="en-US">
                <a:solidFill>
                  <a:schemeClr val="dk1"/>
                </a:solidFill>
              </a:rPr>
              <a:t>, or </a:t>
            </a:r>
            <a:r>
              <a:rPr b="1" lang="en-US">
                <a:solidFill>
                  <a:schemeClr val="dk1"/>
                </a:solidFill>
              </a:rPr>
              <a:t>initial callup</a:t>
            </a:r>
            <a:r>
              <a:rPr lang="en-US">
                <a:solidFill>
                  <a:schemeClr val="dk1"/>
                </a:solidFill>
              </a:rPr>
              <a:t>, refers to the first radio transmission you make to a particular ATC facility. It can also refer to your first transmission after being handed off to a </a:t>
            </a:r>
            <a:r>
              <a:rPr b="1" lang="en-US">
                <a:solidFill>
                  <a:schemeClr val="dk1"/>
                </a:solidFill>
              </a:rPr>
              <a:t>different controller or Flight Service specialist</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There is a basic order we follow when making that first call.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First, state the </a:t>
            </a:r>
            <a:r>
              <a:rPr b="1" lang="en-US">
                <a:solidFill>
                  <a:schemeClr val="dk1"/>
                </a:solidFill>
              </a:rPr>
              <a:t>name of the facility you are calling</a:t>
            </a:r>
            <a:r>
              <a:rPr lang="en-US">
                <a:solidFill>
                  <a:schemeClr val="dk1"/>
                </a:solidFill>
              </a:rPr>
              <a:t>. This gets the controller's attention and confirms that you're transmitting on the correct frequency.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Next, give your </a:t>
            </a:r>
            <a:r>
              <a:rPr b="1" lang="en-US">
                <a:solidFill>
                  <a:schemeClr val="dk1"/>
                </a:solidFill>
              </a:rPr>
              <a:t>full aircraft identification or call sign</a:t>
            </a:r>
            <a:r>
              <a:rPr lang="en-US">
                <a:solidFill>
                  <a:schemeClr val="dk1"/>
                </a:solidFill>
              </a:rPr>
              <a:t>. On the initial call, we normally use the complete call sign rather than shortening 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Then, briefly tell the controller </a:t>
            </a:r>
            <a:r>
              <a:rPr b="1" lang="en-US">
                <a:solidFill>
                  <a:schemeClr val="dk1"/>
                </a:solidFill>
              </a:rPr>
              <a:t>what you want or the type of request you're making</a:t>
            </a:r>
            <a:r>
              <a:rPr lang="en-US">
                <a:solidFill>
                  <a:schemeClr val="dk1"/>
                </a:solidFill>
              </a:rPr>
              <a:t>. Keep the initial transmission concise. The controller can ask for additional information if needed.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For example:</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b="1" lang="en-US">
                <a:solidFill>
                  <a:schemeClr val="dk1"/>
                </a:solidFill>
              </a:rPr>
              <a:t>“Bozeman Tower, UAS November One Two Three Alpha Bravo, request.”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Or, when appropriate, the request can be included:</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b="1" lang="en-US">
                <a:solidFill>
                  <a:schemeClr val="dk1"/>
                </a:solidFill>
              </a:rPr>
              <a:t>“Bozeman Tower, November One Two Three Alpha Bravo, request transition through Class Delta airspace.”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word </a:t>
            </a:r>
            <a:r>
              <a:rPr b="1" lang="en-US">
                <a:solidFill>
                  <a:schemeClr val="dk1"/>
                </a:solidFill>
              </a:rPr>
              <a:t>“over”</a:t>
            </a:r>
            <a:r>
              <a:rPr lang="en-US">
                <a:solidFill>
                  <a:schemeClr val="dk1"/>
                </a:solidFill>
              </a:rPr>
              <a:t> traditionally indicates that you've finished transmitting and expect a response. In normal VHF aviation communications, however, </a:t>
            </a:r>
            <a:r>
              <a:rPr b="1" lang="en-US">
                <a:solidFill>
                  <a:schemeClr val="dk1"/>
                </a:solidFill>
              </a:rPr>
              <a:t>“over” is generally unnecessary and is rarely used today</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 simple way to remember the initial call is: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WHO you're calling → WHO you are → WHAT you want.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One correction to the original wording: it should be </a:t>
            </a:r>
            <a:r>
              <a:rPr b="1" lang="en-US">
                <a:solidFill>
                  <a:schemeClr val="dk1"/>
                </a:solidFill>
              </a:rPr>
              <a:t>“facility,” not “faculty.”</a:t>
            </a:r>
            <a:endParaRPr b="1">
              <a:solidFill>
                <a:schemeClr val="dk1"/>
              </a:solidFill>
            </a:endParaRPr>
          </a:p>
          <a:p>
            <a:pPr indent="0" lvl="0" marL="0" rtl="0" algn="l">
              <a:spcBef>
                <a:spcPts val="1200"/>
              </a:spcBef>
              <a:spcAft>
                <a:spcPts val="0"/>
              </a:spcAft>
              <a:buNone/>
            </a:pPr>
            <a:r>
              <a:t/>
            </a:r>
            <a:endParaRPr/>
          </a:p>
        </p:txBody>
      </p:sp>
      <p:sp>
        <p:nvSpPr>
          <p:cNvPr id="192" name="Google Shape;19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example shows a typical conversation between a </a:t>
            </a:r>
            <a:r>
              <a:rPr b="1" lang="en-US">
                <a:solidFill>
                  <a:schemeClr val="dk1"/>
                </a:solidFill>
              </a:rPr>
              <a:t>VFR aircraft and Bozeman Approach</a:t>
            </a:r>
            <a:r>
              <a:rPr lang="en-US">
                <a:solidFill>
                  <a:schemeClr val="dk1"/>
                </a:solidFill>
              </a:rPr>
              <a:t>. At first, aviation radio communication can sound extremely fast and complicated, so let's break it down one transmission at a time.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pilot begins with: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“Bozeman Approach, Skyhawk Niner Two Lima Charlie.”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is the initial call. Remember our format: </a:t>
            </a:r>
            <a:r>
              <a:rPr b="1" lang="en-US">
                <a:solidFill>
                  <a:schemeClr val="dk1"/>
                </a:solidFill>
              </a:rPr>
              <a:t>who I'm calling, who I am</a:t>
            </a:r>
            <a:r>
              <a:rPr lang="en-US">
                <a:solidFill>
                  <a:schemeClr val="dk1"/>
                </a:solidFill>
              </a:rPr>
              <a:t>. The pilot is essentially saying, </a:t>
            </a:r>
            <a:r>
              <a:rPr i="1" lang="en-US">
                <a:solidFill>
                  <a:schemeClr val="dk1"/>
                </a:solidFill>
              </a:rPr>
              <a:t>“Bozeman Approach, this is Skyhawk 92LC.”</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ATC responds: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“Skyhawk Niner Two Lima Charlie, say request.”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controller has acknowledged the aircraft and is asking, </a:t>
            </a:r>
            <a:r>
              <a:rPr i="1" lang="en-US">
                <a:solidFill>
                  <a:schemeClr val="dk1"/>
                </a:solidFill>
              </a:rPr>
              <a:t>“What would you like?”</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pilot requests </a:t>
            </a:r>
            <a:r>
              <a:rPr b="1" lang="en-US">
                <a:solidFill>
                  <a:schemeClr val="dk1"/>
                </a:solidFill>
              </a:rPr>
              <a:t>VFR flight following to Sierra Delta Yankee, Sidney-Richland</a:t>
            </a:r>
            <a:r>
              <a:rPr lang="en-US">
                <a:solidFill>
                  <a:schemeClr val="dk1"/>
                </a:solidFill>
              </a:rPr>
              <a:t>, and reports the aircraft's current altitude and intended altitude. Flight following means the pilot is flying under </a:t>
            </a:r>
            <a:r>
              <a:rPr b="1" lang="en-US">
                <a:solidFill>
                  <a:schemeClr val="dk1"/>
                </a:solidFill>
              </a:rPr>
              <a:t>Visual Flight Rules</a:t>
            </a:r>
            <a:r>
              <a:rPr lang="en-US">
                <a:solidFill>
                  <a:schemeClr val="dk1"/>
                </a:solidFill>
              </a:rPr>
              <a:t>, but ATC will provide radar traffic advisories and other assistance as workload permits.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pilot says they are </a:t>
            </a:r>
            <a:r>
              <a:rPr b="1" lang="en-US">
                <a:solidFill>
                  <a:schemeClr val="dk1"/>
                </a:solidFill>
              </a:rPr>
              <a:t>“currently six thousand three hundred, climbing seven thousand five hundred.”</a:t>
            </a:r>
            <a:r>
              <a:rPr lang="en-US">
                <a:solidFill>
                  <a:schemeClr val="dk1"/>
                </a:solidFill>
              </a:rPr>
              <a:t> That means the aircraft is presently at 6,300 feet MSL and intends to climb to 7,500 feet MSL.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ATC then says: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“Squawk 3461 and ident.”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controller wants the pilot to enter </a:t>
            </a:r>
            <a:r>
              <a:rPr b="1" lang="en-US">
                <a:solidFill>
                  <a:schemeClr val="dk1"/>
                </a:solidFill>
              </a:rPr>
              <a:t>3461 into the aircraft's transponder</a:t>
            </a:r>
            <a:r>
              <a:rPr lang="en-US">
                <a:solidFill>
                  <a:schemeClr val="dk1"/>
                </a:solidFill>
              </a:rPr>
              <a:t>. “Ident” means press the IDENT button, which temporarily highlights that aircraft's radar return so the controller can positively identify 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pilot reads back: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“3461, Niner Two Lima Charlie.”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confirms that the pilot received the correct transponder code.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Next, ATC reports: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“Radar contact, five miles southeast of Bozeman Field.”</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controller has now positively identified the aircraft on radar and is confirming its position.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ATC then tells the pilot to </a:t>
            </a:r>
            <a:r>
              <a:rPr b="1" lang="en-US">
                <a:solidFill>
                  <a:schemeClr val="dk1"/>
                </a:solidFill>
              </a:rPr>
              <a:t>climb and maintain 7,500 feet and maintain VFR</a:t>
            </a:r>
            <a:r>
              <a:rPr lang="en-US">
                <a:solidFill>
                  <a:schemeClr val="dk1"/>
                </a:solidFill>
              </a:rPr>
              <a:t>. “Maintain VFR” means the pilot remains responsible for complying with Visual Flight Rules, including maintaining appropriate visibility and cloud clearance.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Finally, ATC gives the </a:t>
            </a:r>
            <a:r>
              <a:rPr b="1" lang="en-US">
                <a:solidFill>
                  <a:schemeClr val="dk1"/>
                </a:solidFill>
              </a:rPr>
              <a:t>Bozeman altimeter setting of 29.09 inches of mercury</a:t>
            </a:r>
            <a:r>
              <a:rPr lang="en-US">
                <a:solidFill>
                  <a:schemeClr val="dk1"/>
                </a:solidFill>
              </a:rPr>
              <a:t>. The pilot uses this setting to correctly calibrate the aircraft's barometric altimeter for the current atmospheric pressure.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pilot reads back the important information—</a:t>
            </a:r>
            <a:r>
              <a:rPr b="1" lang="en-US">
                <a:solidFill>
                  <a:schemeClr val="dk1"/>
                </a:solidFill>
              </a:rPr>
              <a:t>the altitude assignment and altimeter setting</a:t>
            </a:r>
            <a:r>
              <a:rPr lang="en-US">
                <a:solidFill>
                  <a:schemeClr val="dk1"/>
                </a:solidFill>
              </a:rPr>
              <a:t>—and finishes with the aircraft call sign.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For UAS pilots, you may not routinely have this type of conversation with ATC, but understanding it helps you make sense of what you're hearing when monitoring aviation traffic near an airport.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important lesson is that ATC communication follows a predictable pattern. Once you learn the vocabulary, what initially sounds like a stream of numbers and strange words starts to become very logical: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Who are you? → What do you want? → Identify yourself → Receive instructions → Read back important information.</a:t>
            </a:r>
            <a:endParaRPr b="1">
              <a:solidFill>
                <a:schemeClr val="dk1"/>
              </a:solidFill>
            </a:endParaRPr>
          </a:p>
          <a:p>
            <a:pPr indent="0" lvl="0" marL="0" rtl="0" algn="l">
              <a:spcBef>
                <a:spcPts val="1200"/>
              </a:spcBef>
              <a:spcAft>
                <a:spcPts val="0"/>
              </a:spcAft>
              <a:buNone/>
            </a:pPr>
            <a:r>
              <a:t/>
            </a:r>
            <a:endParaRPr/>
          </a:p>
        </p:txBody>
      </p:sp>
      <p:sp>
        <p:nvSpPr>
          <p:cNvPr id="198" name="Google Shape;19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UAS depend on </a:t>
            </a:r>
            <a:r>
              <a:rPr b="1" lang="en-US">
                <a:solidFill>
                  <a:schemeClr val="dk1"/>
                </a:solidFill>
              </a:rPr>
              <a:t>radio-frequency links</a:t>
            </a:r>
            <a:r>
              <a:rPr lang="en-US">
                <a:solidFill>
                  <a:schemeClr val="dk1"/>
                </a:solidFill>
              </a:rPr>
              <a:t> for command and control, telemetry, and often the transmission of video or other data. In the United States, use of the radio-frequency spectrum is regulated by the </a:t>
            </a:r>
            <a:r>
              <a:rPr b="1" lang="en-US">
                <a:solidFill>
                  <a:schemeClr val="dk1"/>
                </a:solidFill>
              </a:rPr>
              <a:t>Federal Communications Commission, or FCC</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Two frequency bands commonly used by consumer and commercial UAS are </a:t>
            </a:r>
            <a:r>
              <a:rPr b="1" lang="en-US">
                <a:solidFill>
                  <a:schemeClr val="dk1"/>
                </a:solidFill>
              </a:rPr>
              <a:t>2.4 GHz and 5.8 GHz</a:t>
            </a:r>
            <a:r>
              <a:rPr lang="en-US">
                <a:solidFill>
                  <a:schemeClr val="dk1"/>
                </a:solidFill>
              </a:rPr>
              <a:t>. These are unlicensed spectrum bands also used by many other devices, including Wi-Fi networks, so interference can be an important consideration.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One correction to the slide is important: </a:t>
            </a:r>
            <a:r>
              <a:rPr b="1" lang="en-US">
                <a:solidFill>
                  <a:schemeClr val="dk1"/>
                </a:solidFill>
              </a:rPr>
              <a:t>we should not teach that 5.8 GHz is always used for control and 2.4 GHz is always used for video.</a:t>
            </a:r>
            <a:r>
              <a:rPr lang="en-US">
                <a:solidFill>
                  <a:schemeClr val="dk1"/>
                </a:solidFill>
              </a:rPr>
              <a:t> That was more common with some older systems, but modern UAS may use </a:t>
            </a:r>
            <a:r>
              <a:rPr b="1" lang="en-US">
                <a:solidFill>
                  <a:schemeClr val="dk1"/>
                </a:solidFill>
              </a:rPr>
              <a:t>either band—or automatically switch between them—for command, telemetry, and video transmission</a:t>
            </a:r>
            <a:r>
              <a:rPr lang="en-US">
                <a:solidFill>
                  <a:schemeClr val="dk1"/>
                </a:solidFill>
              </a:rPr>
              <a:t>. The exact implementation depends on the manufacturer and system.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Interference can become more significant in areas with large numbers of Wi-Fi networks and other radio devices. This can result in </a:t>
            </a:r>
            <a:r>
              <a:rPr b="1" lang="en-US">
                <a:solidFill>
                  <a:schemeClr val="dk1"/>
                </a:solidFill>
              </a:rPr>
              <a:t>reduced range, degraded video, increased latency, or loss of the command-and-control link</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However, interference should not automatically result in a flyaway. A properly configured UAS should have a predetermined </a:t>
            </a:r>
            <a:r>
              <a:rPr b="1" lang="en-US">
                <a:solidFill>
                  <a:schemeClr val="dk1"/>
                </a:solidFill>
              </a:rPr>
              <a:t>lost-link procedure</a:t>
            </a:r>
            <a:r>
              <a:rPr lang="en-US">
                <a:solidFill>
                  <a:schemeClr val="dk1"/>
                </a:solidFill>
              </a:rPr>
              <a:t>, such as returning home, holding position, or landing. That's why we need to understand and configure lost-link behavior </a:t>
            </a:r>
            <a:r>
              <a:rPr b="1" lang="en-US">
                <a:solidFill>
                  <a:schemeClr val="dk1"/>
                </a:solidFill>
              </a:rPr>
              <a:t>before the flight</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Radio propagation is also affected by obstacles. Buildings, terrain, trees, vehicles, and even the orientation of our antennas can reduce signal quality. Generally, higher-frequency signals such as 5.8 GHz are particularly dependent on maintaining a good line-of-sight radio path.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If we're designing our own UAS or using specialized transmitters rather than manufacturer-approved equipment, we also need to determine whether the equipment and frequencies comply with </a:t>
            </a:r>
            <a:r>
              <a:rPr b="1" lang="en-US">
                <a:solidFill>
                  <a:schemeClr val="dk1"/>
                </a:solidFill>
              </a:rPr>
              <a:t>FCC rules and whether a license is required</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For current FCC information, use the FCC Wireless Telecommunications Bureau.</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operational takeaway is: </a:t>
            </a:r>
            <a:r>
              <a:rPr b="1" lang="en-US">
                <a:solidFill>
                  <a:schemeClr val="dk1"/>
                </a:solidFill>
              </a:rPr>
              <a:t>know what frequencies your UAS uses, understand the potential sources of interference, and know exactly what your aircraft will do if the radio link is lost.</a:t>
            </a:r>
            <a:endParaRPr b="1">
              <a:solidFill>
                <a:schemeClr val="dk1"/>
              </a:solidFill>
            </a:endParaRPr>
          </a:p>
          <a:p>
            <a:pPr indent="0" lvl="0" marL="0" rtl="0" algn="l">
              <a:spcBef>
                <a:spcPts val="1200"/>
              </a:spcBef>
              <a:spcAft>
                <a:spcPts val="0"/>
              </a:spcAft>
              <a:buNone/>
            </a:pPr>
            <a:r>
              <a:t/>
            </a:r>
            <a:endParaRPr/>
          </a:p>
        </p:txBody>
      </p:sp>
      <p:sp>
        <p:nvSpPr>
          <p:cNvPr id="204" name="Google Shape;20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As the remote PIC, we need to think about abnormal and emergency situations </a:t>
            </a:r>
            <a:r>
              <a:rPr b="1" lang="en-US">
                <a:solidFill>
                  <a:schemeClr val="dk1"/>
                </a:solidFill>
              </a:rPr>
              <a:t>before they occur</a:t>
            </a:r>
            <a:r>
              <a:rPr lang="en-US">
                <a:solidFill>
                  <a:schemeClr val="dk1"/>
                </a:solidFill>
              </a:rPr>
              <a:t>. The goal is to have a predetermined response rather than trying to develop one while the aircraft is already in trouble.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Lost link</a:t>
            </a:r>
            <a:r>
              <a:rPr lang="en-US">
                <a:solidFill>
                  <a:schemeClr val="dk1"/>
                </a:solidFill>
              </a:rPr>
              <a:t> means we've lost the command-and-control communication link between the control station and the aircraft. Before flight, we need to know exactly what the UAS is programmed to do if this happens. Depending on the system, it may </a:t>
            </a:r>
            <a:r>
              <a:rPr b="1" lang="en-US">
                <a:solidFill>
                  <a:schemeClr val="dk1"/>
                </a:solidFill>
              </a:rPr>
              <a:t>return to home, loiter, continue a programmed route, or land</a:t>
            </a:r>
            <a:r>
              <a:rPr lang="en-US">
                <a:solidFill>
                  <a:schemeClr val="dk1"/>
                </a:solidFill>
              </a:rPr>
              <a:t>. If the event could create a hazard to other aircraft or affect controlled airspace, appropriate ATC notification may be necessary.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Flight termination</a:t>
            </a:r>
            <a:r>
              <a:rPr lang="en-US">
                <a:solidFill>
                  <a:schemeClr val="dk1"/>
                </a:solidFill>
              </a:rPr>
              <a:t> means intentionally ending a flight when continuing would create a greater hazard. Depending on the aircraft, that might mean commanding an immediate landing or activating a dedicated flight-termination system. The important idea is that sometimes </a:t>
            </a:r>
            <a:r>
              <a:rPr b="1" lang="en-US">
                <a:solidFill>
                  <a:schemeClr val="dk1"/>
                </a:solidFill>
              </a:rPr>
              <a:t>sacrificing the aircraft is preferable to allowing it to endanger people or other aircraft</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 </a:t>
            </a:r>
            <a:r>
              <a:rPr b="1" lang="en-US">
                <a:solidFill>
                  <a:schemeClr val="dk1"/>
                </a:solidFill>
              </a:rPr>
              <a:t>flyaway</a:t>
            </a:r>
            <a:r>
              <a:rPr lang="en-US">
                <a:solidFill>
                  <a:schemeClr val="dk1"/>
                </a:solidFill>
              </a:rPr>
              <a:t> occurs when we lose the ability to control the aircraft and it continues flying in an unintended manner. Lost link can contribute to a flyaway, but other causes can include navigation failures, incorrect programming, sensor problems, or system malfunctions. If a flyaway could enter controlled airspace or create a hazard to other aircraft, </a:t>
            </a:r>
            <a:r>
              <a:rPr b="1" lang="en-US">
                <a:solidFill>
                  <a:schemeClr val="dk1"/>
                </a:solidFill>
              </a:rPr>
              <a:t>ATC should be notified as quickly as practical</a:t>
            </a:r>
            <a:r>
              <a:rPr lang="en-US">
                <a:solidFill>
                  <a:schemeClr val="dk1"/>
                </a:solidFill>
              </a:rPr>
              <a:t> with whatever information we have about the UAS's location, altitude, direction of flight, and remaining endurance.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Loss of GPS/GNSS</a:t>
            </a:r>
            <a:r>
              <a:rPr lang="en-US">
                <a:solidFill>
                  <a:schemeClr val="dk1"/>
                </a:solidFill>
              </a:rPr>
              <a:t> is another situation we should plan for. GPS failure does not necessarily mean that we've lost control of the aircraft. Many UAS can still be manually controlled without GPS, although functions such as </a:t>
            </a:r>
            <a:r>
              <a:rPr b="1" lang="en-US">
                <a:solidFill>
                  <a:schemeClr val="dk1"/>
                </a:solidFill>
              </a:rPr>
              <a:t>position hold, autonomous navigation, and return-to-home may be degraded or unavailable</a:t>
            </a:r>
            <a:r>
              <a:rPr lang="en-US">
                <a:solidFill>
                  <a:schemeClr val="dk1"/>
                </a:solidFill>
              </a:rPr>
              <a:t>. Pilots should understand how their particular aircraft behaves without a valid GPS position and practice the appropriate response when it can be done safely.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Finally, </a:t>
            </a:r>
            <a:r>
              <a:rPr b="1" lang="en-US">
                <a:solidFill>
                  <a:schemeClr val="dk1"/>
                </a:solidFill>
              </a:rPr>
              <a:t>lithium battery fires</a:t>
            </a:r>
            <a:r>
              <a:rPr lang="en-US">
                <a:solidFill>
                  <a:schemeClr val="dk1"/>
                </a:solidFill>
              </a:rPr>
              <a:t> deserve special attention. Lithium-ion and lithium-polymer batteries can experience </a:t>
            </a:r>
            <a:r>
              <a:rPr b="1" lang="en-US">
                <a:solidFill>
                  <a:schemeClr val="dk1"/>
                </a:solidFill>
              </a:rPr>
              <a:t>thermal runaway</a:t>
            </a:r>
            <a:r>
              <a:rPr lang="en-US">
                <a:solidFill>
                  <a:schemeClr val="dk1"/>
                </a:solidFill>
              </a:rPr>
              <a:t>, where a damaged or overheated cell enters a self-heating reaction that can spread to neighboring cells. Batteries that are </a:t>
            </a:r>
            <a:r>
              <a:rPr b="1" lang="en-US">
                <a:solidFill>
                  <a:schemeClr val="dk1"/>
                </a:solidFill>
              </a:rPr>
              <a:t>swollen, punctured, physically damaged, unusually hot, or otherwise questionable should be removed from service</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common theme with all of these situations is </a:t>
            </a:r>
            <a:r>
              <a:rPr b="1" lang="en-US">
                <a:solidFill>
                  <a:schemeClr val="dk1"/>
                </a:solidFill>
              </a:rPr>
              <a:t>preparation</a:t>
            </a:r>
            <a:r>
              <a:rPr lang="en-US">
                <a:solidFill>
                  <a:schemeClr val="dk1"/>
                </a:solidFill>
              </a:rPr>
              <a:t>. Before launching, we should be able to answer: </a:t>
            </a:r>
            <a:r>
              <a:rPr i="1" lang="en-US">
                <a:solidFill>
                  <a:schemeClr val="dk1"/>
                </a:solidFill>
              </a:rPr>
              <a:t>What will the aircraft do if something fails, and what will I do in response?</a:t>
            </a:r>
            <a:endParaRPr i="1">
              <a:solidFill>
                <a:schemeClr val="dk1"/>
              </a:solidFill>
            </a:endParaRPr>
          </a:p>
          <a:p>
            <a:pPr indent="0" lvl="0" marL="0" rtl="0" algn="l">
              <a:spcBef>
                <a:spcPts val="1200"/>
              </a:spcBef>
              <a:spcAft>
                <a:spcPts val="0"/>
              </a:spcAft>
              <a:buNone/>
            </a:pPr>
            <a:r>
              <a:t/>
            </a:r>
            <a:endParaRPr/>
          </a:p>
        </p:txBody>
      </p:sp>
      <p:sp>
        <p:nvSpPr>
          <p:cNvPr id="210" name="Google Shape;21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Aeronautical Decision Making, or ADM</a:t>
            </a:r>
            <a:r>
              <a:rPr lang="en-US">
                <a:solidFill>
                  <a:schemeClr val="dk1"/>
                </a:solidFill>
              </a:rPr>
              <a:t>, is really about developing a </a:t>
            </a:r>
            <a:r>
              <a:rPr b="1" lang="en-US">
                <a:solidFill>
                  <a:schemeClr val="dk1"/>
                </a:solidFill>
              </a:rPr>
              <a:t>culture of safety</a:t>
            </a:r>
            <a:r>
              <a:rPr lang="en-US">
                <a:solidFill>
                  <a:schemeClr val="dk1"/>
                </a:solidFill>
              </a:rPr>
              <a:t>. Good pilots don't simply react to problems after they occur. We continuously gather information, identify hazards, evaluate risk, and make decisions that keep those risks at an acceptable level.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Situational awareness</a:t>
            </a:r>
            <a:r>
              <a:rPr lang="en-US">
                <a:solidFill>
                  <a:schemeClr val="dk1"/>
                </a:solidFill>
              </a:rPr>
              <a:t> means understanding what is happening around us and anticipating what could happen next. Before a UAS flight, that includes knowing the </a:t>
            </a:r>
            <a:r>
              <a:rPr b="1" lang="en-US">
                <a:solidFill>
                  <a:schemeClr val="dk1"/>
                </a:solidFill>
              </a:rPr>
              <a:t>airspace, weather, terrain, obstacles, people on the ground, nearby airports, aircraft activity, and regulatory requirements</a:t>
            </a:r>
            <a:r>
              <a:rPr lang="en-US">
                <a:solidFill>
                  <a:schemeClr val="dk1"/>
                </a:solidFill>
              </a:rPr>
              <a:t>. Situational awareness also has to continue throughout the flight because conditions can change.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Risk-based ADM</a:t>
            </a:r>
            <a:r>
              <a:rPr lang="en-US">
                <a:solidFill>
                  <a:schemeClr val="dk1"/>
                </a:solidFill>
              </a:rPr>
              <a:t> gives us a systematic way to make decisions. Instead of saying, </a:t>
            </a:r>
            <a:r>
              <a:rPr i="1" lang="en-US">
                <a:solidFill>
                  <a:schemeClr val="dk1"/>
                </a:solidFill>
              </a:rPr>
              <a:t>“I think we'll be okay,”</a:t>
            </a:r>
            <a:r>
              <a:rPr lang="en-US">
                <a:solidFill>
                  <a:schemeClr val="dk1"/>
                </a:solidFill>
              </a:rPr>
              <a:t> we identify the hazards, determine how likely they are to cause a problem and how serious the consequences could be, and then decide how we can reduce that risk. Sometimes the correct decision is to </a:t>
            </a:r>
            <a:r>
              <a:rPr b="1" lang="en-US">
                <a:solidFill>
                  <a:schemeClr val="dk1"/>
                </a:solidFill>
              </a:rPr>
              <a:t>delay, modify, or cancel the flight</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Crew Resource Management, or CRM</a:t>
            </a:r>
            <a:r>
              <a:rPr lang="en-US">
                <a:solidFill>
                  <a:schemeClr val="dk1"/>
                </a:solidFill>
              </a:rPr>
              <a:t>, recognizes that the remote PIC doesn't have to manage everything alone. We should make effective use of our </a:t>
            </a:r>
            <a:r>
              <a:rPr b="1" lang="en-US">
                <a:solidFill>
                  <a:schemeClr val="dk1"/>
                </a:solidFill>
              </a:rPr>
              <a:t>visual observers, other crew members, equipment, checklists, weather information, maps, and other available resources</a:t>
            </a:r>
            <a:r>
              <a:rPr lang="en-US">
                <a:solidFill>
                  <a:schemeClr val="dk1"/>
                </a:solidFill>
              </a:rPr>
              <a:t>. Good CRM also means creating an environment where any crew member is comfortable speaking up when they see a safety concern.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Finally, a </a:t>
            </a:r>
            <a:r>
              <a:rPr b="1" lang="en-US">
                <a:solidFill>
                  <a:schemeClr val="dk1"/>
                </a:solidFill>
              </a:rPr>
              <a:t>Safety Management System, or SMS</a:t>
            </a:r>
            <a:r>
              <a:rPr lang="en-US">
                <a:solidFill>
                  <a:schemeClr val="dk1"/>
                </a:solidFill>
              </a:rPr>
              <a:t>, takes these ideas beyond an individual flight. SMS is an organizational approach to managing safety. It establishes </a:t>
            </a:r>
            <a:r>
              <a:rPr b="1" lang="en-US">
                <a:solidFill>
                  <a:schemeClr val="dk1"/>
                </a:solidFill>
              </a:rPr>
              <a:t>policies, responsibilities, procedures, risk-management processes, and methods for learning from incidents and improving future operations</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These concepts work together: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Situational Awareness:</a:t>
            </a:r>
            <a:r>
              <a:rPr lang="en-US">
                <a:solidFill>
                  <a:schemeClr val="dk1"/>
                </a:solidFill>
              </a:rPr>
              <a:t> What is happening?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ADM:</a:t>
            </a:r>
            <a:r>
              <a:rPr lang="en-US">
                <a:solidFill>
                  <a:schemeClr val="dk1"/>
                </a:solidFill>
              </a:rPr>
              <a:t> What should we do about 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CRM:</a:t>
            </a:r>
            <a:r>
              <a:rPr lang="en-US">
                <a:solidFill>
                  <a:schemeClr val="dk1"/>
                </a:solidFill>
              </a:rPr>
              <a:t> How can we use our people and resources effectively?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SMS:</a:t>
            </a:r>
            <a:r>
              <a:rPr lang="en-US">
                <a:solidFill>
                  <a:schemeClr val="dk1"/>
                </a:solidFill>
              </a:rPr>
              <a:t> How do we build safety into the entire organization?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goal is not to eliminate every possible risk—that isn't realistic in aviation. The goal is to </a:t>
            </a:r>
            <a:r>
              <a:rPr b="1" lang="en-US">
                <a:solidFill>
                  <a:schemeClr val="dk1"/>
                </a:solidFill>
              </a:rPr>
              <a:t>identify risk, manage it deliberately, and avoid allowing several small problems to combine into a serious accident.</a:t>
            </a:r>
            <a:endParaRPr b="1">
              <a:solidFill>
                <a:schemeClr val="dk1"/>
              </a:solidFill>
            </a:endParaRPr>
          </a:p>
          <a:p>
            <a:pPr indent="0" lvl="0" marL="0" rtl="0" algn="l">
              <a:spcBef>
                <a:spcPts val="1200"/>
              </a:spcBef>
              <a:spcAft>
                <a:spcPts val="0"/>
              </a:spcAft>
              <a:buNone/>
            </a:pPr>
            <a:r>
              <a:t/>
            </a:r>
            <a:endParaRPr/>
          </a:p>
        </p:txBody>
      </p:sp>
      <p:sp>
        <p:nvSpPr>
          <p:cNvPr id="216" name="Google Shape;21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Good aeronautical decision making isn't just about understanding the aircraft or the regulations. We also need to recognize that </a:t>
            </a:r>
            <a:r>
              <a:rPr b="1" lang="en-US">
                <a:solidFill>
                  <a:schemeClr val="dk1"/>
                </a:solidFill>
              </a:rPr>
              <a:t>our own attitudes can affect the decisions we make</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FAA identifies </a:t>
            </a:r>
            <a:r>
              <a:rPr b="1" lang="en-US">
                <a:solidFill>
                  <a:schemeClr val="dk1"/>
                </a:solidFill>
              </a:rPr>
              <a:t>five hazardous attitudes</a:t>
            </a:r>
            <a:r>
              <a:rPr lang="en-US">
                <a:solidFill>
                  <a:schemeClr val="dk1"/>
                </a:solidFill>
              </a:rPr>
              <a:t> that can lead pilots toward poor decisions.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Anti-authority — “Don't tell me.”</a:t>
            </a:r>
            <a:br>
              <a:rPr b="1" lang="en-US">
                <a:solidFill>
                  <a:schemeClr val="dk1"/>
                </a:solidFill>
              </a:rPr>
            </a:br>
            <a:r>
              <a:rPr lang="en-US">
                <a:solidFill>
                  <a:schemeClr val="dk1"/>
                </a:solidFill>
              </a:rPr>
              <a:t> This is the attitude that rules or procedures don't apply to us. We might think, </a:t>
            </a:r>
            <a:r>
              <a:rPr i="1" lang="en-US">
                <a:solidFill>
                  <a:schemeClr val="dk1"/>
                </a:solidFill>
              </a:rPr>
              <a:t>“I know what I'm doing; I don't need that checklist.”</a:t>
            </a:r>
            <a:r>
              <a:rPr lang="en-US">
                <a:solidFill>
                  <a:schemeClr val="dk1"/>
                </a:solidFill>
              </a:rPr>
              <a:t> In aviation, procedures usually exist because someone learned the lesson the hard way. The antidote is: </a:t>
            </a:r>
            <a:r>
              <a:rPr b="1" lang="en-US">
                <a:solidFill>
                  <a:schemeClr val="dk1"/>
                </a:solidFill>
              </a:rPr>
              <a:t>Follow the rules—they are usually right.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Impulsivity — “Do it quickly.”</a:t>
            </a:r>
            <a:br>
              <a:rPr b="1" lang="en-US">
                <a:solidFill>
                  <a:schemeClr val="dk1"/>
                </a:solidFill>
              </a:rPr>
            </a:br>
            <a:r>
              <a:rPr lang="en-US">
                <a:solidFill>
                  <a:schemeClr val="dk1"/>
                </a:solidFill>
              </a:rPr>
              <a:t> This is the urge to act immediately without considering the alternatives. For example, we lose GPS and immediately start pushing buttons instead of first determining what the aircraft is actually doing. The antidote is: </a:t>
            </a:r>
            <a:r>
              <a:rPr b="1" lang="en-US">
                <a:solidFill>
                  <a:schemeClr val="dk1"/>
                </a:solidFill>
              </a:rPr>
              <a:t>Not so fast—think first.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Invulnerability — “It won't happen to me.”</a:t>
            </a:r>
            <a:br>
              <a:rPr b="1" lang="en-US">
                <a:solidFill>
                  <a:schemeClr val="dk1"/>
                </a:solidFill>
              </a:rPr>
            </a:br>
            <a:r>
              <a:rPr lang="en-US">
                <a:solidFill>
                  <a:schemeClr val="dk1"/>
                </a:solidFill>
              </a:rPr>
              <a:t> We recognize that accidents happen, but assume they'll happen to somebody else. A UAS pilot might fly with a questionable battery because </a:t>
            </a:r>
            <a:r>
              <a:rPr i="1" lang="en-US">
                <a:solidFill>
                  <a:schemeClr val="dk1"/>
                </a:solidFill>
              </a:rPr>
              <a:t>“I've done it before and nothing happened.”</a:t>
            </a:r>
            <a:r>
              <a:rPr lang="en-US">
                <a:solidFill>
                  <a:schemeClr val="dk1"/>
                </a:solidFill>
              </a:rPr>
              <a:t> The antidote is: </a:t>
            </a:r>
            <a:r>
              <a:rPr b="1" lang="en-US">
                <a:solidFill>
                  <a:schemeClr val="dk1"/>
                </a:solidFill>
              </a:rPr>
              <a:t>It could happen to me.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Macho — “I can do it.”</a:t>
            </a:r>
            <a:br>
              <a:rPr b="1" lang="en-US">
                <a:solidFill>
                  <a:schemeClr val="dk1"/>
                </a:solidFill>
              </a:rPr>
            </a:br>
            <a:r>
              <a:rPr lang="en-US">
                <a:solidFill>
                  <a:schemeClr val="dk1"/>
                </a:solidFill>
              </a:rPr>
              <a:t> This involves taking unnecessary risks to prove our ability. Maybe the wind is beyond our normal limits, but we decide to launch because we want to demonstrate that we can handle it. The antidote is: </a:t>
            </a:r>
            <a:r>
              <a:rPr b="1" lang="en-US">
                <a:solidFill>
                  <a:schemeClr val="dk1"/>
                </a:solidFill>
              </a:rPr>
              <a:t>Taking chances is foolish.</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Finally, </a:t>
            </a:r>
            <a:r>
              <a:rPr b="1" lang="en-US">
                <a:solidFill>
                  <a:schemeClr val="dk1"/>
                </a:solidFill>
              </a:rPr>
              <a:t>Resignation — “What's the use?”</a:t>
            </a:r>
            <a:br>
              <a:rPr b="1" lang="en-US">
                <a:solidFill>
                  <a:schemeClr val="dk1"/>
                </a:solidFill>
              </a:rPr>
            </a:br>
            <a:r>
              <a:rPr lang="en-US">
                <a:solidFill>
                  <a:schemeClr val="dk1"/>
                </a:solidFill>
              </a:rPr>
              <a:t> This occurs when a pilot feels that there's nothing they can do to improve the situation. In an emergency, they may simply give up or allow events to dictate the outcome. The antidote is: </a:t>
            </a:r>
            <a:r>
              <a:rPr b="1" lang="en-US">
                <a:solidFill>
                  <a:schemeClr val="dk1"/>
                </a:solidFill>
              </a:rPr>
              <a:t>I'm not helpless—I can make a difference.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These attitudes can affect </a:t>
            </a:r>
            <a:r>
              <a:rPr b="1" lang="en-US">
                <a:solidFill>
                  <a:schemeClr val="dk1"/>
                </a:solidFill>
              </a:rPr>
              <a:t>any pilot</a:t>
            </a:r>
            <a:r>
              <a:rPr lang="en-US">
                <a:solidFill>
                  <a:schemeClr val="dk1"/>
                </a:solidFill>
              </a:rPr>
              <a:t>, regardless of experience. In fact, experience can sometimes create its own problem because repeated success can make us increasingly comfortable accepting risk.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important skill is being able to recognize these attitudes </a:t>
            </a:r>
            <a:r>
              <a:rPr b="1" lang="en-US">
                <a:solidFill>
                  <a:schemeClr val="dk1"/>
                </a:solidFill>
              </a:rPr>
              <a:t>in ourselves and in other members of the flight crew</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 useful question to ask yourself before making a questionable decision is: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“Am I making this decision because it is the safest option—or because I want the flight to happen?”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That distinction is at the heart of good aeronautical decision making.</a:t>
            </a:r>
            <a:endParaRPr>
              <a:solidFill>
                <a:schemeClr val="dk1"/>
              </a:solidFill>
            </a:endParaRPr>
          </a:p>
          <a:p>
            <a:pPr indent="0" lvl="0" marL="0" rtl="0" algn="l">
              <a:spcBef>
                <a:spcPts val="1200"/>
              </a:spcBef>
              <a:spcAft>
                <a:spcPts val="0"/>
              </a:spcAft>
              <a:buNone/>
            </a:pPr>
            <a:r>
              <a:t/>
            </a:r>
            <a:endParaRPr/>
          </a:p>
        </p:txBody>
      </p:sp>
      <p:sp>
        <p:nvSpPr>
          <p:cNvPr id="222" name="Google Shape;22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Even though we're operating the aircraft from the ground, </a:t>
            </a:r>
            <a:r>
              <a:rPr b="1" lang="en-US">
                <a:solidFill>
                  <a:schemeClr val="dk1"/>
                </a:solidFill>
              </a:rPr>
              <a:t>human physiology still affects our ability to safely operate a UAS</a:t>
            </a:r>
            <a:r>
              <a:rPr lang="en-US">
                <a:solidFill>
                  <a:schemeClr val="dk1"/>
                </a:solidFill>
              </a:rPr>
              <a:t>. Physical and mental conditions can reduce our judgment, situational awareness, reaction time, and ability to make good decisions.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Hyperventilation</a:t>
            </a:r>
            <a:r>
              <a:rPr lang="en-US">
                <a:solidFill>
                  <a:schemeClr val="dk1"/>
                </a:solidFill>
              </a:rPr>
              <a:t> occurs when someone breathes too rapidly or deeply, often because of </a:t>
            </a:r>
            <a:r>
              <a:rPr b="1" lang="en-US">
                <a:solidFill>
                  <a:schemeClr val="dk1"/>
                </a:solidFill>
              </a:rPr>
              <a:t>stress, anxiety, or fear</a:t>
            </a:r>
            <a:r>
              <a:rPr lang="en-US">
                <a:solidFill>
                  <a:schemeClr val="dk1"/>
                </a:solidFill>
              </a:rPr>
              <a:t>. This lowers the amount of carbon dioxide in the blood and can cause dizziness, tingling, lightheadedness, confusion, or even fainting. If it occurs, the pilot should recognize the cause, slow their breathing, and discontinue flight duties if necessary.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Dehydration</a:t>
            </a:r>
            <a:r>
              <a:rPr lang="en-US">
                <a:solidFill>
                  <a:schemeClr val="dk1"/>
                </a:solidFill>
              </a:rPr>
              <a:t> is particularly important because UAS crews may spend hours outside in the sun, wind, heat, or cold. Even moderate dehydration can contribute to </a:t>
            </a:r>
            <a:r>
              <a:rPr b="1" lang="en-US">
                <a:solidFill>
                  <a:schemeClr val="dk1"/>
                </a:solidFill>
              </a:rPr>
              <a:t>headaches, fatigue, dizziness, muscle cramps, and reduced concentration</a:t>
            </a:r>
            <a:r>
              <a:rPr lang="en-US">
                <a:solidFill>
                  <a:schemeClr val="dk1"/>
                </a:solidFill>
              </a:rPr>
              <a:t>. Don't wait until you're thirsty to start drinking water.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Heat exhaustion and heatstroke</a:t>
            </a:r>
            <a:r>
              <a:rPr lang="en-US">
                <a:solidFill>
                  <a:schemeClr val="dk1"/>
                </a:solidFill>
              </a:rPr>
              <a:t> are more serious heat-related conditions. Heatstroke occurs when the body's ability to regulate temperature fails and is a </a:t>
            </a:r>
            <a:r>
              <a:rPr b="1" lang="en-US">
                <a:solidFill>
                  <a:schemeClr val="dk1"/>
                </a:solidFill>
              </a:rPr>
              <a:t>medical emergency</a:t>
            </a:r>
            <a:r>
              <a:rPr lang="en-US">
                <a:solidFill>
                  <a:schemeClr val="dk1"/>
                </a:solidFill>
              </a:rPr>
              <a:t>. Confusion, altered behavior, collapse, or loss of consciousness are especially serious warning signs.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At the opposite extreme, </a:t>
            </a:r>
            <a:r>
              <a:rPr b="1" lang="en-US">
                <a:solidFill>
                  <a:schemeClr val="dk1"/>
                </a:solidFill>
              </a:rPr>
              <a:t>hypothermia</a:t>
            </a:r>
            <a:r>
              <a:rPr lang="en-US">
                <a:solidFill>
                  <a:schemeClr val="dk1"/>
                </a:solidFill>
              </a:rPr>
              <a:t> occurs when the body loses heat faster than it can produce it. Early symptoms can include </a:t>
            </a:r>
            <a:r>
              <a:rPr b="1" lang="en-US">
                <a:solidFill>
                  <a:schemeClr val="dk1"/>
                </a:solidFill>
              </a:rPr>
              <a:t>shivering and loss of coordination</a:t>
            </a:r>
            <a:r>
              <a:rPr lang="en-US">
                <a:solidFill>
                  <a:schemeClr val="dk1"/>
                </a:solidFill>
              </a:rPr>
              <a:t>. As it progresses, judgment deteriorates, speech may become slurred, and the person may become confused or lose consciousness. This is especially relevant for UAS crews operating outdoors during winter.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Stress</a:t>
            </a:r>
            <a:r>
              <a:rPr lang="en-US">
                <a:solidFill>
                  <a:schemeClr val="dk1"/>
                </a:solidFill>
              </a:rPr>
              <a:t> can come from many sources—difficult weather, equipment problems, inexperienced crew members, time pressure, spectators, or simply the pressure to complete a mission. Some stress can help us stay alert, but excessive stress can narrow our attention and lead to poor decisions.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Fatigue</a:t>
            </a:r>
            <a:r>
              <a:rPr lang="en-US">
                <a:solidFill>
                  <a:schemeClr val="dk1"/>
                </a:solidFill>
              </a:rPr>
              <a:t> is one of the most important human factors in aviation. Lack of sleep is an obvious cause, but fatigue can also result from </a:t>
            </a:r>
            <a:r>
              <a:rPr b="1" lang="en-US">
                <a:solidFill>
                  <a:schemeClr val="dk1"/>
                </a:solidFill>
              </a:rPr>
              <a:t>long missions, repetitive tasks, stress, heat, cold, and sustained concentration</a:t>
            </a:r>
            <a:r>
              <a:rPr lang="en-US">
                <a:solidFill>
                  <a:schemeClr val="dk1"/>
                </a:solidFill>
              </a:rPr>
              <a:t>. A fatigued pilot may react more slowly and overlook things they would normally catch.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Finally, </a:t>
            </a:r>
            <a:r>
              <a:rPr b="1" lang="en-US">
                <a:solidFill>
                  <a:schemeClr val="dk1"/>
                </a:solidFill>
              </a:rPr>
              <a:t>chronic stress</a:t>
            </a:r>
            <a:r>
              <a:rPr lang="en-US">
                <a:solidFill>
                  <a:schemeClr val="dk1"/>
                </a:solidFill>
              </a:rPr>
              <a:t> is prolonged stress that doesn't go away after the immediate situation ends. Over time, it can affect concentration, sleep, decision making, and overall performance.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important point is that </a:t>
            </a:r>
            <a:r>
              <a:rPr b="1" lang="en-US">
                <a:solidFill>
                  <a:schemeClr val="dk1"/>
                </a:solidFill>
              </a:rPr>
              <a:t>being physically present doesn't necessarily mean we're fit to fly</a:t>
            </a:r>
            <a:r>
              <a:rPr lang="en-US">
                <a:solidFill>
                  <a:schemeClr val="dk1"/>
                </a:solidFill>
              </a:rPr>
              <a:t>. Part of the remote PIC's preflight assessment should include evaluating the condition of the pilot and crew—not just the condition of the aircraft.</a:t>
            </a:r>
            <a:endParaRPr>
              <a:solidFill>
                <a:schemeClr val="dk1"/>
              </a:solidFill>
            </a:endParaRPr>
          </a:p>
          <a:p>
            <a:pPr indent="0" lvl="0" marL="0" rtl="0" algn="l">
              <a:spcBef>
                <a:spcPts val="1200"/>
              </a:spcBef>
              <a:spcAft>
                <a:spcPts val="0"/>
              </a:spcAft>
              <a:buNone/>
            </a:pPr>
            <a:r>
              <a:t/>
            </a:r>
            <a:endParaRPr/>
          </a:p>
        </p:txBody>
      </p:sp>
      <p:sp>
        <p:nvSpPr>
          <p:cNvPr id="228" name="Google Shape;228;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Safe UAS operations don't begin when we launch the aircraft. They begin with </a:t>
            </a:r>
            <a:r>
              <a:rPr b="1" lang="en-US">
                <a:solidFill>
                  <a:schemeClr val="dk1"/>
                </a:solidFill>
              </a:rPr>
              <a:t>proper inspection and maintenance</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Whenever possible, we should follow the </a:t>
            </a:r>
            <a:r>
              <a:rPr b="1" lang="en-US">
                <a:solidFill>
                  <a:schemeClr val="dk1"/>
                </a:solidFill>
              </a:rPr>
              <a:t>manufacturer's recommended maintenance procedures, inspection intervals, and component replacement schedules</a:t>
            </a:r>
            <a:r>
              <a:rPr lang="en-US">
                <a:solidFill>
                  <a:schemeClr val="dk1"/>
                </a:solidFill>
              </a:rPr>
              <a:t>. The manufacturer knows the design limitations of the aircraft and may specify when particular components need to be inspected, serviced, or replaced.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For some UAS—especially </a:t>
            </a:r>
            <a:r>
              <a:rPr b="1" lang="en-US">
                <a:solidFill>
                  <a:schemeClr val="dk1"/>
                </a:solidFill>
              </a:rPr>
              <a:t>custom-built or experimental systems</a:t>
            </a:r>
            <a:r>
              <a:rPr lang="en-US">
                <a:solidFill>
                  <a:schemeClr val="dk1"/>
                </a:solidFill>
              </a:rPr>
              <a:t>—there may not be a complete manufacturer maintenance program. In that case, the operator should develop a </a:t>
            </a:r>
            <a:r>
              <a:rPr b="1" lang="en-US">
                <a:solidFill>
                  <a:schemeClr val="dk1"/>
                </a:solidFill>
              </a:rPr>
              <a:t>documented maintenance and inspection procedure</a:t>
            </a:r>
            <a:r>
              <a:rPr lang="en-US">
                <a:solidFill>
                  <a:schemeClr val="dk1"/>
                </a:solidFill>
              </a:rPr>
              <a:t> appropriate for that aircraft.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might include tracking </a:t>
            </a:r>
            <a:r>
              <a:rPr b="1" lang="en-US">
                <a:solidFill>
                  <a:schemeClr val="dk1"/>
                </a:solidFill>
              </a:rPr>
              <a:t>flight hours, number of flights, battery cycles, motor hours, propeller condition, servo operation, control linkages, structural components, and firmware changes</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If different components have different inspection or replacement intervals, we should generally follow the </a:t>
            </a:r>
            <a:r>
              <a:rPr b="1" lang="en-US">
                <a:solidFill>
                  <a:schemeClr val="dk1"/>
                </a:solidFill>
              </a:rPr>
              <a:t>most restrictive applicable limitation</a:t>
            </a:r>
            <a:r>
              <a:rPr lang="en-US">
                <a:solidFill>
                  <a:schemeClr val="dk1"/>
                </a:solidFill>
              </a:rPr>
              <a:t>. For example, if a component is rated for a certain number of operating cycles, don't continue using it simply because it still appears to work.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Maintenance records are also a good practice. If we replace a propeller, repair a wing, update firmware, change a flight controller, or install a new payload, documenting that work helps us understand the aircraft's history and identify recurring problems.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After maintenance or repairs, we should perform appropriate </a:t>
            </a:r>
            <a:r>
              <a:rPr b="1" lang="en-US">
                <a:solidFill>
                  <a:schemeClr val="dk1"/>
                </a:solidFill>
              </a:rPr>
              <a:t>functional checks before returning the aircraft to normal operations</a:t>
            </a:r>
            <a:r>
              <a:rPr lang="en-US">
                <a:solidFill>
                  <a:schemeClr val="dk1"/>
                </a:solidFill>
              </a:rPr>
              <a:t>. With a fixed-wing UAS, that includes verifying control-surface movement and direction, propulsion, communications, navigation systems, and structural integrity.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Ultimately, the </a:t>
            </a:r>
            <a:r>
              <a:rPr b="1" lang="en-US">
                <a:solidFill>
                  <a:schemeClr val="dk1"/>
                </a:solidFill>
              </a:rPr>
              <a:t>remote PIC is responsible for determining that the UAS is in a condition for safe operation</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And as we discussed with physiology, we need to inspect the other critical component of the system as well—</a:t>
            </a:r>
            <a:r>
              <a:rPr b="1" lang="en-US">
                <a:solidFill>
                  <a:schemeClr val="dk1"/>
                </a:solidFill>
              </a:rPr>
              <a:t>the pilot</a:t>
            </a:r>
            <a:r>
              <a:rPr lang="en-US">
                <a:solidFill>
                  <a:schemeClr val="dk1"/>
                </a:solidFill>
              </a:rPr>
              <a:t>. A perfectly maintained aircraft isn't safe if the person operating it isn't fit to fly.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So before every operation, we should really be asking two questions: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Is the aircraft ready to fly?</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Am I ready to fly?</a:t>
            </a:r>
            <a:endParaRPr b="1">
              <a:solidFill>
                <a:schemeClr val="dk1"/>
              </a:solidFill>
            </a:endParaRPr>
          </a:p>
          <a:p>
            <a:pPr indent="0" lvl="0" marL="0" rtl="0" algn="l">
              <a:spcBef>
                <a:spcPts val="1200"/>
              </a:spcBef>
              <a:spcAft>
                <a:spcPts val="0"/>
              </a:spcAft>
              <a:buNone/>
            </a:pPr>
            <a:r>
              <a:t/>
            </a:r>
            <a:endParaRPr/>
          </a:p>
        </p:txBody>
      </p:sp>
      <p:sp>
        <p:nvSpPr>
          <p:cNvPr id="234" name="Google Shape;23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When we're conducting a training flight, our goal isn't simply to get the aircraft into the air. We want to create a </a:t>
            </a:r>
            <a:r>
              <a:rPr b="1" lang="en-US">
                <a:solidFill>
                  <a:schemeClr val="dk1"/>
                </a:solidFill>
              </a:rPr>
              <a:t>controlled learning environment</a:t>
            </a:r>
            <a:r>
              <a:rPr lang="en-US">
                <a:solidFill>
                  <a:schemeClr val="dk1"/>
                </a:solidFill>
              </a:rPr>
              <a:t> where the student can make mistakes without those mistakes becoming dangerous.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 begin by checking the </a:t>
            </a:r>
            <a:r>
              <a:rPr b="1" lang="en-US">
                <a:solidFill>
                  <a:schemeClr val="dk1"/>
                </a:solidFill>
              </a:rPr>
              <a:t>weather</a:t>
            </a:r>
            <a:r>
              <a:rPr lang="en-US">
                <a:solidFill>
                  <a:schemeClr val="dk1"/>
                </a:solidFill>
              </a:rPr>
              <a:t>. For a new pilot, our acceptable conditions may be much more conservative than the aircraft's actual limitations. Strong winds or gusty conditions make learning considerably more difficult.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Next, we establish a </a:t>
            </a:r>
            <a:r>
              <a:rPr b="1" lang="en-US">
                <a:solidFill>
                  <a:schemeClr val="dk1"/>
                </a:solidFill>
              </a:rPr>
              <a:t>flight zone</a:t>
            </a:r>
            <a:r>
              <a:rPr lang="en-US">
                <a:solidFill>
                  <a:schemeClr val="dk1"/>
                </a:solidFill>
              </a:rPr>
              <a:t>. This is the area where we intend to keep the aircraft. The student should know those boundaries before we launch.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 also establish an </a:t>
            </a:r>
            <a:r>
              <a:rPr b="1" lang="en-US">
                <a:solidFill>
                  <a:schemeClr val="dk1"/>
                </a:solidFill>
              </a:rPr>
              <a:t>observer area</a:t>
            </a:r>
            <a:r>
              <a:rPr lang="en-US">
                <a:solidFill>
                  <a:schemeClr val="dk1"/>
                </a:solidFill>
              </a:rPr>
              <a:t> and a separate </a:t>
            </a:r>
            <a:r>
              <a:rPr b="1" lang="en-US">
                <a:solidFill>
                  <a:schemeClr val="dk1"/>
                </a:solidFill>
              </a:rPr>
              <a:t>pilot and instructor area</a:t>
            </a:r>
            <a:r>
              <a:rPr lang="en-US">
                <a:solidFill>
                  <a:schemeClr val="dk1"/>
                </a:solidFill>
              </a:rPr>
              <a:t>. Keeping people organized on the ground reduces distractions and keeps spectators away from the aircraft's operating area.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Then we preflight the aircraft. For a fixed-wing UAS, one of the most important checks is: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Controls free and correct.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Move every control and physically watch the airplane. Right aileron input should produce the correct aileron movement, elevator commands should move correctly, and the rudder should respond in the proper direction. Don't just verify that the servos move—verify that they move </a:t>
            </a:r>
            <a:r>
              <a:rPr b="1" lang="en-US">
                <a:solidFill>
                  <a:schemeClr val="dk1"/>
                </a:solidFill>
              </a:rPr>
              <a:t>in the correct direction</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 check that the </a:t>
            </a:r>
            <a:r>
              <a:rPr b="1" lang="en-US">
                <a:solidFill>
                  <a:schemeClr val="dk1"/>
                </a:solidFill>
              </a:rPr>
              <a:t>battery is charged and securely installed</a:t>
            </a:r>
            <a:r>
              <a:rPr lang="en-US">
                <a:solidFill>
                  <a:schemeClr val="dk1"/>
                </a:solidFill>
              </a:rPr>
              <a:t>, inspect the airframe for damage, and confirm that the surrounding airspace is clear.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When we're using a </a:t>
            </a:r>
            <a:r>
              <a:rPr b="1" lang="en-US">
                <a:solidFill>
                  <a:schemeClr val="dk1"/>
                </a:solidFill>
              </a:rPr>
              <a:t>trainer or buddy-box system</a:t>
            </a:r>
            <a:r>
              <a:rPr lang="en-US">
                <a:solidFill>
                  <a:schemeClr val="dk1"/>
                </a:solidFill>
              </a:rPr>
              <a:t>, we also test the dual controls before launch. The instructor needs to know that they can immediately regain control of the aircraft if necessary.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But we're not only preflighting the airplane—we're also </a:t>
            </a:r>
            <a:r>
              <a:rPr b="1" lang="en-US">
                <a:solidFill>
                  <a:schemeClr val="dk1"/>
                </a:solidFill>
              </a:rPr>
              <a:t>preflighting the student</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Is the student alert and ready to fly? Are distractions minimized? Do they understand the controls? Most importantly, do they know </a:t>
            </a:r>
            <a:r>
              <a:rPr b="1" lang="en-US">
                <a:solidFill>
                  <a:schemeClr val="dk1"/>
                </a:solidFill>
              </a:rPr>
              <a:t>what is going to happen next?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Before launch, I want the student to understand the plan: </a:t>
            </a:r>
            <a:r>
              <a:rPr i="1" lang="en-US">
                <a:solidFill>
                  <a:schemeClr val="dk1"/>
                </a:solidFill>
              </a:rPr>
              <a:t>I'll launch the airplane and establish a safe altitude. I'll transfer control to you. You'll practice this maneuver in this area. If you become uncomfortable or lose orientation, tell me and I'll take the aircraft.</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Clear transfer of control is especially important. We should use positive verbal communication such as: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“You have control.”</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“I have control.”</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other person acknowledges the transfer so there is never any question about </a:t>
            </a:r>
            <a:r>
              <a:rPr b="1" lang="en-US">
                <a:solidFill>
                  <a:schemeClr val="dk1"/>
                </a:solidFill>
              </a:rPr>
              <a:t>who is flying the aircraft</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 successful training flight is therefore highly structured: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Brief → Preflight → Launch → Establish a safe flight condition → Transfer control → Practice → Recover → Debrief.</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objective isn't just to teach someone how to manipulate the sticks. We're teaching them to </a:t>
            </a:r>
            <a:r>
              <a:rPr b="1" lang="en-US">
                <a:solidFill>
                  <a:schemeClr val="dk1"/>
                </a:solidFill>
              </a:rPr>
              <a:t>operate an aircraft safely and systematically.</a:t>
            </a:r>
            <a:endParaRPr b="1">
              <a:solidFill>
                <a:schemeClr val="dk1"/>
              </a:solidFill>
            </a:endParaRPr>
          </a:p>
          <a:p>
            <a:pPr indent="0" lvl="0" marL="0" rtl="0" algn="l">
              <a:spcBef>
                <a:spcPts val="1200"/>
              </a:spcBef>
              <a:spcAft>
                <a:spcPts val="0"/>
              </a:spcAft>
              <a:buNone/>
            </a:pPr>
            <a:r>
              <a:t/>
            </a:r>
            <a:endParaRPr/>
          </a:p>
        </p:txBody>
      </p:sp>
      <p:sp>
        <p:nvSpPr>
          <p:cNvPr id="240" name="Google Shape;240;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370693" y="1769540"/>
            <a:ext cx="9440034" cy="1828801"/>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spcBef>
                <a:spcPts val="0"/>
              </a:spcBef>
              <a:spcAft>
                <a:spcPts val="0"/>
              </a:spcAft>
              <a:buClr>
                <a:schemeClr val="dk1"/>
              </a:buClr>
              <a:buSzPts val="5400"/>
              <a:buFont typeface="Lustria"/>
              <a:buNone/>
              <a:defRPr sz="54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 type="subTitle"/>
          </p:nvPr>
        </p:nvSpPr>
        <p:spPr>
          <a:xfrm>
            <a:off x="1370693" y="3598339"/>
            <a:ext cx="9440034" cy="1049867"/>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lvl="0" algn="ctr">
              <a:spcBef>
                <a:spcPts val="400"/>
              </a:spcBef>
              <a:spcAft>
                <a:spcPts val="0"/>
              </a:spcAft>
              <a:buClr>
                <a:schemeClr val="dk1"/>
              </a:buClr>
              <a:buSzPts val="1400"/>
              <a:buNone/>
              <a:defRPr>
                <a:solidFill>
                  <a:schemeClr val="dk1"/>
                </a:solidFill>
              </a:defRPr>
            </a:lvl1pPr>
            <a:lvl2pPr lvl="1" algn="ctr">
              <a:spcBef>
                <a:spcPts val="600"/>
              </a:spcBef>
              <a:spcAft>
                <a:spcPts val="0"/>
              </a:spcAft>
              <a:buSzPts val="1260"/>
              <a:buNone/>
              <a:defRPr>
                <a:solidFill>
                  <a:schemeClr val="lt1"/>
                </a:solidFill>
              </a:defRPr>
            </a:lvl2pPr>
            <a:lvl3pPr lvl="2" algn="ctr">
              <a:spcBef>
                <a:spcPts val="600"/>
              </a:spcBef>
              <a:spcAft>
                <a:spcPts val="0"/>
              </a:spcAft>
              <a:buSzPts val="1120"/>
              <a:buNone/>
              <a:defRPr>
                <a:solidFill>
                  <a:schemeClr val="lt1"/>
                </a:solidFill>
              </a:defRPr>
            </a:lvl3pPr>
            <a:lvl4pPr lvl="3" algn="ctr">
              <a:spcBef>
                <a:spcPts val="600"/>
              </a:spcBef>
              <a:spcAft>
                <a:spcPts val="0"/>
              </a:spcAft>
              <a:buSzPts val="980"/>
              <a:buNone/>
              <a:defRPr>
                <a:solidFill>
                  <a:schemeClr val="lt1"/>
                </a:solidFill>
              </a:defRPr>
            </a:lvl4pPr>
            <a:lvl5pPr lvl="4" algn="ctr">
              <a:spcBef>
                <a:spcPts val="600"/>
              </a:spcBef>
              <a:spcAft>
                <a:spcPts val="0"/>
              </a:spcAft>
              <a:buSzPts val="980"/>
              <a:buNone/>
              <a:defRPr>
                <a:solidFill>
                  <a:schemeClr val="lt1"/>
                </a:solidFill>
              </a:defRPr>
            </a:lvl5pPr>
            <a:lvl6pPr lvl="5" algn="ctr">
              <a:spcBef>
                <a:spcPts val="600"/>
              </a:spcBef>
              <a:spcAft>
                <a:spcPts val="0"/>
              </a:spcAft>
              <a:buSzPts val="980"/>
              <a:buNone/>
              <a:defRPr>
                <a:solidFill>
                  <a:schemeClr val="lt1"/>
                </a:solidFill>
              </a:defRPr>
            </a:lvl6pPr>
            <a:lvl7pPr lvl="6" algn="ctr">
              <a:spcBef>
                <a:spcPts val="600"/>
              </a:spcBef>
              <a:spcAft>
                <a:spcPts val="0"/>
              </a:spcAft>
              <a:buSzPts val="980"/>
              <a:buNone/>
              <a:defRPr>
                <a:solidFill>
                  <a:schemeClr val="lt1"/>
                </a:solidFill>
              </a:defRPr>
            </a:lvl7pPr>
            <a:lvl8pPr lvl="7" algn="ctr">
              <a:spcBef>
                <a:spcPts val="600"/>
              </a:spcBef>
              <a:spcAft>
                <a:spcPts val="0"/>
              </a:spcAft>
              <a:buSzPts val="980"/>
              <a:buNone/>
              <a:defRPr>
                <a:solidFill>
                  <a:schemeClr val="lt1"/>
                </a:solidFill>
              </a:defRPr>
            </a:lvl8pPr>
            <a:lvl9pPr lvl="8" algn="ctr">
              <a:spcBef>
                <a:spcPts val="600"/>
              </a:spcBef>
              <a:spcAft>
                <a:spcPts val="600"/>
              </a:spcAft>
              <a:buSzPts val="980"/>
              <a:buNone/>
              <a:defRPr>
                <a:solidFill>
                  <a:schemeClr val="lt1"/>
                </a:solidFill>
              </a:defRPr>
            </a:lvl9pPr>
          </a:lstStyle>
          <a:p/>
        </p:txBody>
      </p:sp>
      <p:sp>
        <p:nvSpPr>
          <p:cNvPr id="14" name="Google Shape;14;p2"/>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Clr>
                <a:schemeClr val="dk1"/>
              </a:buClr>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solidFill>
                  <a:schemeClr val="dk1"/>
                </a:solidFill>
              </a:defRPr>
            </a:lvl1pPr>
            <a:lvl2pPr lvl="1" algn="l">
              <a:spcBef>
                <a:spcPts val="0"/>
              </a:spcBef>
              <a:spcAft>
                <a:spcPts val="0"/>
              </a:spcAft>
              <a:buClr>
                <a:schemeClr val="dk1"/>
              </a:buClr>
              <a:buSzPts val="1400"/>
              <a:buNone/>
              <a:defRPr>
                <a:solidFill>
                  <a:schemeClr val="dk1"/>
                </a:solidFill>
              </a:defRPr>
            </a:lvl2pPr>
            <a:lvl3pPr lvl="2" algn="l">
              <a:spcBef>
                <a:spcPts val="0"/>
              </a:spcBef>
              <a:spcAft>
                <a:spcPts val="0"/>
              </a:spcAft>
              <a:buClr>
                <a:schemeClr val="dk1"/>
              </a:buClr>
              <a:buSzPts val="1400"/>
              <a:buNone/>
              <a:defRPr>
                <a:solidFill>
                  <a:schemeClr val="dk1"/>
                </a:solidFill>
              </a:defRPr>
            </a:lvl3pPr>
            <a:lvl4pPr lvl="3" algn="l">
              <a:spcBef>
                <a:spcPts val="0"/>
              </a:spcBef>
              <a:spcAft>
                <a:spcPts val="0"/>
              </a:spcAft>
              <a:buClr>
                <a:schemeClr val="dk1"/>
              </a:buClr>
              <a:buSzPts val="1400"/>
              <a:buNone/>
              <a:defRPr>
                <a:solidFill>
                  <a:schemeClr val="dk1"/>
                </a:solidFill>
              </a:defRPr>
            </a:lvl4pPr>
            <a:lvl5pPr lvl="4" algn="l">
              <a:spcBef>
                <a:spcPts val="0"/>
              </a:spcBef>
              <a:spcAft>
                <a:spcPts val="0"/>
              </a:spcAft>
              <a:buClr>
                <a:schemeClr val="dk1"/>
              </a:buClr>
              <a:buSzPts val="1400"/>
              <a:buNone/>
              <a:defRPr>
                <a:solidFill>
                  <a:schemeClr val="dk1"/>
                </a:solidFill>
              </a:defRPr>
            </a:lvl5pPr>
            <a:lvl6pPr lvl="5" algn="l">
              <a:spcBef>
                <a:spcPts val="0"/>
              </a:spcBef>
              <a:spcAft>
                <a:spcPts val="0"/>
              </a:spcAft>
              <a:buClr>
                <a:schemeClr val="dk1"/>
              </a:buClr>
              <a:buSzPts val="1400"/>
              <a:buNone/>
              <a:defRPr>
                <a:solidFill>
                  <a:schemeClr val="dk1"/>
                </a:solidFill>
              </a:defRPr>
            </a:lvl6pPr>
            <a:lvl7pPr lvl="6" algn="l">
              <a:spcBef>
                <a:spcPts val="0"/>
              </a:spcBef>
              <a:spcAft>
                <a:spcPts val="0"/>
              </a:spcAft>
              <a:buClr>
                <a:schemeClr val="dk1"/>
              </a:buClr>
              <a:buSzPts val="1400"/>
              <a:buNone/>
              <a:defRPr>
                <a:solidFill>
                  <a:schemeClr val="dk1"/>
                </a:solidFill>
              </a:defRPr>
            </a:lvl7pPr>
            <a:lvl8pPr lvl="7" algn="l">
              <a:spcBef>
                <a:spcPts val="0"/>
              </a:spcBef>
              <a:spcAft>
                <a:spcPts val="0"/>
              </a:spcAft>
              <a:buClr>
                <a:schemeClr val="dk1"/>
              </a:buClr>
              <a:buSzPts val="1400"/>
              <a:buNone/>
              <a:defRPr>
                <a:solidFill>
                  <a:schemeClr val="dk1"/>
                </a:solidFill>
              </a:defRPr>
            </a:lvl8pPr>
            <a:lvl9pPr lvl="8" algn="l">
              <a:spcBef>
                <a:spcPts val="0"/>
              </a:spcBef>
              <a:spcAft>
                <a:spcPts val="0"/>
              </a:spcAft>
              <a:buClr>
                <a:schemeClr val="dk1"/>
              </a:buClr>
              <a:buSzPts val="1400"/>
              <a:buNone/>
              <a:defRPr>
                <a:solidFill>
                  <a:schemeClr val="dk1"/>
                </a:solidFill>
              </a:defRPr>
            </a:lvl9pPr>
          </a:lstStyle>
          <a:p/>
        </p:txBody>
      </p:sp>
      <p:sp>
        <p:nvSpPr>
          <p:cNvPr id="19" name="Google Shape;19;p3"/>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Clr>
                <a:schemeClr val="dk1"/>
              </a:buClr>
              <a:buSzPts val="1260"/>
              <a:buChar char="◈"/>
              <a:defRPr>
                <a:solidFill>
                  <a:schemeClr val="dk1"/>
                </a:solidFill>
              </a:defRPr>
            </a:lvl1pPr>
            <a:lvl2pPr indent="-308610" lvl="1" marL="914400" algn="l">
              <a:spcBef>
                <a:spcPts val="600"/>
              </a:spcBef>
              <a:spcAft>
                <a:spcPts val="0"/>
              </a:spcAft>
              <a:buClr>
                <a:schemeClr val="dk1"/>
              </a:buClr>
              <a:buSzPts val="1260"/>
              <a:buChar char="🞚"/>
              <a:defRPr>
                <a:solidFill>
                  <a:schemeClr val="dk1"/>
                </a:solidFill>
              </a:defRPr>
            </a:lvl2pPr>
            <a:lvl3pPr indent="-308610" lvl="2" marL="1371600" algn="l">
              <a:spcBef>
                <a:spcPts val="600"/>
              </a:spcBef>
              <a:spcAft>
                <a:spcPts val="0"/>
              </a:spcAft>
              <a:buClr>
                <a:schemeClr val="dk1"/>
              </a:buClr>
              <a:buSzPts val="1260"/>
              <a:buChar char="◈"/>
              <a:defRPr>
                <a:solidFill>
                  <a:schemeClr val="dk1"/>
                </a:solidFill>
              </a:defRPr>
            </a:lvl3pPr>
            <a:lvl4pPr indent="-308610" lvl="3" marL="1828800" algn="l">
              <a:spcBef>
                <a:spcPts val="600"/>
              </a:spcBef>
              <a:spcAft>
                <a:spcPts val="0"/>
              </a:spcAft>
              <a:buClr>
                <a:schemeClr val="dk1"/>
              </a:buClr>
              <a:buSzPts val="1260"/>
              <a:buChar char="🞚"/>
              <a:defRPr>
                <a:solidFill>
                  <a:schemeClr val="dk1"/>
                </a:solidFill>
              </a:defRPr>
            </a:lvl4pPr>
            <a:lvl5pPr indent="-308610" lvl="4" marL="2286000" algn="l">
              <a:spcBef>
                <a:spcPts val="600"/>
              </a:spcBef>
              <a:spcAft>
                <a:spcPts val="0"/>
              </a:spcAft>
              <a:buClr>
                <a:schemeClr val="dk1"/>
              </a:buClr>
              <a:buSzPts val="1260"/>
              <a:buChar char="◈"/>
              <a:defRPr>
                <a:solidFill>
                  <a:schemeClr val="dk1"/>
                </a:solidFill>
              </a:defRPr>
            </a:lvl5pPr>
            <a:lvl6pPr indent="-308610" lvl="5" marL="2743200" algn="l">
              <a:spcBef>
                <a:spcPts val="600"/>
              </a:spcBef>
              <a:spcAft>
                <a:spcPts val="0"/>
              </a:spcAft>
              <a:buClr>
                <a:schemeClr val="dk1"/>
              </a:buClr>
              <a:buSzPts val="1260"/>
              <a:buChar char="◈"/>
              <a:defRPr>
                <a:solidFill>
                  <a:schemeClr val="dk1"/>
                </a:solidFill>
              </a:defRPr>
            </a:lvl6pPr>
            <a:lvl7pPr indent="-308610" lvl="6" marL="3200400" algn="l">
              <a:spcBef>
                <a:spcPts val="600"/>
              </a:spcBef>
              <a:spcAft>
                <a:spcPts val="0"/>
              </a:spcAft>
              <a:buClr>
                <a:schemeClr val="dk1"/>
              </a:buClr>
              <a:buSzPts val="1260"/>
              <a:buChar char="◈"/>
              <a:defRPr>
                <a:solidFill>
                  <a:schemeClr val="dk1"/>
                </a:solidFill>
              </a:defRPr>
            </a:lvl7pPr>
            <a:lvl8pPr indent="-308610" lvl="7" marL="3657600" algn="l">
              <a:spcBef>
                <a:spcPts val="600"/>
              </a:spcBef>
              <a:spcAft>
                <a:spcPts val="0"/>
              </a:spcAft>
              <a:buClr>
                <a:schemeClr val="dk1"/>
              </a:buClr>
              <a:buSzPts val="1260"/>
              <a:buChar char="◈"/>
              <a:defRPr>
                <a:solidFill>
                  <a:schemeClr val="dk1"/>
                </a:solidFill>
              </a:defRPr>
            </a:lvl8pPr>
            <a:lvl9pPr indent="-308610" lvl="8" marL="4114800" algn="l">
              <a:spcBef>
                <a:spcPts val="600"/>
              </a:spcBef>
              <a:spcAft>
                <a:spcPts val="600"/>
              </a:spcAft>
              <a:buClr>
                <a:schemeClr val="dk1"/>
              </a:buClr>
              <a:buSzPts val="1260"/>
              <a:buChar char="◈"/>
              <a:defRPr>
                <a:solidFill>
                  <a:schemeClr val="dk1"/>
                </a:solidFill>
              </a:defRPr>
            </a:lvl9pPr>
          </a:lstStyle>
          <a:p/>
        </p:txBody>
      </p:sp>
      <p:sp>
        <p:nvSpPr>
          <p:cNvPr id="20" name="Google Shape;20;p3"/>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Clr>
                <a:schemeClr val="dk1"/>
              </a:buClr>
              <a:buSzPts val="1400"/>
              <a:buNone/>
              <a:defRPr>
                <a:solidFill>
                  <a:schemeClr val="dk1"/>
                </a:solidFill>
              </a:defRPr>
            </a:lvl1pPr>
            <a:lvl2pPr lvl="1" algn="l">
              <a:spcBef>
                <a:spcPts val="0"/>
              </a:spcBef>
              <a:spcAft>
                <a:spcPts val="0"/>
              </a:spcAft>
              <a:buClr>
                <a:schemeClr val="dk1"/>
              </a:buClr>
              <a:buSzPts val="1400"/>
              <a:buNone/>
              <a:defRPr>
                <a:solidFill>
                  <a:schemeClr val="dk1"/>
                </a:solidFill>
              </a:defRPr>
            </a:lvl2pPr>
            <a:lvl3pPr lvl="2" algn="l">
              <a:spcBef>
                <a:spcPts val="0"/>
              </a:spcBef>
              <a:spcAft>
                <a:spcPts val="0"/>
              </a:spcAft>
              <a:buClr>
                <a:schemeClr val="dk1"/>
              </a:buClr>
              <a:buSzPts val="1400"/>
              <a:buNone/>
              <a:defRPr>
                <a:solidFill>
                  <a:schemeClr val="dk1"/>
                </a:solidFill>
              </a:defRPr>
            </a:lvl3pPr>
            <a:lvl4pPr lvl="3" algn="l">
              <a:spcBef>
                <a:spcPts val="0"/>
              </a:spcBef>
              <a:spcAft>
                <a:spcPts val="0"/>
              </a:spcAft>
              <a:buClr>
                <a:schemeClr val="dk1"/>
              </a:buClr>
              <a:buSzPts val="1400"/>
              <a:buNone/>
              <a:defRPr>
                <a:solidFill>
                  <a:schemeClr val="dk1"/>
                </a:solidFill>
              </a:defRPr>
            </a:lvl4pPr>
            <a:lvl5pPr lvl="4" algn="l">
              <a:spcBef>
                <a:spcPts val="0"/>
              </a:spcBef>
              <a:spcAft>
                <a:spcPts val="0"/>
              </a:spcAft>
              <a:buClr>
                <a:schemeClr val="dk1"/>
              </a:buClr>
              <a:buSzPts val="1400"/>
              <a:buNone/>
              <a:defRPr>
                <a:solidFill>
                  <a:schemeClr val="dk1"/>
                </a:solidFill>
              </a:defRPr>
            </a:lvl5pPr>
            <a:lvl6pPr lvl="5" algn="l">
              <a:spcBef>
                <a:spcPts val="0"/>
              </a:spcBef>
              <a:spcAft>
                <a:spcPts val="0"/>
              </a:spcAft>
              <a:buClr>
                <a:schemeClr val="dk1"/>
              </a:buClr>
              <a:buSzPts val="1400"/>
              <a:buNone/>
              <a:defRPr>
                <a:solidFill>
                  <a:schemeClr val="dk1"/>
                </a:solidFill>
              </a:defRPr>
            </a:lvl6pPr>
            <a:lvl7pPr lvl="6" algn="l">
              <a:spcBef>
                <a:spcPts val="0"/>
              </a:spcBef>
              <a:spcAft>
                <a:spcPts val="0"/>
              </a:spcAft>
              <a:buClr>
                <a:schemeClr val="dk1"/>
              </a:buClr>
              <a:buSzPts val="1400"/>
              <a:buNone/>
              <a:defRPr>
                <a:solidFill>
                  <a:schemeClr val="dk1"/>
                </a:solidFill>
              </a:defRPr>
            </a:lvl7pPr>
            <a:lvl8pPr lvl="7" algn="l">
              <a:spcBef>
                <a:spcPts val="0"/>
              </a:spcBef>
              <a:spcAft>
                <a:spcPts val="0"/>
              </a:spcAft>
              <a:buClr>
                <a:schemeClr val="dk1"/>
              </a:buClr>
              <a:buSzPts val="1400"/>
              <a:buNone/>
              <a:defRPr>
                <a:solidFill>
                  <a:schemeClr val="dk1"/>
                </a:solidFill>
              </a:defRPr>
            </a:lvl8pPr>
            <a:lvl9pPr lvl="8" algn="l">
              <a:spcBef>
                <a:spcPts val="0"/>
              </a:spcBef>
              <a:spcAft>
                <a:spcPts val="0"/>
              </a:spcAft>
              <a:buClr>
                <a:schemeClr val="dk1"/>
              </a:buClr>
              <a:buSzPts val="1400"/>
              <a:buNone/>
              <a:defRPr>
                <a:solidFill>
                  <a:schemeClr val="dk1"/>
                </a:solidFill>
              </a:defRPr>
            </a:lvl9pPr>
          </a:lstStyle>
          <a:p/>
        </p:txBody>
      </p:sp>
      <p:sp>
        <p:nvSpPr>
          <p:cNvPr id="21" name="Google Shape;21;p3"/>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1400"/>
              <a:buNone/>
              <a:defRPr>
                <a:solidFill>
                  <a:schemeClr val="dk1"/>
                </a:solidFill>
              </a:defRPr>
            </a:lvl1pPr>
            <a:lvl2pPr lvl="1" algn="l">
              <a:spcBef>
                <a:spcPts val="0"/>
              </a:spcBef>
              <a:spcAft>
                <a:spcPts val="0"/>
              </a:spcAft>
              <a:buClr>
                <a:schemeClr val="dk1"/>
              </a:buClr>
              <a:buSzPts val="1400"/>
              <a:buNone/>
              <a:defRPr>
                <a:solidFill>
                  <a:schemeClr val="dk1"/>
                </a:solidFill>
              </a:defRPr>
            </a:lvl2pPr>
            <a:lvl3pPr lvl="2" algn="l">
              <a:spcBef>
                <a:spcPts val="0"/>
              </a:spcBef>
              <a:spcAft>
                <a:spcPts val="0"/>
              </a:spcAft>
              <a:buClr>
                <a:schemeClr val="dk1"/>
              </a:buClr>
              <a:buSzPts val="1400"/>
              <a:buNone/>
              <a:defRPr>
                <a:solidFill>
                  <a:schemeClr val="dk1"/>
                </a:solidFill>
              </a:defRPr>
            </a:lvl3pPr>
            <a:lvl4pPr lvl="3" algn="l">
              <a:spcBef>
                <a:spcPts val="0"/>
              </a:spcBef>
              <a:spcAft>
                <a:spcPts val="0"/>
              </a:spcAft>
              <a:buClr>
                <a:schemeClr val="dk1"/>
              </a:buClr>
              <a:buSzPts val="1400"/>
              <a:buNone/>
              <a:defRPr>
                <a:solidFill>
                  <a:schemeClr val="dk1"/>
                </a:solidFill>
              </a:defRPr>
            </a:lvl4pPr>
            <a:lvl5pPr lvl="4" algn="l">
              <a:spcBef>
                <a:spcPts val="0"/>
              </a:spcBef>
              <a:spcAft>
                <a:spcPts val="0"/>
              </a:spcAft>
              <a:buClr>
                <a:schemeClr val="dk1"/>
              </a:buClr>
              <a:buSzPts val="1400"/>
              <a:buNone/>
              <a:defRPr>
                <a:solidFill>
                  <a:schemeClr val="dk1"/>
                </a:solidFill>
              </a:defRPr>
            </a:lvl5pPr>
            <a:lvl6pPr lvl="5" algn="l">
              <a:spcBef>
                <a:spcPts val="0"/>
              </a:spcBef>
              <a:spcAft>
                <a:spcPts val="0"/>
              </a:spcAft>
              <a:buClr>
                <a:schemeClr val="dk1"/>
              </a:buClr>
              <a:buSzPts val="1400"/>
              <a:buNone/>
              <a:defRPr>
                <a:solidFill>
                  <a:schemeClr val="dk1"/>
                </a:solidFill>
              </a:defRPr>
            </a:lvl6pPr>
            <a:lvl7pPr lvl="6" algn="l">
              <a:spcBef>
                <a:spcPts val="0"/>
              </a:spcBef>
              <a:spcAft>
                <a:spcPts val="0"/>
              </a:spcAft>
              <a:buClr>
                <a:schemeClr val="dk1"/>
              </a:buClr>
              <a:buSzPts val="1400"/>
              <a:buNone/>
              <a:defRPr>
                <a:solidFill>
                  <a:schemeClr val="dk1"/>
                </a:solidFill>
              </a:defRPr>
            </a:lvl7pPr>
            <a:lvl8pPr lvl="7" algn="l">
              <a:spcBef>
                <a:spcPts val="0"/>
              </a:spcBef>
              <a:spcAft>
                <a:spcPts val="0"/>
              </a:spcAft>
              <a:buClr>
                <a:schemeClr val="dk1"/>
              </a:buClr>
              <a:buSzPts val="1400"/>
              <a:buNone/>
              <a:defRPr>
                <a:solidFill>
                  <a:schemeClr val="dk1"/>
                </a:solidFill>
              </a:defRPr>
            </a:lvl8pPr>
            <a:lvl9pPr lvl="8" algn="l">
              <a:spcBef>
                <a:spcPts val="0"/>
              </a:spcBef>
              <a:spcAft>
                <a:spcPts val="0"/>
              </a:spcAft>
              <a:buClr>
                <a:schemeClr val="dk1"/>
              </a:buClr>
              <a:buSzPts val="1400"/>
              <a:buNone/>
              <a:defRPr>
                <a:solidFill>
                  <a:schemeClr val="dk1"/>
                </a:solidFill>
              </a:defRPr>
            </a:lvl9pPr>
          </a:lstStyle>
          <a:p/>
        </p:txBody>
      </p:sp>
      <p:sp>
        <p:nvSpPr>
          <p:cNvPr id="22" name="Google Shape;22;p3"/>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chemeClr val="dk1"/>
                </a:solidFill>
              </a:defRPr>
            </a:lvl1pPr>
            <a:lvl2pPr indent="0" lvl="1" marL="0" algn="r">
              <a:spcBef>
                <a:spcPts val="0"/>
              </a:spcBef>
              <a:buNone/>
              <a:defRPr>
                <a:solidFill>
                  <a:schemeClr val="dk1"/>
                </a:solidFill>
              </a:defRPr>
            </a:lvl2pPr>
            <a:lvl3pPr indent="0" lvl="2" marL="0" algn="r">
              <a:spcBef>
                <a:spcPts val="0"/>
              </a:spcBef>
              <a:buNone/>
              <a:defRPr>
                <a:solidFill>
                  <a:schemeClr val="dk1"/>
                </a:solidFill>
              </a:defRPr>
            </a:lvl3pPr>
            <a:lvl4pPr indent="0" lvl="3" marL="0" algn="r">
              <a:spcBef>
                <a:spcPts val="0"/>
              </a:spcBef>
              <a:buNone/>
              <a:defRPr>
                <a:solidFill>
                  <a:schemeClr val="dk1"/>
                </a:solidFill>
              </a:defRPr>
            </a:lvl4pPr>
            <a:lvl5pPr indent="0" lvl="4" marL="0" algn="r">
              <a:spcBef>
                <a:spcPts val="0"/>
              </a:spcBef>
              <a:buNone/>
              <a:defRPr>
                <a:solidFill>
                  <a:schemeClr val="dk1"/>
                </a:solidFill>
              </a:defRPr>
            </a:lvl5pPr>
            <a:lvl6pPr indent="0" lvl="5" marL="0" algn="r">
              <a:spcBef>
                <a:spcPts val="0"/>
              </a:spcBef>
              <a:buNone/>
              <a:defRPr>
                <a:solidFill>
                  <a:schemeClr val="dk1"/>
                </a:solidFill>
              </a:defRPr>
            </a:lvl6pPr>
            <a:lvl7pPr indent="0" lvl="6" marL="0" algn="r">
              <a:spcBef>
                <a:spcPts val="0"/>
              </a:spcBef>
              <a:buNone/>
              <a:defRPr>
                <a:solidFill>
                  <a:schemeClr val="dk1"/>
                </a:solidFill>
              </a:defRPr>
            </a:lvl7pPr>
            <a:lvl8pPr indent="0" lvl="7" marL="0" algn="r">
              <a:spcBef>
                <a:spcPts val="0"/>
              </a:spcBef>
              <a:buNone/>
              <a:defRPr>
                <a:solidFill>
                  <a:schemeClr val="dk1"/>
                </a:solidFill>
              </a:defRPr>
            </a:lvl8pPr>
            <a:lvl9pPr indent="0" lvl="8" marL="0" algn="r">
              <a:spcBef>
                <a:spcPts val="0"/>
              </a:spcBef>
              <a:buNone/>
              <a:defRPr>
                <a:solidFill>
                  <a:schemeClr val="dk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1295401" y="1761067"/>
            <a:ext cx="9590550" cy="1828813"/>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spcBef>
                <a:spcPts val="0"/>
              </a:spcBef>
              <a:spcAft>
                <a:spcPts val="0"/>
              </a:spcAft>
              <a:buClr>
                <a:schemeClr val="dk1"/>
              </a:buClr>
              <a:buSzPts val="4000"/>
              <a:buFont typeface="Lustria"/>
              <a:buNone/>
              <a:defRPr b="0" sz="40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 type="body"/>
          </p:nvPr>
        </p:nvSpPr>
        <p:spPr>
          <a:xfrm>
            <a:off x="1295401" y="3589879"/>
            <a:ext cx="9590550" cy="150705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400"/>
              </a:spcBef>
              <a:spcAft>
                <a:spcPts val="0"/>
              </a:spcAft>
              <a:buClr>
                <a:schemeClr val="dk1"/>
              </a:buClr>
              <a:buSzPts val="1400"/>
              <a:buNone/>
              <a:defRPr sz="2000">
                <a:solidFill>
                  <a:schemeClr val="dk1"/>
                </a:solidFill>
              </a:defRPr>
            </a:lvl1pPr>
            <a:lvl2pPr indent="-228600" lvl="1" marL="914400" algn="l">
              <a:spcBef>
                <a:spcPts val="600"/>
              </a:spcBef>
              <a:spcAft>
                <a:spcPts val="0"/>
              </a:spcAft>
              <a:buClr>
                <a:schemeClr val="dk1"/>
              </a:buClr>
              <a:buSzPts val="1260"/>
              <a:buNone/>
              <a:defRPr sz="1800">
                <a:solidFill>
                  <a:schemeClr val="dk1"/>
                </a:solidFill>
              </a:defRPr>
            </a:lvl2pPr>
            <a:lvl3pPr indent="-228600" lvl="2" marL="1371600" algn="l">
              <a:spcBef>
                <a:spcPts val="600"/>
              </a:spcBef>
              <a:spcAft>
                <a:spcPts val="0"/>
              </a:spcAft>
              <a:buClr>
                <a:schemeClr val="dk1"/>
              </a:buClr>
              <a:buSzPts val="1120"/>
              <a:buNone/>
              <a:defRPr sz="1600">
                <a:solidFill>
                  <a:schemeClr val="dk1"/>
                </a:solidFill>
              </a:defRPr>
            </a:lvl3pPr>
            <a:lvl4pPr indent="-228600" lvl="3" marL="1828800" algn="l">
              <a:spcBef>
                <a:spcPts val="600"/>
              </a:spcBef>
              <a:spcAft>
                <a:spcPts val="0"/>
              </a:spcAft>
              <a:buClr>
                <a:schemeClr val="dk1"/>
              </a:buClr>
              <a:buSzPts val="980"/>
              <a:buNone/>
              <a:defRPr sz="1400">
                <a:solidFill>
                  <a:schemeClr val="dk1"/>
                </a:solidFill>
              </a:defRPr>
            </a:lvl4pPr>
            <a:lvl5pPr indent="-228600" lvl="4" marL="2286000" algn="l">
              <a:spcBef>
                <a:spcPts val="600"/>
              </a:spcBef>
              <a:spcAft>
                <a:spcPts val="0"/>
              </a:spcAft>
              <a:buClr>
                <a:schemeClr val="dk1"/>
              </a:buClr>
              <a:buSzPts val="980"/>
              <a:buNone/>
              <a:defRPr sz="1400">
                <a:solidFill>
                  <a:schemeClr val="dk1"/>
                </a:solidFill>
              </a:defRPr>
            </a:lvl5pPr>
            <a:lvl6pPr indent="-228600" lvl="5" marL="2743200" algn="l">
              <a:spcBef>
                <a:spcPts val="600"/>
              </a:spcBef>
              <a:spcAft>
                <a:spcPts val="0"/>
              </a:spcAft>
              <a:buClr>
                <a:schemeClr val="dk1"/>
              </a:buClr>
              <a:buSzPts val="980"/>
              <a:buNone/>
              <a:defRPr sz="1400">
                <a:solidFill>
                  <a:schemeClr val="dk1"/>
                </a:solidFill>
              </a:defRPr>
            </a:lvl6pPr>
            <a:lvl7pPr indent="-228600" lvl="6" marL="3200400" algn="l">
              <a:spcBef>
                <a:spcPts val="600"/>
              </a:spcBef>
              <a:spcAft>
                <a:spcPts val="0"/>
              </a:spcAft>
              <a:buClr>
                <a:schemeClr val="dk1"/>
              </a:buClr>
              <a:buSzPts val="980"/>
              <a:buNone/>
              <a:defRPr sz="1400">
                <a:solidFill>
                  <a:schemeClr val="dk1"/>
                </a:solidFill>
              </a:defRPr>
            </a:lvl7pPr>
            <a:lvl8pPr indent="-228600" lvl="7" marL="3657600" algn="l">
              <a:spcBef>
                <a:spcPts val="600"/>
              </a:spcBef>
              <a:spcAft>
                <a:spcPts val="0"/>
              </a:spcAft>
              <a:buClr>
                <a:schemeClr val="dk1"/>
              </a:buClr>
              <a:buSzPts val="980"/>
              <a:buNone/>
              <a:defRPr sz="1400">
                <a:solidFill>
                  <a:schemeClr val="dk1"/>
                </a:solidFill>
              </a:defRPr>
            </a:lvl8pPr>
            <a:lvl9pPr indent="-228600" lvl="8" marL="4114800" algn="l">
              <a:spcBef>
                <a:spcPts val="600"/>
              </a:spcBef>
              <a:spcAft>
                <a:spcPts val="600"/>
              </a:spcAft>
              <a:buClr>
                <a:schemeClr val="dk1"/>
              </a:buClr>
              <a:buSzPts val="980"/>
              <a:buNone/>
              <a:defRPr sz="1400">
                <a:solidFill>
                  <a:schemeClr val="dk1"/>
                </a:solidFill>
              </a:defRPr>
            </a:lvl9pPr>
          </a:lstStyle>
          <a:p/>
        </p:txBody>
      </p:sp>
      <p:sp>
        <p:nvSpPr>
          <p:cNvPr id="26" name="Google Shape;26;p4"/>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Clr>
                <a:schemeClr val="dk1"/>
              </a:buClr>
              <a:buSzPts val="1400"/>
              <a:buNone/>
              <a:defRPr>
                <a:solidFill>
                  <a:schemeClr val="dk1"/>
                </a:solidFill>
              </a:defRPr>
            </a:lvl1pPr>
            <a:lvl2pPr lvl="1" algn="l">
              <a:spcBef>
                <a:spcPts val="0"/>
              </a:spcBef>
              <a:spcAft>
                <a:spcPts val="0"/>
              </a:spcAft>
              <a:buClr>
                <a:schemeClr val="dk1"/>
              </a:buClr>
              <a:buSzPts val="1400"/>
              <a:buNone/>
              <a:defRPr>
                <a:solidFill>
                  <a:schemeClr val="dk1"/>
                </a:solidFill>
              </a:defRPr>
            </a:lvl2pPr>
            <a:lvl3pPr lvl="2" algn="l">
              <a:spcBef>
                <a:spcPts val="0"/>
              </a:spcBef>
              <a:spcAft>
                <a:spcPts val="0"/>
              </a:spcAft>
              <a:buClr>
                <a:schemeClr val="dk1"/>
              </a:buClr>
              <a:buSzPts val="1400"/>
              <a:buNone/>
              <a:defRPr>
                <a:solidFill>
                  <a:schemeClr val="dk1"/>
                </a:solidFill>
              </a:defRPr>
            </a:lvl3pPr>
            <a:lvl4pPr lvl="3" algn="l">
              <a:spcBef>
                <a:spcPts val="0"/>
              </a:spcBef>
              <a:spcAft>
                <a:spcPts val="0"/>
              </a:spcAft>
              <a:buClr>
                <a:schemeClr val="dk1"/>
              </a:buClr>
              <a:buSzPts val="1400"/>
              <a:buNone/>
              <a:defRPr>
                <a:solidFill>
                  <a:schemeClr val="dk1"/>
                </a:solidFill>
              </a:defRPr>
            </a:lvl4pPr>
            <a:lvl5pPr lvl="4" algn="l">
              <a:spcBef>
                <a:spcPts val="0"/>
              </a:spcBef>
              <a:spcAft>
                <a:spcPts val="0"/>
              </a:spcAft>
              <a:buClr>
                <a:schemeClr val="dk1"/>
              </a:buClr>
              <a:buSzPts val="1400"/>
              <a:buNone/>
              <a:defRPr>
                <a:solidFill>
                  <a:schemeClr val="dk1"/>
                </a:solidFill>
              </a:defRPr>
            </a:lvl5pPr>
            <a:lvl6pPr lvl="5" algn="l">
              <a:spcBef>
                <a:spcPts val="0"/>
              </a:spcBef>
              <a:spcAft>
                <a:spcPts val="0"/>
              </a:spcAft>
              <a:buClr>
                <a:schemeClr val="dk1"/>
              </a:buClr>
              <a:buSzPts val="1400"/>
              <a:buNone/>
              <a:defRPr>
                <a:solidFill>
                  <a:schemeClr val="dk1"/>
                </a:solidFill>
              </a:defRPr>
            </a:lvl6pPr>
            <a:lvl7pPr lvl="6" algn="l">
              <a:spcBef>
                <a:spcPts val="0"/>
              </a:spcBef>
              <a:spcAft>
                <a:spcPts val="0"/>
              </a:spcAft>
              <a:buClr>
                <a:schemeClr val="dk1"/>
              </a:buClr>
              <a:buSzPts val="1400"/>
              <a:buNone/>
              <a:defRPr>
                <a:solidFill>
                  <a:schemeClr val="dk1"/>
                </a:solidFill>
              </a:defRPr>
            </a:lvl7pPr>
            <a:lvl8pPr lvl="7" algn="l">
              <a:spcBef>
                <a:spcPts val="0"/>
              </a:spcBef>
              <a:spcAft>
                <a:spcPts val="0"/>
              </a:spcAft>
              <a:buClr>
                <a:schemeClr val="dk1"/>
              </a:buClr>
              <a:buSzPts val="1400"/>
              <a:buNone/>
              <a:defRPr>
                <a:solidFill>
                  <a:schemeClr val="dk1"/>
                </a:solidFill>
              </a:defRPr>
            </a:lvl8pPr>
            <a:lvl9pPr lvl="8" algn="l">
              <a:spcBef>
                <a:spcPts val="0"/>
              </a:spcBef>
              <a:spcAft>
                <a:spcPts val="0"/>
              </a:spcAft>
              <a:buClr>
                <a:schemeClr val="dk1"/>
              </a:buClr>
              <a:buSzPts val="1400"/>
              <a:buNone/>
              <a:defRPr>
                <a:solidFill>
                  <a:schemeClr val="dk1"/>
                </a:solidFill>
              </a:defRPr>
            </a:lvl9pPr>
          </a:lstStyle>
          <a:p/>
        </p:txBody>
      </p:sp>
      <p:sp>
        <p:nvSpPr>
          <p:cNvPr id="27" name="Google Shape;27;p4"/>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1400"/>
              <a:buNone/>
              <a:defRPr>
                <a:solidFill>
                  <a:schemeClr val="dk1"/>
                </a:solidFill>
              </a:defRPr>
            </a:lvl1pPr>
            <a:lvl2pPr lvl="1" algn="l">
              <a:spcBef>
                <a:spcPts val="0"/>
              </a:spcBef>
              <a:spcAft>
                <a:spcPts val="0"/>
              </a:spcAft>
              <a:buClr>
                <a:schemeClr val="dk1"/>
              </a:buClr>
              <a:buSzPts val="1400"/>
              <a:buNone/>
              <a:defRPr>
                <a:solidFill>
                  <a:schemeClr val="dk1"/>
                </a:solidFill>
              </a:defRPr>
            </a:lvl2pPr>
            <a:lvl3pPr lvl="2" algn="l">
              <a:spcBef>
                <a:spcPts val="0"/>
              </a:spcBef>
              <a:spcAft>
                <a:spcPts val="0"/>
              </a:spcAft>
              <a:buClr>
                <a:schemeClr val="dk1"/>
              </a:buClr>
              <a:buSzPts val="1400"/>
              <a:buNone/>
              <a:defRPr>
                <a:solidFill>
                  <a:schemeClr val="dk1"/>
                </a:solidFill>
              </a:defRPr>
            </a:lvl3pPr>
            <a:lvl4pPr lvl="3" algn="l">
              <a:spcBef>
                <a:spcPts val="0"/>
              </a:spcBef>
              <a:spcAft>
                <a:spcPts val="0"/>
              </a:spcAft>
              <a:buClr>
                <a:schemeClr val="dk1"/>
              </a:buClr>
              <a:buSzPts val="1400"/>
              <a:buNone/>
              <a:defRPr>
                <a:solidFill>
                  <a:schemeClr val="dk1"/>
                </a:solidFill>
              </a:defRPr>
            </a:lvl4pPr>
            <a:lvl5pPr lvl="4" algn="l">
              <a:spcBef>
                <a:spcPts val="0"/>
              </a:spcBef>
              <a:spcAft>
                <a:spcPts val="0"/>
              </a:spcAft>
              <a:buClr>
                <a:schemeClr val="dk1"/>
              </a:buClr>
              <a:buSzPts val="1400"/>
              <a:buNone/>
              <a:defRPr>
                <a:solidFill>
                  <a:schemeClr val="dk1"/>
                </a:solidFill>
              </a:defRPr>
            </a:lvl5pPr>
            <a:lvl6pPr lvl="5" algn="l">
              <a:spcBef>
                <a:spcPts val="0"/>
              </a:spcBef>
              <a:spcAft>
                <a:spcPts val="0"/>
              </a:spcAft>
              <a:buClr>
                <a:schemeClr val="dk1"/>
              </a:buClr>
              <a:buSzPts val="1400"/>
              <a:buNone/>
              <a:defRPr>
                <a:solidFill>
                  <a:schemeClr val="dk1"/>
                </a:solidFill>
              </a:defRPr>
            </a:lvl6pPr>
            <a:lvl7pPr lvl="6" algn="l">
              <a:spcBef>
                <a:spcPts val="0"/>
              </a:spcBef>
              <a:spcAft>
                <a:spcPts val="0"/>
              </a:spcAft>
              <a:buClr>
                <a:schemeClr val="dk1"/>
              </a:buClr>
              <a:buSzPts val="1400"/>
              <a:buNone/>
              <a:defRPr>
                <a:solidFill>
                  <a:schemeClr val="dk1"/>
                </a:solidFill>
              </a:defRPr>
            </a:lvl7pPr>
            <a:lvl8pPr lvl="7" algn="l">
              <a:spcBef>
                <a:spcPts val="0"/>
              </a:spcBef>
              <a:spcAft>
                <a:spcPts val="0"/>
              </a:spcAft>
              <a:buClr>
                <a:schemeClr val="dk1"/>
              </a:buClr>
              <a:buSzPts val="1400"/>
              <a:buNone/>
              <a:defRPr>
                <a:solidFill>
                  <a:schemeClr val="dk1"/>
                </a:solidFill>
              </a:defRPr>
            </a:lvl8pPr>
            <a:lvl9pPr lvl="8" algn="l">
              <a:spcBef>
                <a:spcPts val="0"/>
              </a:spcBef>
              <a:spcAft>
                <a:spcPts val="0"/>
              </a:spcAft>
              <a:buClr>
                <a:schemeClr val="dk1"/>
              </a:buClr>
              <a:buSzPts val="1400"/>
              <a:buNone/>
              <a:defRPr>
                <a:solidFill>
                  <a:schemeClr val="dk1"/>
                </a:solidFill>
              </a:defRPr>
            </a:lvl9pPr>
          </a:lstStyle>
          <a:p/>
        </p:txBody>
      </p:sp>
      <p:sp>
        <p:nvSpPr>
          <p:cNvPr id="28" name="Google Shape;28;p4"/>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chemeClr val="dk1"/>
                </a:solidFill>
              </a:defRPr>
            </a:lvl1pPr>
            <a:lvl2pPr indent="0" lvl="1" marL="0" algn="r">
              <a:spcBef>
                <a:spcPts val="0"/>
              </a:spcBef>
              <a:buNone/>
              <a:defRPr>
                <a:solidFill>
                  <a:schemeClr val="dk1"/>
                </a:solidFill>
              </a:defRPr>
            </a:lvl2pPr>
            <a:lvl3pPr indent="0" lvl="2" marL="0" algn="r">
              <a:spcBef>
                <a:spcPts val="0"/>
              </a:spcBef>
              <a:buNone/>
              <a:defRPr>
                <a:solidFill>
                  <a:schemeClr val="dk1"/>
                </a:solidFill>
              </a:defRPr>
            </a:lvl3pPr>
            <a:lvl4pPr indent="0" lvl="3" marL="0" algn="r">
              <a:spcBef>
                <a:spcPts val="0"/>
              </a:spcBef>
              <a:buNone/>
              <a:defRPr>
                <a:solidFill>
                  <a:schemeClr val="dk1"/>
                </a:solidFill>
              </a:defRPr>
            </a:lvl4pPr>
            <a:lvl5pPr indent="0" lvl="4" marL="0" algn="r">
              <a:spcBef>
                <a:spcPts val="0"/>
              </a:spcBef>
              <a:buNone/>
              <a:defRPr>
                <a:solidFill>
                  <a:schemeClr val="dk1"/>
                </a:solidFill>
              </a:defRPr>
            </a:lvl5pPr>
            <a:lvl6pPr indent="0" lvl="5" marL="0" algn="r">
              <a:spcBef>
                <a:spcPts val="0"/>
              </a:spcBef>
              <a:buNone/>
              <a:defRPr>
                <a:solidFill>
                  <a:schemeClr val="dk1"/>
                </a:solidFill>
              </a:defRPr>
            </a:lvl6pPr>
            <a:lvl7pPr indent="0" lvl="6" marL="0" algn="r">
              <a:spcBef>
                <a:spcPts val="0"/>
              </a:spcBef>
              <a:buNone/>
              <a:defRPr>
                <a:solidFill>
                  <a:schemeClr val="dk1"/>
                </a:solidFill>
              </a:defRPr>
            </a:lvl7pPr>
            <a:lvl8pPr indent="0" lvl="7" marL="0" algn="r">
              <a:spcBef>
                <a:spcPts val="0"/>
              </a:spcBef>
              <a:buNone/>
              <a:defRPr>
                <a:solidFill>
                  <a:schemeClr val="dk1"/>
                </a:solidFill>
              </a:defRPr>
            </a:lvl8pPr>
            <a:lvl9pPr indent="0" lvl="8" marL="0" algn="r">
              <a:spcBef>
                <a:spcPts val="0"/>
              </a:spcBef>
              <a:buNone/>
              <a:defRPr>
                <a:solidFill>
                  <a:schemeClr val="dk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 type="body"/>
          </p:nvPr>
        </p:nvSpPr>
        <p:spPr>
          <a:xfrm>
            <a:off x="913795" y="1732449"/>
            <a:ext cx="5060497" cy="405875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32" name="Google Shape;32;p5"/>
          <p:cNvSpPr txBox="1"/>
          <p:nvPr>
            <p:ph idx="2" type="body"/>
          </p:nvPr>
        </p:nvSpPr>
        <p:spPr>
          <a:xfrm>
            <a:off x="6202892" y="1732449"/>
            <a:ext cx="5064665"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33" name="Google Shape;33;p5"/>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pic>
        <p:nvPicPr>
          <p:cNvPr descr="Slate-V2-HD-compPhotoInset.png" id="37" name="Google Shape;37;p6"/>
          <p:cNvPicPr preferRelativeResize="0"/>
          <p:nvPr/>
        </p:nvPicPr>
        <p:blipFill rotWithShape="1">
          <a:blip r:embed="rId2">
            <a:alphaModFix/>
          </a:blip>
          <a:srcRect b="0" l="0" r="0" t="0"/>
          <a:stretch/>
        </p:blipFill>
        <p:spPr>
          <a:xfrm>
            <a:off x="913795" y="1734506"/>
            <a:ext cx="5089072" cy="4148769"/>
          </a:xfrm>
          <a:prstGeom prst="rect">
            <a:avLst/>
          </a:prstGeom>
          <a:noFill/>
          <a:ln>
            <a:noFill/>
          </a:ln>
        </p:spPr>
      </p:pic>
      <p:pic>
        <p:nvPicPr>
          <p:cNvPr descr="Slate-V2-HD-compPhotoInset.png" id="38" name="Google Shape;38;p6"/>
          <p:cNvPicPr preferRelativeResize="0"/>
          <p:nvPr/>
        </p:nvPicPr>
        <p:blipFill rotWithShape="1">
          <a:blip r:embed="rId2">
            <a:alphaModFix/>
          </a:blip>
          <a:srcRect b="0" l="0" r="0" t="0"/>
          <a:stretch/>
        </p:blipFill>
        <p:spPr>
          <a:xfrm>
            <a:off x="6178485" y="1734506"/>
            <a:ext cx="5089072" cy="4148769"/>
          </a:xfrm>
          <a:prstGeom prst="rect">
            <a:avLst/>
          </a:prstGeom>
          <a:noFill/>
          <a:ln>
            <a:noFill/>
          </a:ln>
        </p:spPr>
      </p:pic>
      <p:sp>
        <p:nvSpPr>
          <p:cNvPr id="39" name="Google Shape;39;p6"/>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4000"/>
              <a:buFont typeface="Lustria"/>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p:nvPr>
            <p:ph idx="1" type="body"/>
          </p:nvPr>
        </p:nvSpPr>
        <p:spPr>
          <a:xfrm>
            <a:off x="1005872" y="1835254"/>
            <a:ext cx="4876344" cy="544884"/>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80"/>
              </a:spcBef>
              <a:spcAft>
                <a:spcPts val="0"/>
              </a:spcAft>
              <a:buSzPts val="1680"/>
              <a:buNone/>
              <a:defRPr b="0" sz="2400"/>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41" name="Google Shape;41;p6"/>
          <p:cNvSpPr txBox="1"/>
          <p:nvPr>
            <p:ph idx="2" type="body"/>
          </p:nvPr>
        </p:nvSpPr>
        <p:spPr>
          <a:xfrm>
            <a:off x="1005872" y="2380137"/>
            <a:ext cx="4876344" cy="341106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sz="1800"/>
            </a:lvl1pPr>
            <a:lvl2pPr indent="-299720" lvl="1" marL="914400" algn="l">
              <a:spcBef>
                <a:spcPts val="600"/>
              </a:spcBef>
              <a:spcAft>
                <a:spcPts val="0"/>
              </a:spcAft>
              <a:buSzPts val="1120"/>
              <a:buChar char="🞚"/>
              <a:defRPr sz="1600"/>
            </a:lvl2pPr>
            <a:lvl3pPr indent="-290830" lvl="2" marL="1371600" algn="l">
              <a:spcBef>
                <a:spcPts val="600"/>
              </a:spcBef>
              <a:spcAft>
                <a:spcPts val="0"/>
              </a:spcAft>
              <a:buSzPts val="980"/>
              <a:buChar char="◈"/>
              <a:defRPr sz="1400"/>
            </a:lvl3pPr>
            <a:lvl4pPr indent="-281940" lvl="3" marL="1828800" algn="l">
              <a:spcBef>
                <a:spcPts val="600"/>
              </a:spcBef>
              <a:spcAft>
                <a:spcPts val="0"/>
              </a:spcAft>
              <a:buSzPts val="840"/>
              <a:buChar char="🞚"/>
              <a:defRPr sz="1200"/>
            </a:lvl4pPr>
            <a:lvl5pPr indent="-281940" lvl="4" marL="2286000" algn="l">
              <a:spcBef>
                <a:spcPts val="600"/>
              </a:spcBef>
              <a:spcAft>
                <a:spcPts val="0"/>
              </a:spcAft>
              <a:buSzPts val="840"/>
              <a:buChar char="◈"/>
              <a:defRPr sz="1200"/>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42" name="Google Shape;42;p6"/>
          <p:cNvSpPr txBox="1"/>
          <p:nvPr>
            <p:ph idx="3" type="body"/>
          </p:nvPr>
        </p:nvSpPr>
        <p:spPr>
          <a:xfrm>
            <a:off x="6294967" y="1835254"/>
            <a:ext cx="4895330" cy="544883"/>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80"/>
              </a:spcBef>
              <a:spcAft>
                <a:spcPts val="0"/>
              </a:spcAft>
              <a:buSzPts val="1680"/>
              <a:buNone/>
              <a:defRPr b="0" sz="2400"/>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43" name="Google Shape;43;p6"/>
          <p:cNvSpPr txBox="1"/>
          <p:nvPr>
            <p:ph idx="4" type="body"/>
          </p:nvPr>
        </p:nvSpPr>
        <p:spPr>
          <a:xfrm>
            <a:off x="6294967" y="2380137"/>
            <a:ext cx="4895330" cy="341106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sz="1800"/>
            </a:lvl1pPr>
            <a:lvl2pPr indent="-299720" lvl="1" marL="914400" algn="l">
              <a:spcBef>
                <a:spcPts val="600"/>
              </a:spcBef>
              <a:spcAft>
                <a:spcPts val="0"/>
              </a:spcAft>
              <a:buSzPts val="1120"/>
              <a:buChar char="🞚"/>
              <a:defRPr sz="1600"/>
            </a:lvl2pPr>
            <a:lvl3pPr indent="-290830" lvl="2" marL="1371600" algn="l">
              <a:spcBef>
                <a:spcPts val="600"/>
              </a:spcBef>
              <a:spcAft>
                <a:spcPts val="0"/>
              </a:spcAft>
              <a:buSzPts val="980"/>
              <a:buChar char="◈"/>
              <a:defRPr sz="1400"/>
            </a:lvl3pPr>
            <a:lvl4pPr indent="-281940" lvl="3" marL="1828800" algn="l">
              <a:spcBef>
                <a:spcPts val="600"/>
              </a:spcBef>
              <a:spcAft>
                <a:spcPts val="0"/>
              </a:spcAft>
              <a:buSzPts val="840"/>
              <a:buChar char="🞚"/>
              <a:defRPr sz="1200"/>
            </a:lvl4pPr>
            <a:lvl5pPr indent="-281940" lvl="4" marL="2286000" algn="l">
              <a:spcBef>
                <a:spcPts val="600"/>
              </a:spcBef>
              <a:spcAft>
                <a:spcPts val="0"/>
              </a:spcAft>
              <a:buSzPts val="840"/>
              <a:buChar char="◈"/>
              <a:defRPr sz="1200"/>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44" name="Google Shape;44;p6"/>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6"/>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7"/>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7"/>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8"/>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8"/>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8"/>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6" name="Shape 56"/>
        <p:cNvGrpSpPr/>
        <p:nvPr/>
      </p:nvGrpSpPr>
      <p:grpSpPr>
        <a:xfrm>
          <a:off x="0" y="0"/>
          <a:ext cx="0" cy="0"/>
          <a:chOff x="0" y="0"/>
          <a:chExt cx="0" cy="0"/>
        </a:xfrm>
      </p:grpSpPr>
      <p:sp>
        <p:nvSpPr>
          <p:cNvPr id="57" name="Google Shape;57;p9"/>
          <p:cNvSpPr txBox="1"/>
          <p:nvPr>
            <p:ph type="title"/>
          </p:nvPr>
        </p:nvSpPr>
        <p:spPr>
          <a:xfrm>
            <a:off x="913795" y="609600"/>
            <a:ext cx="3706889" cy="1821918"/>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spcBef>
                <a:spcPts val="0"/>
              </a:spcBef>
              <a:spcAft>
                <a:spcPts val="0"/>
              </a:spcAft>
              <a:buClr>
                <a:schemeClr val="lt2"/>
              </a:buClr>
              <a:buSzPts val="2400"/>
              <a:buFont typeface="Lustria"/>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9"/>
          <p:cNvSpPr txBox="1"/>
          <p:nvPr>
            <p:ph idx="1" type="body"/>
          </p:nvPr>
        </p:nvSpPr>
        <p:spPr>
          <a:xfrm>
            <a:off x="4855633" y="609600"/>
            <a:ext cx="6411924" cy="518160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59" name="Google Shape;59;p9"/>
          <p:cNvSpPr txBox="1"/>
          <p:nvPr>
            <p:ph idx="2" type="body"/>
          </p:nvPr>
        </p:nvSpPr>
        <p:spPr>
          <a:xfrm>
            <a:off x="913795" y="2431518"/>
            <a:ext cx="3706889" cy="335968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60" name="Google Shape;60;p9"/>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9"/>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9"/>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3" name="Shape 63"/>
        <p:cNvGrpSpPr/>
        <p:nvPr/>
      </p:nvGrpSpPr>
      <p:grpSpPr>
        <a:xfrm>
          <a:off x="0" y="0"/>
          <a:ext cx="0" cy="0"/>
          <a:chOff x="0" y="0"/>
          <a:chExt cx="0" cy="0"/>
        </a:xfrm>
      </p:grpSpPr>
      <p:pic>
        <p:nvPicPr>
          <p:cNvPr descr="Slate-V2-HD-vertPhotoInset.png" id="64" name="Google Shape;64;p10"/>
          <p:cNvPicPr preferRelativeResize="0"/>
          <p:nvPr/>
        </p:nvPicPr>
        <p:blipFill rotWithShape="1">
          <a:blip r:embed="rId2">
            <a:alphaModFix/>
          </a:blip>
          <a:srcRect b="0" l="0" r="0" t="0"/>
          <a:stretch/>
        </p:blipFill>
        <p:spPr>
          <a:xfrm>
            <a:off x="7293665" y="609600"/>
            <a:ext cx="3584166" cy="5204832"/>
          </a:xfrm>
          <a:prstGeom prst="rect">
            <a:avLst/>
          </a:prstGeom>
          <a:noFill/>
          <a:ln>
            <a:noFill/>
          </a:ln>
        </p:spPr>
      </p:pic>
      <p:sp>
        <p:nvSpPr>
          <p:cNvPr id="65" name="Google Shape;65;p10"/>
          <p:cNvSpPr txBox="1"/>
          <p:nvPr>
            <p:ph type="title"/>
          </p:nvPr>
        </p:nvSpPr>
        <p:spPr>
          <a:xfrm>
            <a:off x="913795" y="609923"/>
            <a:ext cx="5934949" cy="1829338"/>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lvl="0" algn="ctr">
              <a:spcBef>
                <a:spcPts val="0"/>
              </a:spcBef>
              <a:spcAft>
                <a:spcPts val="0"/>
              </a:spcAft>
              <a:buClr>
                <a:schemeClr val="lt2"/>
              </a:buClr>
              <a:buSzPts val="3200"/>
              <a:buFont typeface="Lustria"/>
              <a:buNone/>
              <a:defRPr b="0"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p:nvPr>
            <p:ph idx="2" type="pic"/>
          </p:nvPr>
        </p:nvSpPr>
        <p:spPr>
          <a:xfrm>
            <a:off x="7442551" y="763702"/>
            <a:ext cx="3275751" cy="4912822"/>
          </a:xfrm>
          <a:prstGeom prst="rect">
            <a:avLst/>
          </a:prstGeom>
          <a:noFill/>
          <a:ln>
            <a:noFill/>
          </a:ln>
          <a:effectLst>
            <a:outerShdw blurRad="38100" dir="4440000" dist="25400">
              <a:srgbClr val="000000">
                <a:alpha val="35686"/>
              </a:srgbClr>
            </a:outerShdw>
          </a:effectLst>
        </p:spPr>
      </p:sp>
      <p:sp>
        <p:nvSpPr>
          <p:cNvPr id="67" name="Google Shape;67;p10"/>
          <p:cNvSpPr txBox="1"/>
          <p:nvPr>
            <p:ph idx="1" type="body"/>
          </p:nvPr>
        </p:nvSpPr>
        <p:spPr>
          <a:xfrm>
            <a:off x="913795" y="2439261"/>
            <a:ext cx="5934949" cy="337613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68" name="Google Shape;68;p10"/>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0"/>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1" name="Shape 71"/>
        <p:cNvGrpSpPr/>
        <p:nvPr/>
      </p:nvGrpSpPr>
      <p:grpSpPr>
        <a:xfrm>
          <a:off x="0" y="0"/>
          <a:ext cx="0" cy="0"/>
          <a:chOff x="0" y="0"/>
          <a:chExt cx="0" cy="0"/>
        </a:xfrm>
      </p:grpSpPr>
      <p:pic>
        <p:nvPicPr>
          <p:cNvPr descr="Slate-V2-HD-panoPhotoInset.png" id="72" name="Google Shape;72;p11"/>
          <p:cNvPicPr preferRelativeResize="0"/>
          <p:nvPr/>
        </p:nvPicPr>
        <p:blipFill rotWithShape="1">
          <a:blip r:embed="rId2">
            <a:alphaModFix/>
          </a:blip>
          <a:srcRect b="0" l="0" r="0" t="0"/>
          <a:stretch/>
        </p:blipFill>
        <p:spPr>
          <a:xfrm>
            <a:off x="1013883" y="547807"/>
            <a:ext cx="10141799" cy="3816806"/>
          </a:xfrm>
          <a:prstGeom prst="rect">
            <a:avLst/>
          </a:prstGeom>
          <a:noFill/>
          <a:ln>
            <a:noFill/>
          </a:ln>
        </p:spPr>
      </p:pic>
      <p:sp>
        <p:nvSpPr>
          <p:cNvPr id="73" name="Google Shape;73;p11"/>
          <p:cNvSpPr txBox="1"/>
          <p:nvPr>
            <p:ph type="title"/>
          </p:nvPr>
        </p:nvSpPr>
        <p:spPr>
          <a:xfrm>
            <a:off x="913806" y="4565255"/>
            <a:ext cx="10355326" cy="54347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spcBef>
                <a:spcPts val="0"/>
              </a:spcBef>
              <a:spcAft>
                <a:spcPts val="0"/>
              </a:spcAft>
              <a:buClr>
                <a:schemeClr val="lt2"/>
              </a:buClr>
              <a:buSzPts val="2800"/>
              <a:buFont typeface="Lustria"/>
              <a:buNone/>
              <a:defRPr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1"/>
          <p:cNvSpPr/>
          <p:nvPr>
            <p:ph idx="2" type="pic"/>
          </p:nvPr>
        </p:nvSpPr>
        <p:spPr>
          <a:xfrm>
            <a:off x="1169349" y="695009"/>
            <a:ext cx="9845346" cy="3525671"/>
          </a:xfrm>
          <a:prstGeom prst="rect">
            <a:avLst/>
          </a:prstGeom>
          <a:noFill/>
          <a:ln>
            <a:noFill/>
          </a:ln>
          <a:effectLst>
            <a:outerShdw blurRad="38100" dir="4440000" dist="25400">
              <a:srgbClr val="000000">
                <a:alpha val="35686"/>
              </a:srgbClr>
            </a:outerShdw>
          </a:effectLst>
        </p:spPr>
      </p:sp>
      <p:sp>
        <p:nvSpPr>
          <p:cNvPr id="75" name="Google Shape;75;p11"/>
          <p:cNvSpPr txBox="1"/>
          <p:nvPr>
            <p:ph idx="1" type="body"/>
          </p:nvPr>
        </p:nvSpPr>
        <p:spPr>
          <a:xfrm>
            <a:off x="913795" y="5108728"/>
            <a:ext cx="10353762" cy="68247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76" name="Google Shape;76;p11"/>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1"/>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79" name="Shape 79"/>
        <p:cNvGrpSpPr/>
        <p:nvPr/>
      </p:nvGrpSpPr>
      <p:grpSpPr>
        <a:xfrm>
          <a:off x="0" y="0"/>
          <a:ext cx="0" cy="0"/>
          <a:chOff x="0" y="0"/>
          <a:chExt cx="0" cy="0"/>
        </a:xfrm>
      </p:grpSpPr>
      <p:sp>
        <p:nvSpPr>
          <p:cNvPr id="80" name="Google Shape;80;p12"/>
          <p:cNvSpPr txBox="1"/>
          <p:nvPr>
            <p:ph type="title"/>
          </p:nvPr>
        </p:nvSpPr>
        <p:spPr>
          <a:xfrm>
            <a:off x="913795" y="608437"/>
            <a:ext cx="10353762" cy="3534344"/>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3200"/>
              <a:buFont typeface="Lustria"/>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2"/>
          <p:cNvSpPr txBox="1"/>
          <p:nvPr>
            <p:ph idx="1" type="body"/>
          </p:nvPr>
        </p:nvSpPr>
        <p:spPr>
          <a:xfrm>
            <a:off x="913794" y="4295180"/>
            <a:ext cx="10353763" cy="1501826"/>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82" name="Google Shape;82;p12"/>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2"/>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85" name="Shape 85"/>
        <p:cNvGrpSpPr/>
        <p:nvPr/>
      </p:nvGrpSpPr>
      <p:grpSpPr>
        <a:xfrm>
          <a:off x="0" y="0"/>
          <a:ext cx="0" cy="0"/>
          <a:chOff x="0" y="0"/>
          <a:chExt cx="0" cy="0"/>
        </a:xfrm>
      </p:grpSpPr>
      <p:sp>
        <p:nvSpPr>
          <p:cNvPr id="86" name="Google Shape;86;p13"/>
          <p:cNvSpPr txBox="1"/>
          <p:nvPr>
            <p:ph type="title"/>
          </p:nvPr>
        </p:nvSpPr>
        <p:spPr>
          <a:xfrm>
            <a:off x="1446212" y="609600"/>
            <a:ext cx="9302752" cy="2992904"/>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3200"/>
              <a:buFont typeface="Lustria"/>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3"/>
          <p:cNvSpPr txBox="1"/>
          <p:nvPr>
            <p:ph idx="1" type="body"/>
          </p:nvPr>
        </p:nvSpPr>
        <p:spPr>
          <a:xfrm>
            <a:off x="1720644" y="3610032"/>
            <a:ext cx="8752299" cy="532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r">
              <a:spcBef>
                <a:spcPts val="280"/>
              </a:spcBef>
              <a:spcAft>
                <a:spcPts val="0"/>
              </a:spcAft>
              <a:buSzPts val="980"/>
              <a:buNone/>
              <a:defRPr sz="14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88" name="Google Shape;88;p13"/>
          <p:cNvSpPr txBox="1"/>
          <p:nvPr>
            <p:ph idx="2" type="body"/>
          </p:nvPr>
        </p:nvSpPr>
        <p:spPr>
          <a:xfrm>
            <a:off x="913794" y="4304353"/>
            <a:ext cx="10353763" cy="1489496"/>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89" name="Google Shape;89;p13"/>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3"/>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3"/>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2" name="Google Shape;92;p13"/>
          <p:cNvSpPr txBox="1"/>
          <p:nvPr/>
        </p:nvSpPr>
        <p:spPr>
          <a:xfrm>
            <a:off x="990600" y="88479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1"/>
              </a:buClr>
              <a:buSzPts val="8000"/>
              <a:buFont typeface="Lustria"/>
              <a:buNone/>
            </a:pPr>
            <a:r>
              <a:rPr b="0" lang="en-US" sz="8000" cap="none">
                <a:solidFill>
                  <a:schemeClr val="lt1"/>
                </a:solidFill>
                <a:latin typeface="Lustria"/>
                <a:ea typeface="Lustria"/>
                <a:cs typeface="Lustria"/>
                <a:sym typeface="Lustria"/>
              </a:rPr>
              <a:t>“</a:t>
            </a:r>
            <a:endParaRPr/>
          </a:p>
        </p:txBody>
      </p:sp>
      <p:sp>
        <p:nvSpPr>
          <p:cNvPr id="93" name="Google Shape;93;p13"/>
          <p:cNvSpPr txBox="1"/>
          <p:nvPr/>
        </p:nvSpPr>
        <p:spPr>
          <a:xfrm>
            <a:off x="10504716" y="2928258"/>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SzPts val="8000"/>
              <a:buFont typeface="Lustria"/>
              <a:buNone/>
            </a:pPr>
            <a:r>
              <a:rPr b="0" lang="en-US" sz="8000" cap="none">
                <a:solidFill>
                  <a:schemeClr val="lt1"/>
                </a:solidFill>
                <a:latin typeface="Lustria"/>
                <a:ea typeface="Lustria"/>
                <a:cs typeface="Lustria"/>
                <a:sym typeface="Lustria"/>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94" name="Shape 94"/>
        <p:cNvGrpSpPr/>
        <p:nvPr/>
      </p:nvGrpSpPr>
      <p:grpSpPr>
        <a:xfrm>
          <a:off x="0" y="0"/>
          <a:ext cx="0" cy="0"/>
          <a:chOff x="0" y="0"/>
          <a:chExt cx="0" cy="0"/>
        </a:xfrm>
      </p:grpSpPr>
      <p:sp>
        <p:nvSpPr>
          <p:cNvPr id="95" name="Google Shape;95;p14"/>
          <p:cNvSpPr txBox="1"/>
          <p:nvPr>
            <p:ph type="title"/>
          </p:nvPr>
        </p:nvSpPr>
        <p:spPr>
          <a:xfrm>
            <a:off x="913794" y="2126942"/>
            <a:ext cx="10353763" cy="2511835"/>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spcBef>
                <a:spcPts val="0"/>
              </a:spcBef>
              <a:spcAft>
                <a:spcPts val="0"/>
              </a:spcAft>
              <a:buClr>
                <a:schemeClr val="lt2"/>
              </a:buClr>
              <a:buSzPts val="3200"/>
              <a:buFont typeface="Lustria"/>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4"/>
          <p:cNvSpPr txBox="1"/>
          <p:nvPr>
            <p:ph idx="1" type="body"/>
          </p:nvPr>
        </p:nvSpPr>
        <p:spPr>
          <a:xfrm>
            <a:off x="913784" y="4650556"/>
            <a:ext cx="10352199" cy="114064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97" name="Google Shape;97;p14"/>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4"/>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4"/>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0" name="Shape 100"/>
        <p:cNvGrpSpPr/>
        <p:nvPr/>
      </p:nvGrpSpPr>
      <p:grpSpPr>
        <a:xfrm>
          <a:off x="0" y="0"/>
          <a:ext cx="0" cy="0"/>
          <a:chOff x="0" y="0"/>
          <a:chExt cx="0" cy="0"/>
        </a:xfrm>
      </p:grpSpPr>
      <p:sp>
        <p:nvSpPr>
          <p:cNvPr id="101" name="Google Shape;101;p15"/>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5"/>
          <p:cNvSpPr txBox="1"/>
          <p:nvPr>
            <p:ph idx="1" type="body"/>
          </p:nvPr>
        </p:nvSpPr>
        <p:spPr>
          <a:xfrm>
            <a:off x="913795" y="1885950"/>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80"/>
              </a:spcBef>
              <a:spcAft>
                <a:spcPts val="0"/>
              </a:spcAft>
              <a:buSzPts val="1680"/>
              <a:buNone/>
              <a:defRPr b="0" sz="24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03" name="Google Shape;103;p15"/>
          <p:cNvSpPr txBox="1"/>
          <p:nvPr>
            <p:ph idx="2" type="body"/>
          </p:nvPr>
        </p:nvSpPr>
        <p:spPr>
          <a:xfrm>
            <a:off x="913795" y="2571750"/>
            <a:ext cx="3300984" cy="321945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04" name="Google Shape;104;p15"/>
          <p:cNvSpPr txBox="1"/>
          <p:nvPr>
            <p:ph idx="3" type="body"/>
          </p:nvPr>
        </p:nvSpPr>
        <p:spPr>
          <a:xfrm>
            <a:off x="4446711" y="1885950"/>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80"/>
              </a:spcBef>
              <a:spcAft>
                <a:spcPts val="0"/>
              </a:spcAft>
              <a:buSzPts val="1680"/>
              <a:buNone/>
              <a:defRPr b="0" sz="24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05" name="Google Shape;105;p15"/>
          <p:cNvSpPr txBox="1"/>
          <p:nvPr>
            <p:ph idx="4" type="body"/>
          </p:nvPr>
        </p:nvSpPr>
        <p:spPr>
          <a:xfrm>
            <a:off x="4441435" y="2571750"/>
            <a:ext cx="3300984" cy="321945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06" name="Google Shape;106;p15"/>
          <p:cNvSpPr txBox="1"/>
          <p:nvPr>
            <p:ph idx="5" type="body"/>
          </p:nvPr>
        </p:nvSpPr>
        <p:spPr>
          <a:xfrm>
            <a:off x="7966572" y="1885950"/>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80"/>
              </a:spcBef>
              <a:spcAft>
                <a:spcPts val="0"/>
              </a:spcAft>
              <a:buSzPts val="1680"/>
              <a:buNone/>
              <a:defRPr b="0" sz="24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07" name="Google Shape;107;p15"/>
          <p:cNvSpPr txBox="1"/>
          <p:nvPr>
            <p:ph idx="6" type="body"/>
          </p:nvPr>
        </p:nvSpPr>
        <p:spPr>
          <a:xfrm>
            <a:off x="7966572" y="2571750"/>
            <a:ext cx="3300984" cy="321945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08" name="Google Shape;108;p15"/>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5"/>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15"/>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1" name="Shape 111"/>
        <p:cNvGrpSpPr/>
        <p:nvPr/>
      </p:nvGrpSpPr>
      <p:grpSpPr>
        <a:xfrm>
          <a:off x="0" y="0"/>
          <a:ext cx="0" cy="0"/>
          <a:chOff x="0" y="0"/>
          <a:chExt cx="0" cy="0"/>
        </a:xfrm>
      </p:grpSpPr>
      <p:pic>
        <p:nvPicPr>
          <p:cNvPr descr="Slate-V2-HD-3colPhotoInset.png" id="112" name="Google Shape;112;p16"/>
          <p:cNvPicPr preferRelativeResize="0"/>
          <p:nvPr/>
        </p:nvPicPr>
        <p:blipFill rotWithShape="1">
          <a:blip r:embed="rId2">
            <a:alphaModFix/>
          </a:blip>
          <a:srcRect b="0" l="0" r="0" t="0"/>
          <a:stretch/>
        </p:blipFill>
        <p:spPr>
          <a:xfrm>
            <a:off x="897962" y="1818214"/>
            <a:ext cx="3339972" cy="1847851"/>
          </a:xfrm>
          <a:prstGeom prst="rect">
            <a:avLst/>
          </a:prstGeom>
          <a:noFill/>
          <a:ln>
            <a:noFill/>
          </a:ln>
        </p:spPr>
      </p:pic>
      <p:pic>
        <p:nvPicPr>
          <p:cNvPr descr="Slate-V2-HD-3colPhotoInset.png" id="113" name="Google Shape;113;p16"/>
          <p:cNvPicPr preferRelativeResize="0"/>
          <p:nvPr/>
        </p:nvPicPr>
        <p:blipFill rotWithShape="1">
          <a:blip r:embed="rId2">
            <a:alphaModFix/>
          </a:blip>
          <a:srcRect b="0" l="0" r="0" t="0"/>
          <a:stretch/>
        </p:blipFill>
        <p:spPr>
          <a:xfrm>
            <a:off x="4403800" y="1818214"/>
            <a:ext cx="3339972" cy="1847851"/>
          </a:xfrm>
          <a:prstGeom prst="rect">
            <a:avLst/>
          </a:prstGeom>
          <a:noFill/>
          <a:ln>
            <a:noFill/>
          </a:ln>
        </p:spPr>
      </p:pic>
      <p:pic>
        <p:nvPicPr>
          <p:cNvPr descr="Slate-V2-HD-3colPhotoInset.png" id="114" name="Google Shape;114;p16"/>
          <p:cNvPicPr preferRelativeResize="0"/>
          <p:nvPr/>
        </p:nvPicPr>
        <p:blipFill rotWithShape="1">
          <a:blip r:embed="rId2">
            <a:alphaModFix/>
          </a:blip>
          <a:srcRect b="0" l="0" r="0" t="0"/>
          <a:stretch/>
        </p:blipFill>
        <p:spPr>
          <a:xfrm>
            <a:off x="7936051" y="1818214"/>
            <a:ext cx="3339972" cy="1847851"/>
          </a:xfrm>
          <a:prstGeom prst="rect">
            <a:avLst/>
          </a:prstGeom>
          <a:noFill/>
          <a:ln>
            <a:noFill/>
          </a:ln>
        </p:spPr>
      </p:pic>
      <p:sp>
        <p:nvSpPr>
          <p:cNvPr id="115" name="Google Shape;115;p16"/>
          <p:cNvSpPr txBox="1"/>
          <p:nvPr>
            <p:ph type="title"/>
          </p:nvPr>
        </p:nvSpPr>
        <p:spPr>
          <a:xfrm>
            <a:off x="913794" y="609600"/>
            <a:ext cx="10353763"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6"/>
          <p:cNvSpPr txBox="1"/>
          <p:nvPr>
            <p:ph idx="1" type="body"/>
          </p:nvPr>
        </p:nvSpPr>
        <p:spPr>
          <a:xfrm>
            <a:off x="913795" y="3904106"/>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00"/>
              </a:spcBef>
              <a:spcAft>
                <a:spcPts val="0"/>
              </a:spcAft>
              <a:buSzPts val="1400"/>
              <a:buNone/>
              <a:defRPr b="0" sz="20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17" name="Google Shape;117;p16"/>
          <p:cNvSpPr/>
          <p:nvPr>
            <p:ph idx="2" type="pic"/>
          </p:nvPr>
        </p:nvSpPr>
        <p:spPr>
          <a:xfrm>
            <a:off x="1018102" y="1938918"/>
            <a:ext cx="3092368" cy="1602954"/>
          </a:xfrm>
          <a:prstGeom prst="roundRect">
            <a:avLst>
              <a:gd fmla="val 1858" name="adj"/>
            </a:avLst>
          </a:prstGeom>
          <a:noFill/>
          <a:ln>
            <a:noFill/>
          </a:ln>
          <a:effectLst>
            <a:outerShdw blurRad="38100" dir="4440000" dist="25400">
              <a:srgbClr val="000000">
                <a:alpha val="35686"/>
              </a:srgbClr>
            </a:outerShdw>
          </a:effectLst>
        </p:spPr>
      </p:sp>
      <p:sp>
        <p:nvSpPr>
          <p:cNvPr id="118" name="Google Shape;118;p16"/>
          <p:cNvSpPr txBox="1"/>
          <p:nvPr>
            <p:ph idx="3" type="body"/>
          </p:nvPr>
        </p:nvSpPr>
        <p:spPr>
          <a:xfrm>
            <a:off x="913795" y="4480368"/>
            <a:ext cx="3300984" cy="131083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19" name="Google Shape;119;p16"/>
          <p:cNvSpPr txBox="1"/>
          <p:nvPr>
            <p:ph idx="4" type="body"/>
          </p:nvPr>
        </p:nvSpPr>
        <p:spPr>
          <a:xfrm>
            <a:off x="4442788" y="3904106"/>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00"/>
              </a:spcBef>
              <a:spcAft>
                <a:spcPts val="0"/>
              </a:spcAft>
              <a:buSzPts val="1400"/>
              <a:buNone/>
              <a:defRPr b="0" sz="20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20" name="Google Shape;120;p16"/>
          <p:cNvSpPr/>
          <p:nvPr>
            <p:ph idx="5" type="pic"/>
          </p:nvPr>
        </p:nvSpPr>
        <p:spPr>
          <a:xfrm>
            <a:off x="4545743" y="1939094"/>
            <a:ext cx="3092368" cy="1608164"/>
          </a:xfrm>
          <a:prstGeom prst="roundRect">
            <a:avLst>
              <a:gd fmla="val 1858" name="adj"/>
            </a:avLst>
          </a:prstGeom>
          <a:noFill/>
          <a:ln>
            <a:noFill/>
          </a:ln>
          <a:effectLst>
            <a:outerShdw blurRad="38100" dir="4440000" dist="25400">
              <a:srgbClr val="000000">
                <a:alpha val="35686"/>
              </a:srgbClr>
            </a:outerShdw>
          </a:effectLst>
        </p:spPr>
      </p:sp>
      <p:sp>
        <p:nvSpPr>
          <p:cNvPr id="121" name="Google Shape;121;p16"/>
          <p:cNvSpPr txBox="1"/>
          <p:nvPr>
            <p:ph idx="6" type="body"/>
          </p:nvPr>
        </p:nvSpPr>
        <p:spPr>
          <a:xfrm>
            <a:off x="4441435" y="4480367"/>
            <a:ext cx="3300984" cy="131083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22" name="Google Shape;122;p16"/>
          <p:cNvSpPr txBox="1"/>
          <p:nvPr>
            <p:ph idx="7" type="body"/>
          </p:nvPr>
        </p:nvSpPr>
        <p:spPr>
          <a:xfrm>
            <a:off x="7966697" y="3904106"/>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spcBef>
                <a:spcPts val="400"/>
              </a:spcBef>
              <a:spcAft>
                <a:spcPts val="0"/>
              </a:spcAft>
              <a:buSzPts val="1400"/>
              <a:buNone/>
              <a:defRPr b="0" sz="20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23" name="Google Shape;123;p16"/>
          <p:cNvSpPr/>
          <p:nvPr>
            <p:ph idx="8" type="pic"/>
          </p:nvPr>
        </p:nvSpPr>
        <p:spPr>
          <a:xfrm>
            <a:off x="8075698" y="1934432"/>
            <a:ext cx="3092368" cy="1607294"/>
          </a:xfrm>
          <a:prstGeom prst="roundRect">
            <a:avLst>
              <a:gd fmla="val 1858" name="adj"/>
            </a:avLst>
          </a:prstGeom>
          <a:noFill/>
          <a:ln>
            <a:noFill/>
          </a:ln>
          <a:effectLst>
            <a:outerShdw blurRad="38100" dir="4440000" dist="25400">
              <a:srgbClr val="000000">
                <a:alpha val="35686"/>
              </a:srgbClr>
            </a:outerShdw>
          </a:effectLst>
        </p:spPr>
      </p:sp>
      <p:sp>
        <p:nvSpPr>
          <p:cNvPr id="124" name="Google Shape;124;p16"/>
          <p:cNvSpPr txBox="1"/>
          <p:nvPr>
            <p:ph idx="9" type="body"/>
          </p:nvPr>
        </p:nvSpPr>
        <p:spPr>
          <a:xfrm>
            <a:off x="7966572" y="4480365"/>
            <a:ext cx="3300984" cy="1310835"/>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25" name="Google Shape;125;p16"/>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16"/>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6"/>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8" name="Shape 128"/>
        <p:cNvGrpSpPr/>
        <p:nvPr/>
      </p:nvGrpSpPr>
      <p:grpSpPr>
        <a:xfrm>
          <a:off x="0" y="0"/>
          <a:ext cx="0" cy="0"/>
          <a:chOff x="0" y="0"/>
          <a:chExt cx="0" cy="0"/>
        </a:xfrm>
      </p:grpSpPr>
      <p:sp>
        <p:nvSpPr>
          <p:cNvPr id="129" name="Google Shape;129;p17"/>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7"/>
          <p:cNvSpPr txBox="1"/>
          <p:nvPr>
            <p:ph idx="1" type="body"/>
          </p:nvPr>
        </p:nvSpPr>
        <p:spPr>
          <a:xfrm rot="5400000">
            <a:off x="4061301" y="-1415056"/>
            <a:ext cx="4058751" cy="1035376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131" name="Google Shape;131;p17"/>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17"/>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7"/>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4" name="Shape 134"/>
        <p:cNvGrpSpPr/>
        <p:nvPr/>
      </p:nvGrpSpPr>
      <p:grpSpPr>
        <a:xfrm>
          <a:off x="0" y="0"/>
          <a:ext cx="0" cy="0"/>
          <a:chOff x="0" y="0"/>
          <a:chExt cx="0" cy="0"/>
        </a:xfrm>
      </p:grpSpPr>
      <p:sp>
        <p:nvSpPr>
          <p:cNvPr id="135" name="Google Shape;135;p18"/>
          <p:cNvSpPr txBox="1"/>
          <p:nvPr>
            <p:ph type="title"/>
          </p:nvPr>
        </p:nvSpPr>
        <p:spPr>
          <a:xfrm rot="5400000">
            <a:off x="7534511" y="2058156"/>
            <a:ext cx="5181601" cy="2284487"/>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l">
              <a:spcBef>
                <a:spcPts val="0"/>
              </a:spcBef>
              <a:spcAft>
                <a:spcPts val="0"/>
              </a:spcAft>
              <a:buClr>
                <a:schemeClr val="lt2"/>
              </a:buClr>
              <a:buSzPts val="4000"/>
              <a:buFont typeface="Lustria"/>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18"/>
          <p:cNvSpPr txBox="1"/>
          <p:nvPr>
            <p:ph idx="1" type="body"/>
          </p:nvPr>
        </p:nvSpPr>
        <p:spPr>
          <a:xfrm rot="5400000">
            <a:off x="2281431" y="-758036"/>
            <a:ext cx="5181601" cy="791687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10" lvl="7" marL="3657600" algn="l">
              <a:spcBef>
                <a:spcPts val="600"/>
              </a:spcBef>
              <a:spcAft>
                <a:spcPts val="0"/>
              </a:spcAft>
              <a:buSzPts val="1260"/>
              <a:buChar char="◈"/>
              <a:defRPr/>
            </a:lvl8pPr>
            <a:lvl9pPr indent="-308610" lvl="8" marL="4114800" algn="l">
              <a:spcBef>
                <a:spcPts val="600"/>
              </a:spcBef>
              <a:spcAft>
                <a:spcPts val="600"/>
              </a:spcAft>
              <a:buSzPts val="1260"/>
              <a:buChar char="◈"/>
              <a:defRPr/>
            </a:lvl9pPr>
          </a:lstStyle>
          <a:p/>
        </p:txBody>
      </p:sp>
      <p:sp>
        <p:nvSpPr>
          <p:cNvPr id="137" name="Google Shape;137;p18"/>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18"/>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18"/>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FC5E8"/>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marR="0" rtl="0" algn="ctr">
              <a:spcBef>
                <a:spcPts val="0"/>
              </a:spcBef>
              <a:spcAft>
                <a:spcPts val="0"/>
              </a:spcAft>
              <a:buClr>
                <a:schemeClr val="lt2"/>
              </a:buClr>
              <a:buSzPts val="4000"/>
              <a:buFont typeface="Lustria"/>
              <a:buNone/>
              <a:defRPr b="0" i="0" sz="4000" u="none" cap="none" strike="noStrike">
                <a:solidFill>
                  <a:schemeClr val="lt2"/>
                </a:solidFill>
                <a:latin typeface="Lustria"/>
                <a:ea typeface="Lustria"/>
                <a:cs typeface="Lustria"/>
                <a:sym typeface="Lustria"/>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7" name="Google Shape;7;p1"/>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17500" lvl="0" marL="457200" marR="0" rtl="0" algn="l">
              <a:spcBef>
                <a:spcPts val="400"/>
              </a:spcBef>
              <a:spcAft>
                <a:spcPts val="0"/>
              </a:spcAft>
              <a:buClr>
                <a:schemeClr val="lt2"/>
              </a:buClr>
              <a:buSzPts val="1400"/>
              <a:buFont typeface="Noto Sans Symbols"/>
              <a:buChar char="◈"/>
              <a:defRPr b="0" i="0" sz="2000" u="none" cap="none" strike="noStrike">
                <a:solidFill>
                  <a:schemeClr val="lt2"/>
                </a:solidFill>
                <a:latin typeface="Lustria"/>
                <a:ea typeface="Lustria"/>
                <a:cs typeface="Lustria"/>
                <a:sym typeface="Lustria"/>
              </a:defRPr>
            </a:lvl1pPr>
            <a:lvl2pPr indent="-308610" lvl="1" marL="914400" marR="0" rtl="0" algn="l">
              <a:spcBef>
                <a:spcPts val="600"/>
              </a:spcBef>
              <a:spcAft>
                <a:spcPts val="0"/>
              </a:spcAft>
              <a:buClr>
                <a:schemeClr val="lt2"/>
              </a:buClr>
              <a:buSzPts val="1260"/>
              <a:buFont typeface="Noto Sans Symbols"/>
              <a:buChar char="🞚"/>
              <a:defRPr b="0" i="0" sz="1800" u="none" cap="none" strike="noStrike">
                <a:solidFill>
                  <a:schemeClr val="lt2"/>
                </a:solidFill>
                <a:latin typeface="Lustria"/>
                <a:ea typeface="Lustria"/>
                <a:cs typeface="Lustria"/>
                <a:sym typeface="Lustria"/>
              </a:defRPr>
            </a:lvl2pPr>
            <a:lvl3pPr indent="-299720" lvl="2" marL="1371600" marR="0" rtl="0" algn="l">
              <a:spcBef>
                <a:spcPts val="600"/>
              </a:spcBef>
              <a:spcAft>
                <a:spcPts val="0"/>
              </a:spcAft>
              <a:buClr>
                <a:schemeClr val="lt2"/>
              </a:buClr>
              <a:buSzPts val="1120"/>
              <a:buFont typeface="Noto Sans Symbols"/>
              <a:buChar char="◈"/>
              <a:defRPr b="0" i="0" sz="1600" u="none" cap="none" strike="noStrike">
                <a:solidFill>
                  <a:schemeClr val="lt2"/>
                </a:solidFill>
                <a:latin typeface="Lustria"/>
                <a:ea typeface="Lustria"/>
                <a:cs typeface="Lustria"/>
                <a:sym typeface="Lustria"/>
              </a:defRPr>
            </a:lvl3pPr>
            <a:lvl4pPr indent="-290830" lvl="3" marL="18288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Lustria"/>
                <a:ea typeface="Lustria"/>
                <a:cs typeface="Lustria"/>
                <a:sym typeface="Lustria"/>
              </a:defRPr>
            </a:lvl4pPr>
            <a:lvl5pPr indent="-290830" lvl="4" marL="22860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Lustria"/>
                <a:ea typeface="Lustria"/>
                <a:cs typeface="Lustria"/>
                <a:sym typeface="Lustria"/>
              </a:defRPr>
            </a:lvl5pPr>
            <a:lvl6pPr indent="-290830" lvl="5" marL="27432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Lustria"/>
                <a:ea typeface="Lustria"/>
                <a:cs typeface="Lustria"/>
                <a:sym typeface="Lustria"/>
              </a:defRPr>
            </a:lvl6pPr>
            <a:lvl7pPr indent="-290830" lvl="6" marL="32004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Lustria"/>
                <a:ea typeface="Lustria"/>
                <a:cs typeface="Lustria"/>
                <a:sym typeface="Lustria"/>
              </a:defRPr>
            </a:lvl7pPr>
            <a:lvl8pPr indent="-290830" lvl="7" marL="36576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Lustria"/>
                <a:ea typeface="Lustria"/>
                <a:cs typeface="Lustria"/>
                <a:sym typeface="Lustria"/>
              </a:defRPr>
            </a:lvl8pPr>
            <a:lvl9pPr indent="-290830" lvl="8" marL="4114800" marR="0" rtl="0" algn="l">
              <a:spcBef>
                <a:spcPts val="600"/>
              </a:spcBef>
              <a:spcAft>
                <a:spcPts val="600"/>
              </a:spcAft>
              <a:buClr>
                <a:schemeClr val="lt2"/>
              </a:buClr>
              <a:buSzPts val="980"/>
              <a:buFont typeface="Noto Sans Symbols"/>
              <a:buChar char="◈"/>
              <a:defRPr b="0" i="0" sz="1400" u="none" cap="none" strike="noStrike">
                <a:solidFill>
                  <a:schemeClr val="lt2"/>
                </a:solidFill>
                <a:latin typeface="Lustria"/>
                <a:ea typeface="Lustria"/>
                <a:cs typeface="Lustria"/>
                <a:sym typeface="Lustria"/>
              </a:defRPr>
            </a:lvl9pPr>
          </a:lstStyle>
          <a:p/>
        </p:txBody>
      </p:sp>
      <p:sp>
        <p:nvSpPr>
          <p:cNvPr id="8" name="Google Shape;8;p1"/>
          <p:cNvSpPr txBox="1"/>
          <p:nvPr>
            <p:ph idx="10" type="dt"/>
          </p:nvPr>
        </p:nvSpPr>
        <p:spPr>
          <a:xfrm>
            <a:off x="7678736" y="5883275"/>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F2F2F2"/>
                </a:solidFill>
                <a:latin typeface="Lustria"/>
                <a:ea typeface="Lustria"/>
                <a:cs typeface="Lustria"/>
                <a:sym typeface="Lustria"/>
              </a:defRPr>
            </a:lvl1pPr>
            <a:lvl2pPr lvl="1"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2pPr>
            <a:lvl3pPr lvl="2"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3pPr>
            <a:lvl4pPr lvl="3"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4pPr>
            <a:lvl5pPr lvl="4"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5pPr>
            <a:lvl6pPr lvl="5"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6pPr>
            <a:lvl7pPr lvl="6"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7pPr>
            <a:lvl8pPr lvl="7"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8pPr>
            <a:lvl9pPr lvl="8"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9pPr>
          </a:lstStyle>
          <a:p/>
        </p:txBody>
      </p:sp>
      <p:sp>
        <p:nvSpPr>
          <p:cNvPr id="9" name="Google Shape;9;p1"/>
          <p:cNvSpPr txBox="1"/>
          <p:nvPr>
            <p:ph idx="11" type="ftr"/>
          </p:nvPr>
        </p:nvSpPr>
        <p:spPr>
          <a:xfrm>
            <a:off x="913795" y="5883275"/>
            <a:ext cx="6672865"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F2F2F2"/>
                </a:solidFill>
                <a:latin typeface="Lustria"/>
                <a:ea typeface="Lustria"/>
                <a:cs typeface="Lustria"/>
                <a:sym typeface="Lustria"/>
              </a:defRPr>
            </a:lvl1pPr>
            <a:lvl2pPr lvl="1"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2pPr>
            <a:lvl3pPr lvl="2"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3pPr>
            <a:lvl4pPr lvl="3"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4pPr>
            <a:lvl5pPr lvl="4"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5pPr>
            <a:lvl6pPr lvl="5"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6pPr>
            <a:lvl7pPr lvl="6"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7pPr>
            <a:lvl8pPr lvl="7"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8pPr>
            <a:lvl9pPr lvl="8" marR="0" rtl="0" algn="l">
              <a:spcBef>
                <a:spcPts val="0"/>
              </a:spcBef>
              <a:spcAft>
                <a:spcPts val="0"/>
              </a:spcAft>
              <a:buSzPts val="1400"/>
              <a:buNone/>
              <a:defRPr b="0" i="0" sz="1800" u="none" cap="none" strike="noStrike">
                <a:solidFill>
                  <a:schemeClr val="lt1"/>
                </a:solidFill>
                <a:latin typeface="Lustria"/>
                <a:ea typeface="Lustria"/>
                <a:cs typeface="Lustria"/>
                <a:sym typeface="Lustria"/>
              </a:defRPr>
            </a:lvl9pPr>
          </a:lstStyle>
          <a:p/>
        </p:txBody>
      </p:sp>
      <p:sp>
        <p:nvSpPr>
          <p:cNvPr id="10" name="Google Shape;10;p1"/>
          <p:cNvSpPr txBox="1"/>
          <p:nvPr>
            <p:ph idx="12" type="sldNum"/>
          </p:nvPr>
        </p:nvSpPr>
        <p:spPr>
          <a:xfrm>
            <a:off x="10514011" y="5883275"/>
            <a:ext cx="75354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rgbClr val="F2F2F2"/>
                </a:solidFill>
                <a:latin typeface="Lustria"/>
                <a:ea typeface="Lustria"/>
                <a:cs typeface="Lustria"/>
                <a:sym typeface="Lustria"/>
              </a:defRPr>
            </a:lvl1pPr>
            <a:lvl2pPr indent="0" lvl="1" marL="0" marR="0" rtl="0" algn="r">
              <a:spcBef>
                <a:spcPts val="0"/>
              </a:spcBef>
              <a:buNone/>
              <a:defRPr b="0" i="0" sz="1000" u="none" cap="none" strike="noStrike">
                <a:solidFill>
                  <a:srgbClr val="F2F2F2"/>
                </a:solidFill>
                <a:latin typeface="Lustria"/>
                <a:ea typeface="Lustria"/>
                <a:cs typeface="Lustria"/>
                <a:sym typeface="Lustria"/>
              </a:defRPr>
            </a:lvl2pPr>
            <a:lvl3pPr indent="0" lvl="2" marL="0" marR="0" rtl="0" algn="r">
              <a:spcBef>
                <a:spcPts val="0"/>
              </a:spcBef>
              <a:buNone/>
              <a:defRPr b="0" i="0" sz="1000" u="none" cap="none" strike="noStrike">
                <a:solidFill>
                  <a:srgbClr val="F2F2F2"/>
                </a:solidFill>
                <a:latin typeface="Lustria"/>
                <a:ea typeface="Lustria"/>
                <a:cs typeface="Lustria"/>
                <a:sym typeface="Lustria"/>
              </a:defRPr>
            </a:lvl3pPr>
            <a:lvl4pPr indent="0" lvl="3" marL="0" marR="0" rtl="0" algn="r">
              <a:spcBef>
                <a:spcPts val="0"/>
              </a:spcBef>
              <a:buNone/>
              <a:defRPr b="0" i="0" sz="1000" u="none" cap="none" strike="noStrike">
                <a:solidFill>
                  <a:srgbClr val="F2F2F2"/>
                </a:solidFill>
                <a:latin typeface="Lustria"/>
                <a:ea typeface="Lustria"/>
                <a:cs typeface="Lustria"/>
                <a:sym typeface="Lustria"/>
              </a:defRPr>
            </a:lvl4pPr>
            <a:lvl5pPr indent="0" lvl="4" marL="0" marR="0" rtl="0" algn="r">
              <a:spcBef>
                <a:spcPts val="0"/>
              </a:spcBef>
              <a:buNone/>
              <a:defRPr b="0" i="0" sz="1000" u="none" cap="none" strike="noStrike">
                <a:solidFill>
                  <a:srgbClr val="F2F2F2"/>
                </a:solidFill>
                <a:latin typeface="Lustria"/>
                <a:ea typeface="Lustria"/>
                <a:cs typeface="Lustria"/>
                <a:sym typeface="Lustria"/>
              </a:defRPr>
            </a:lvl5pPr>
            <a:lvl6pPr indent="0" lvl="5" marL="0" marR="0" rtl="0" algn="r">
              <a:spcBef>
                <a:spcPts val="0"/>
              </a:spcBef>
              <a:buNone/>
              <a:defRPr b="0" i="0" sz="1000" u="none" cap="none" strike="noStrike">
                <a:solidFill>
                  <a:srgbClr val="F2F2F2"/>
                </a:solidFill>
                <a:latin typeface="Lustria"/>
                <a:ea typeface="Lustria"/>
                <a:cs typeface="Lustria"/>
                <a:sym typeface="Lustria"/>
              </a:defRPr>
            </a:lvl6pPr>
            <a:lvl7pPr indent="0" lvl="6" marL="0" marR="0" rtl="0" algn="r">
              <a:spcBef>
                <a:spcPts val="0"/>
              </a:spcBef>
              <a:buNone/>
              <a:defRPr b="0" i="0" sz="1000" u="none" cap="none" strike="noStrike">
                <a:solidFill>
                  <a:srgbClr val="F2F2F2"/>
                </a:solidFill>
                <a:latin typeface="Lustria"/>
                <a:ea typeface="Lustria"/>
                <a:cs typeface="Lustria"/>
                <a:sym typeface="Lustria"/>
              </a:defRPr>
            </a:lvl7pPr>
            <a:lvl8pPr indent="0" lvl="7" marL="0" marR="0" rtl="0" algn="r">
              <a:spcBef>
                <a:spcPts val="0"/>
              </a:spcBef>
              <a:buNone/>
              <a:defRPr b="0" i="0" sz="1000" u="none" cap="none" strike="noStrike">
                <a:solidFill>
                  <a:srgbClr val="F2F2F2"/>
                </a:solidFill>
                <a:latin typeface="Lustria"/>
                <a:ea typeface="Lustria"/>
                <a:cs typeface="Lustria"/>
                <a:sym typeface="Lustria"/>
              </a:defRPr>
            </a:lvl8pPr>
            <a:lvl9pPr indent="0" lvl="8" marL="0" marR="0" rtl="0" algn="r">
              <a:spcBef>
                <a:spcPts val="0"/>
              </a:spcBef>
              <a:buNone/>
              <a:defRPr b="0" i="0" sz="1000" u="none" cap="none" strike="noStrike">
                <a:solidFill>
                  <a:srgbClr val="F2F2F2"/>
                </a:solidFill>
                <a:latin typeface="Lustria"/>
                <a:ea typeface="Lustria"/>
                <a:cs typeface="Lustria"/>
                <a:sym typeface="Lustri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www.fcc.gov/licencing-databases/licencin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9"/>
          <p:cNvSpPr txBox="1"/>
          <p:nvPr>
            <p:ph type="ctrTitle"/>
          </p:nvPr>
        </p:nvSpPr>
        <p:spPr>
          <a:xfrm>
            <a:off x="1370693" y="1769540"/>
            <a:ext cx="9440034" cy="1828801"/>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p>
            <a:pPr indent="0" lvl="0" marL="0" rtl="0" algn="ctr">
              <a:spcBef>
                <a:spcPts val="0"/>
              </a:spcBef>
              <a:spcAft>
                <a:spcPts val="0"/>
              </a:spcAft>
              <a:buClr>
                <a:schemeClr val="lt2"/>
              </a:buClr>
              <a:buSzPts val="5400"/>
              <a:buFont typeface="Lustria"/>
              <a:buNone/>
            </a:pPr>
            <a:r>
              <a:rPr lang="en-US">
                <a:solidFill>
                  <a:schemeClr val="dk1"/>
                </a:solidFill>
              </a:rPr>
              <a:t>Unmanned Aircraft Systems UAS</a:t>
            </a:r>
            <a:endParaRPr>
              <a:solidFill>
                <a:schemeClr val="dk1"/>
              </a:solidFill>
            </a:endParaRPr>
          </a:p>
        </p:txBody>
      </p:sp>
      <p:sp>
        <p:nvSpPr>
          <p:cNvPr id="145" name="Google Shape;145;p19"/>
          <p:cNvSpPr txBox="1"/>
          <p:nvPr>
            <p:ph idx="1" type="subTitle"/>
          </p:nvPr>
        </p:nvSpPr>
        <p:spPr>
          <a:xfrm>
            <a:off x="1370693" y="3598339"/>
            <a:ext cx="9440100" cy="105000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0" lvl="0" marL="0" rtl="0" algn="ctr">
              <a:spcBef>
                <a:spcPts val="940"/>
              </a:spcBef>
              <a:spcAft>
                <a:spcPts val="0"/>
              </a:spcAft>
              <a:buSzPts val="1400"/>
              <a:buNone/>
            </a:pPr>
            <a:r>
              <a:rPr lang="en-US">
                <a:solidFill>
                  <a:schemeClr val="dk1"/>
                </a:solidFill>
              </a:rPr>
              <a:t>Operations</a:t>
            </a:r>
            <a:endParaRPr>
              <a:solidFill>
                <a:schemeClr val="dk1"/>
              </a:solidFill>
            </a:endParaRPr>
          </a:p>
          <a:p>
            <a:pPr indent="0" lvl="0" marL="0" rtl="0" algn="ctr">
              <a:spcBef>
                <a:spcPts val="940"/>
              </a:spcBef>
              <a:spcAft>
                <a:spcPts val="0"/>
              </a:spcAft>
              <a:buSzPts val="1400"/>
              <a:buNone/>
            </a:pPr>
            <a:r>
              <a:rPr lang="en-US">
                <a:solidFill>
                  <a:schemeClr val="dk1"/>
                </a:solidFill>
              </a:rPr>
              <a:t>FAA Remote Pilot Part 107 Exam Prep-Regulations</a:t>
            </a:r>
            <a:endParaRPr>
              <a:solidFill>
                <a:schemeClr val="dk1"/>
              </a:solidFill>
            </a:endParaRPr>
          </a:p>
        </p:txBody>
      </p:sp>
      <p:pic>
        <p:nvPicPr>
          <p:cNvPr id="146" name="Google Shape;146;p19"/>
          <p:cNvPicPr preferRelativeResize="0"/>
          <p:nvPr/>
        </p:nvPicPr>
        <p:blipFill>
          <a:blip r:embed="rId3">
            <a:alphaModFix/>
          </a:blip>
          <a:stretch>
            <a:fillRect/>
          </a:stretch>
        </p:blipFill>
        <p:spPr>
          <a:xfrm>
            <a:off x="4667350" y="4539639"/>
            <a:ext cx="2857290" cy="190486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0"/>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222222"/>
              <a:buFont typeface="Lustria"/>
              <a:buNone/>
            </a:pPr>
            <a:r>
              <a:rPr lang="en-US">
                <a:solidFill>
                  <a:schemeClr val="dk1"/>
                </a:solidFill>
              </a:rPr>
              <a:t>FAA Remote Pilot Test Prep</a:t>
            </a:r>
            <a:br>
              <a:rPr lang="en-US">
                <a:solidFill>
                  <a:schemeClr val="dk1"/>
                </a:solidFill>
              </a:rPr>
            </a:br>
            <a:endParaRPr sz="1800">
              <a:solidFill>
                <a:schemeClr val="dk1"/>
              </a:solidFill>
            </a:endParaRPr>
          </a:p>
        </p:txBody>
      </p:sp>
      <p:sp>
        <p:nvSpPr>
          <p:cNvPr id="152" name="Google Shape;152;p20"/>
          <p:cNvSpPr txBox="1"/>
          <p:nvPr/>
        </p:nvSpPr>
        <p:spPr>
          <a:xfrm>
            <a:off x="1143075" y="1833375"/>
            <a:ext cx="9895200" cy="36942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None/>
            </a:pPr>
            <a:r>
              <a:rPr b="1" lang="en-US" sz="1800">
                <a:solidFill>
                  <a:schemeClr val="dk1"/>
                </a:solidFill>
                <a:latin typeface="Lustria"/>
                <a:ea typeface="Lustria"/>
                <a:cs typeface="Lustria"/>
                <a:sym typeface="Lustria"/>
              </a:rPr>
              <a:t>Topics Covered in this lesson</a:t>
            </a:r>
            <a:endParaRPr b="1" sz="1800">
              <a:solidFill>
                <a:schemeClr val="dk1"/>
              </a:solidFill>
              <a:latin typeface="Lustria"/>
              <a:ea typeface="Lustria"/>
              <a:cs typeface="Lustria"/>
              <a:sym typeface="Lustria"/>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Introduction</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Communication Procedures</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sUAS Frequencies</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Emergency Procedures</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Lost link</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Flight termination</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Flyaways</a:t>
            </a:r>
            <a:endParaRPr b="0" i="0" sz="1800" u="none" cap="none" strike="noStrike">
              <a:solidFill>
                <a:schemeClr val="dk1"/>
              </a:solidFill>
              <a:latin typeface="Lustria"/>
              <a:ea typeface="Lustria"/>
              <a:cs typeface="Lustria"/>
              <a:sym typeface="Lustria"/>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Loss of GPS</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Battery Fires</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Aeronautical Decision Making</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Physiology</a:t>
            </a:r>
            <a:endParaRPr>
              <a:solidFill>
                <a:schemeClr val="dk1"/>
              </a:solidFill>
            </a:endParaRPr>
          </a:p>
          <a:p>
            <a:pPr indent="-114300" lvl="0" marL="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Lustria"/>
                <a:ea typeface="Lustria"/>
                <a:cs typeface="Lustria"/>
                <a:sym typeface="Lustria"/>
              </a:rPr>
              <a:t>Maintenance and Inspection Procedures</a:t>
            </a:r>
            <a:endParaRPr b="0" i="0" sz="1800" u="none" cap="none" strike="noStrike">
              <a:solidFill>
                <a:schemeClr val="dk1"/>
              </a:solidFill>
              <a:latin typeface="Lustria"/>
              <a:ea typeface="Lustria"/>
              <a:cs typeface="Lustria"/>
              <a:sym typeface="Lustr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1"/>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b="1" lang="en-US"/>
              <a:t>Operations</a:t>
            </a:r>
            <a:br>
              <a:rPr b="1" lang="en-US"/>
            </a:br>
            <a:r>
              <a:rPr b="1" lang="en-US"/>
              <a:t>Introduction</a:t>
            </a:r>
            <a:endParaRPr b="1"/>
          </a:p>
        </p:txBody>
      </p:sp>
      <p:sp>
        <p:nvSpPr>
          <p:cNvPr id="158" name="Google Shape;158;p21"/>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Clr>
                <a:schemeClr val="dk1"/>
              </a:buClr>
              <a:buSzPts val="1400"/>
              <a:buChar char="◈"/>
            </a:pPr>
            <a:r>
              <a:rPr lang="en-US">
                <a:solidFill>
                  <a:schemeClr val="dk1"/>
                </a:solidFill>
              </a:rPr>
              <a:t>The remote PIC of an sUAS is responsible for determining whether that aircraft is in condition for safe flight.</a:t>
            </a:r>
            <a:endParaRPr>
              <a:solidFill>
                <a:schemeClr val="dk1"/>
              </a:solidFill>
            </a:endParaRPr>
          </a:p>
          <a:p>
            <a:pPr indent="-306000" lvl="0" marL="342900" rtl="0" algn="l">
              <a:spcBef>
                <a:spcPts val="1000"/>
              </a:spcBef>
              <a:spcAft>
                <a:spcPts val="0"/>
              </a:spcAft>
              <a:buClr>
                <a:schemeClr val="dk1"/>
              </a:buClr>
              <a:buSzPts val="1400"/>
              <a:buChar char="◈"/>
            </a:pPr>
            <a:r>
              <a:rPr lang="en-US">
                <a:solidFill>
                  <a:schemeClr val="dk1"/>
                </a:solidFill>
              </a:rPr>
              <a:t>The remote PIC must inspect the sUAS before each flight.</a:t>
            </a:r>
            <a:endParaRPr>
              <a:solidFill>
                <a:schemeClr val="dk1"/>
              </a:solidFill>
            </a:endParaRPr>
          </a:p>
          <a:p>
            <a:pPr indent="-306000" lvl="0" marL="342900" rtl="0" algn="l">
              <a:spcBef>
                <a:spcPts val="1000"/>
              </a:spcBef>
              <a:spcAft>
                <a:spcPts val="0"/>
              </a:spcAft>
              <a:buClr>
                <a:schemeClr val="dk1"/>
              </a:buClr>
              <a:buSzPts val="1400"/>
              <a:buChar char="◈"/>
            </a:pPr>
            <a:r>
              <a:rPr lang="en-US">
                <a:solidFill>
                  <a:schemeClr val="dk1"/>
                </a:solidFill>
              </a:rPr>
              <a:t>Preflight inspection should be a thorough and systematic means by which the remote PIC determines that the aircraft is in a safe condition for flight.</a:t>
            </a:r>
            <a:endParaRPr>
              <a:solidFill>
                <a:schemeClr val="dk1"/>
              </a:solidFill>
            </a:endParaRPr>
          </a:p>
          <a:p>
            <a:pPr indent="-306000" lvl="0" marL="342900" rtl="0" algn="l">
              <a:spcBef>
                <a:spcPts val="1000"/>
              </a:spcBef>
              <a:spcAft>
                <a:spcPts val="0"/>
              </a:spcAft>
              <a:buClr>
                <a:schemeClr val="dk1"/>
              </a:buClr>
              <a:buSzPts val="1400"/>
              <a:buChar char="◈"/>
            </a:pPr>
            <a:r>
              <a:rPr lang="en-US">
                <a:solidFill>
                  <a:schemeClr val="dk1"/>
                </a:solidFill>
              </a:rPr>
              <a:t>When in doubt, remove and replace any damaged part.</a:t>
            </a:r>
            <a:endParaRPr>
              <a:solidFill>
                <a:schemeClr val="dk1"/>
              </a:solidFill>
            </a:endParaRPr>
          </a:p>
          <a:p>
            <a:pPr indent="-306000" lvl="0" marL="342900" rtl="0" algn="l">
              <a:spcBef>
                <a:spcPts val="1000"/>
              </a:spcBef>
              <a:spcAft>
                <a:spcPts val="0"/>
              </a:spcAft>
              <a:buClr>
                <a:schemeClr val="dk1"/>
              </a:buClr>
              <a:buSzPts val="1400"/>
              <a:buChar char="◈"/>
            </a:pPr>
            <a:r>
              <a:rPr lang="en-US">
                <a:solidFill>
                  <a:schemeClr val="dk1"/>
                </a:solidFill>
              </a:rPr>
              <a:t>Always consult with the manufacturer for the proper procedure for the repair and/or replacement of parts. </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descr="Beautify this slide" id="163" name="Google Shape;163;p22"/>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descr="Beautify this slide" id="168" name="Google Shape;168;p23"/>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p24"/>
          <p:cNvPicPr preferRelativeResize="0"/>
          <p:nvPr/>
        </p:nvPicPr>
        <p:blipFill rotWithShape="1">
          <a:blip r:embed="rId3">
            <a:alphaModFix/>
          </a:blip>
          <a:srcRect b="0" l="0" r="0" t="0"/>
          <a:stretch/>
        </p:blipFill>
        <p:spPr>
          <a:xfrm>
            <a:off x="92909" y="399009"/>
            <a:ext cx="7155790" cy="5841461"/>
          </a:xfrm>
          <a:prstGeom prst="rect">
            <a:avLst/>
          </a:prstGeom>
          <a:noFill/>
          <a:ln>
            <a:noFill/>
          </a:ln>
        </p:spPr>
      </p:pic>
      <p:sp>
        <p:nvSpPr>
          <p:cNvPr id="174" name="Google Shape;174;p24"/>
          <p:cNvSpPr txBox="1"/>
          <p:nvPr/>
        </p:nvSpPr>
        <p:spPr>
          <a:xfrm>
            <a:off x="7259518" y="773084"/>
            <a:ext cx="4968300" cy="369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Lustria"/>
                <a:ea typeface="Lustria"/>
                <a:cs typeface="Lustria"/>
                <a:sym typeface="Lustria"/>
              </a:rPr>
              <a:t>“On the 45 for 18”</a:t>
            </a:r>
            <a:endParaRPr>
              <a:solidFill>
                <a:schemeClr val="dk1"/>
              </a:solidFill>
            </a:endParaRPr>
          </a:p>
          <a:p>
            <a:pPr indent="0" lvl="0" marL="0" marR="0" rtl="0" algn="l">
              <a:spcBef>
                <a:spcPts val="0"/>
              </a:spcBef>
              <a:spcAft>
                <a:spcPts val="0"/>
              </a:spcAft>
              <a:buNone/>
            </a:pPr>
            <a:r>
              <a:rPr lang="en-US" sz="1800">
                <a:solidFill>
                  <a:schemeClr val="dk1"/>
                </a:solidFill>
                <a:latin typeface="Lustria"/>
                <a:ea typeface="Lustria"/>
                <a:cs typeface="Lustria"/>
                <a:sym typeface="Lustria"/>
              </a:rPr>
              <a:t>“Entering a left downwind for 18”</a:t>
            </a:r>
            <a:endParaRPr>
              <a:solidFill>
                <a:schemeClr val="dk1"/>
              </a:solidFill>
            </a:endParaRPr>
          </a:p>
          <a:p>
            <a:pPr indent="0" lvl="0" marL="0" marR="0" rtl="0" algn="l">
              <a:spcBef>
                <a:spcPts val="0"/>
              </a:spcBef>
              <a:spcAft>
                <a:spcPts val="0"/>
              </a:spcAft>
              <a:buNone/>
            </a:pPr>
            <a:r>
              <a:rPr lang="en-US" sz="1800">
                <a:solidFill>
                  <a:schemeClr val="dk1"/>
                </a:solidFill>
                <a:latin typeface="Lustria"/>
                <a:ea typeface="Lustria"/>
                <a:cs typeface="Lustria"/>
                <a:sym typeface="Lustria"/>
              </a:rPr>
              <a:t>“Turning left base runway 36”</a:t>
            </a:r>
            <a:endParaRPr>
              <a:solidFill>
                <a:schemeClr val="dk1"/>
              </a:solidFill>
            </a:endParaRPr>
          </a:p>
          <a:p>
            <a:pPr indent="0" lvl="0" marL="0" marR="0" rtl="0" algn="l">
              <a:spcBef>
                <a:spcPts val="0"/>
              </a:spcBef>
              <a:spcAft>
                <a:spcPts val="0"/>
              </a:spcAft>
              <a:buNone/>
            </a:pPr>
            <a:r>
              <a:rPr lang="en-US" sz="1800">
                <a:solidFill>
                  <a:schemeClr val="dk1"/>
                </a:solidFill>
                <a:latin typeface="Lustria"/>
                <a:ea typeface="Lustria"/>
                <a:cs typeface="Lustria"/>
                <a:sym typeface="Lustria"/>
              </a:rPr>
              <a:t>“Final 36”</a:t>
            </a:r>
            <a:endParaRPr>
              <a:solidFill>
                <a:schemeClr val="dk1"/>
              </a:solidFill>
            </a:endParaRPr>
          </a:p>
          <a:p>
            <a:pPr indent="0" lvl="0" marL="0" marR="0" rtl="0" algn="l">
              <a:spcBef>
                <a:spcPts val="0"/>
              </a:spcBef>
              <a:spcAft>
                <a:spcPts val="0"/>
              </a:spcAft>
              <a:buNone/>
            </a:pPr>
            <a:r>
              <a:rPr lang="en-US" sz="1800">
                <a:solidFill>
                  <a:schemeClr val="dk1"/>
                </a:solidFill>
                <a:latin typeface="Lustria"/>
                <a:ea typeface="Lustria"/>
                <a:cs typeface="Lustria"/>
                <a:sym typeface="Lustria"/>
              </a:rPr>
              <a:t>“Turning final 36”</a:t>
            </a:r>
            <a:endParaRPr>
              <a:solidFill>
                <a:schemeClr val="dk1"/>
              </a:solidFill>
            </a:endParaRPr>
          </a:p>
          <a:p>
            <a:pPr indent="0" lvl="0" marL="0" marR="0" rtl="0" algn="l">
              <a:spcBef>
                <a:spcPts val="0"/>
              </a:spcBef>
              <a:spcAft>
                <a:spcPts val="0"/>
              </a:spcAft>
              <a:buNone/>
            </a:pPr>
            <a:r>
              <a:rPr lang="en-US" sz="1800">
                <a:solidFill>
                  <a:schemeClr val="dk1"/>
                </a:solidFill>
                <a:latin typeface="Lustria"/>
                <a:ea typeface="Lustria"/>
                <a:cs typeface="Lustria"/>
                <a:sym typeface="Lustria"/>
              </a:rPr>
              <a:t>“Short final 36”</a:t>
            </a:r>
            <a:endParaRPr>
              <a:solidFill>
                <a:schemeClr val="dk1"/>
              </a:solidFill>
            </a:endParaRPr>
          </a:p>
          <a:p>
            <a:pPr indent="0" lvl="0" marL="0" marR="0" rtl="0" algn="l">
              <a:spcBef>
                <a:spcPts val="0"/>
              </a:spcBef>
              <a:spcAft>
                <a:spcPts val="0"/>
              </a:spcAft>
              <a:buNone/>
            </a:pPr>
            <a:r>
              <a:rPr lang="en-US" sz="1800">
                <a:solidFill>
                  <a:schemeClr val="dk1"/>
                </a:solidFill>
                <a:latin typeface="Lustria"/>
                <a:ea typeface="Lustria"/>
                <a:cs typeface="Lustria"/>
                <a:sym typeface="Lustria"/>
              </a:rPr>
              <a:t>“turning left crosswind 18”</a:t>
            </a:r>
            <a:endParaRPr>
              <a:solidFill>
                <a:schemeClr val="dk1"/>
              </a:solidFill>
            </a:endParaRPr>
          </a:p>
          <a:p>
            <a:pPr indent="0" lvl="0" marL="0" marR="0" rtl="0" algn="l">
              <a:spcBef>
                <a:spcPts val="0"/>
              </a:spcBef>
              <a:spcAft>
                <a:spcPts val="0"/>
              </a:spcAft>
              <a:buNone/>
            </a:pPr>
            <a:r>
              <a:rPr lang="en-US" sz="1800">
                <a:solidFill>
                  <a:schemeClr val="dk1"/>
                </a:solidFill>
                <a:latin typeface="Lustria"/>
                <a:ea typeface="Lustria"/>
                <a:cs typeface="Lustria"/>
                <a:sym typeface="Lustria"/>
              </a:rPr>
              <a:t>“upwind 36 departing the area to the NW”</a:t>
            </a:r>
            <a:endParaRPr>
              <a:solidFill>
                <a:schemeClr val="dk1"/>
              </a:solidFill>
            </a:endParaRPr>
          </a:p>
          <a:p>
            <a:pPr indent="0" lvl="0" marL="0" marR="0" rtl="0" algn="l">
              <a:spcBef>
                <a:spcPts val="0"/>
              </a:spcBef>
              <a:spcAft>
                <a:spcPts val="0"/>
              </a:spcAft>
              <a:buNone/>
            </a:pPr>
            <a:r>
              <a:rPr lang="en-US" sz="1800">
                <a:solidFill>
                  <a:schemeClr val="dk1"/>
                </a:solidFill>
                <a:latin typeface="Lustria"/>
                <a:ea typeface="Lustria"/>
                <a:cs typeface="Lustria"/>
                <a:sym typeface="Lustria"/>
              </a:rPr>
              <a:t>“departing runway 18 will remain in the pattern”</a:t>
            </a:r>
            <a:endParaRPr>
              <a:solidFill>
                <a:schemeClr val="dk1"/>
              </a:solidFill>
            </a:endParaRPr>
          </a:p>
          <a:p>
            <a:pPr indent="0" lvl="0" marL="0" marR="0" rtl="0" algn="l">
              <a:spcBef>
                <a:spcPts val="0"/>
              </a:spcBef>
              <a:spcAft>
                <a:spcPts val="0"/>
              </a:spcAft>
              <a:buNone/>
            </a:pPr>
            <a:r>
              <a:rPr lang="en-US" sz="1800">
                <a:solidFill>
                  <a:schemeClr val="dk1"/>
                </a:solidFill>
                <a:latin typeface="Lustria"/>
                <a:ea typeface="Lustria"/>
                <a:cs typeface="Lustria"/>
                <a:sym typeface="Lustria"/>
              </a:rPr>
              <a:t>“Departing 36 close traffic”</a:t>
            </a:r>
            <a:endParaRPr>
              <a:solidFill>
                <a:schemeClr val="dk1"/>
              </a:solidFill>
            </a:endParaRPr>
          </a:p>
          <a:p>
            <a:pPr indent="0" lvl="0" marL="0" marR="0" rtl="0" algn="l">
              <a:spcBef>
                <a:spcPts val="0"/>
              </a:spcBef>
              <a:spcAft>
                <a:spcPts val="0"/>
              </a:spcAft>
              <a:buNone/>
            </a:pPr>
            <a:r>
              <a:t/>
            </a:r>
            <a:endParaRPr sz="1800">
              <a:solidFill>
                <a:schemeClr val="lt1"/>
              </a:solidFill>
              <a:latin typeface="Lustria"/>
              <a:ea typeface="Lustria"/>
              <a:cs typeface="Lustria"/>
              <a:sym typeface="Lustria"/>
            </a:endParaRPr>
          </a:p>
          <a:p>
            <a:pPr indent="0" lvl="0" marL="0" marR="0" rtl="0" algn="l">
              <a:spcBef>
                <a:spcPts val="0"/>
              </a:spcBef>
              <a:spcAft>
                <a:spcPts val="0"/>
              </a:spcAft>
              <a:buNone/>
            </a:pPr>
            <a:r>
              <a:t/>
            </a:r>
            <a:endParaRPr sz="1800">
              <a:solidFill>
                <a:schemeClr val="lt1"/>
              </a:solidFill>
              <a:latin typeface="Lustria"/>
              <a:ea typeface="Lustria"/>
              <a:cs typeface="Lustria"/>
              <a:sym typeface="Lustria"/>
            </a:endParaRPr>
          </a:p>
        </p:txBody>
      </p:sp>
      <p:sp>
        <p:nvSpPr>
          <p:cNvPr id="175" name="Google Shape;175;p24"/>
          <p:cNvSpPr txBox="1"/>
          <p:nvPr/>
        </p:nvSpPr>
        <p:spPr>
          <a:xfrm>
            <a:off x="7665918" y="4358737"/>
            <a:ext cx="3393300" cy="1754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Lustria"/>
                <a:ea typeface="Lustria"/>
                <a:cs typeface="Lustria"/>
                <a:sym typeface="Lustria"/>
              </a:rPr>
              <a:t>“You are operating your sUAS:</a:t>
            </a:r>
            <a:endParaRPr>
              <a:solidFill>
                <a:schemeClr val="dk1"/>
              </a:solidFill>
            </a:endParaRPr>
          </a:p>
          <a:p>
            <a:pPr indent="0" lvl="0" marL="0" marR="0" rtl="0" algn="l">
              <a:spcBef>
                <a:spcPts val="0"/>
              </a:spcBef>
              <a:spcAft>
                <a:spcPts val="0"/>
              </a:spcAft>
              <a:buNone/>
            </a:pPr>
            <a:r>
              <a:rPr lang="en-US" sz="1800">
                <a:solidFill>
                  <a:schemeClr val="dk1"/>
                </a:solidFill>
                <a:latin typeface="Lustria"/>
                <a:ea typeface="Lustria"/>
                <a:cs typeface="Lustria"/>
                <a:sym typeface="Lustria"/>
              </a:rPr>
              <a:t> 1 mile north of the airport</a:t>
            </a:r>
            <a:endParaRPr>
              <a:solidFill>
                <a:schemeClr val="dk1"/>
              </a:solidFill>
            </a:endParaRPr>
          </a:p>
          <a:p>
            <a:pPr indent="0" lvl="0" marL="0" marR="0" rtl="0" algn="l">
              <a:spcBef>
                <a:spcPts val="0"/>
              </a:spcBef>
              <a:spcAft>
                <a:spcPts val="0"/>
              </a:spcAft>
              <a:buNone/>
            </a:pPr>
            <a:r>
              <a:rPr lang="en-US" sz="1800">
                <a:solidFill>
                  <a:schemeClr val="dk1"/>
                </a:solidFill>
                <a:latin typeface="Lustria"/>
                <a:ea typeface="Lustria"/>
                <a:cs typeface="Lustria"/>
                <a:sym typeface="Lustria"/>
              </a:rPr>
              <a:t>¼ mile east of the airport</a:t>
            </a:r>
            <a:endParaRPr>
              <a:solidFill>
                <a:schemeClr val="dk1"/>
              </a:solidFill>
            </a:endParaRPr>
          </a:p>
          <a:p>
            <a:pPr indent="0" lvl="0" marL="0" marR="0" rtl="0" algn="l">
              <a:spcBef>
                <a:spcPts val="0"/>
              </a:spcBef>
              <a:spcAft>
                <a:spcPts val="0"/>
              </a:spcAft>
              <a:buNone/>
            </a:pPr>
            <a:r>
              <a:rPr lang="en-US" sz="1800">
                <a:solidFill>
                  <a:schemeClr val="dk1"/>
                </a:solidFill>
                <a:latin typeface="Lustria"/>
                <a:ea typeface="Lustria"/>
                <a:cs typeface="Lustria"/>
                <a:sym typeface="Lustria"/>
              </a:rPr>
              <a:t>2 miles north west of the airport.</a:t>
            </a:r>
            <a:endParaRPr sz="1800">
              <a:solidFill>
                <a:schemeClr val="dk1"/>
              </a:solidFill>
              <a:latin typeface="Lustria"/>
              <a:ea typeface="Lustria"/>
              <a:cs typeface="Lustria"/>
              <a:sym typeface="Lustr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5"/>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Operations</a:t>
            </a:r>
            <a:br>
              <a:rPr lang="en-US"/>
            </a:br>
            <a:r>
              <a:rPr lang="en-US"/>
              <a:t>Communication Procedures</a:t>
            </a:r>
            <a:endParaRPr/>
          </a:p>
        </p:txBody>
      </p:sp>
      <p:pic>
        <p:nvPicPr>
          <p:cNvPr id="181" name="Google Shape;181;p25"/>
          <p:cNvPicPr preferRelativeResize="0"/>
          <p:nvPr>
            <p:ph idx="1" type="body"/>
          </p:nvPr>
        </p:nvPicPr>
        <p:blipFill rotWithShape="1">
          <a:blip r:embed="rId3">
            <a:alphaModFix/>
          </a:blip>
          <a:srcRect b="0" l="0" r="0" t="0"/>
          <a:stretch/>
        </p:blipFill>
        <p:spPr>
          <a:xfrm>
            <a:off x="919045" y="2594599"/>
            <a:ext cx="10353900" cy="4058700"/>
          </a:xfrm>
          <a:prstGeom prst="rect">
            <a:avLst/>
          </a:prstGeom>
          <a:noFill/>
          <a:ln>
            <a:noFill/>
          </a:ln>
          <a:effectLst>
            <a:outerShdw blurRad="25400">
              <a:srgbClr val="000000">
                <a:alpha val="45882"/>
              </a:srgbClr>
            </a:outerShdw>
          </a:effectLst>
        </p:spPr>
      </p:pic>
      <p:sp>
        <p:nvSpPr>
          <p:cNvPr id="182" name="Google Shape;182;p25"/>
          <p:cNvSpPr txBox="1"/>
          <p:nvPr/>
        </p:nvSpPr>
        <p:spPr>
          <a:xfrm>
            <a:off x="1602297" y="1680518"/>
            <a:ext cx="8640600" cy="923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Lustria"/>
                <a:ea typeface="Lustria"/>
                <a:cs typeface="Lustria"/>
                <a:sym typeface="Lustria"/>
              </a:rPr>
              <a:t>The remote PIC and all crew members should be familiar with common communication frequencies and when radio calls and position reports are expected. </a:t>
            </a:r>
            <a:endParaRPr sz="1800">
              <a:solidFill>
                <a:schemeClr val="dk1"/>
              </a:solidFill>
              <a:latin typeface="Lustria"/>
              <a:ea typeface="Lustria"/>
              <a:cs typeface="Lustria"/>
              <a:sym typeface="Lustr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6"/>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Operations</a:t>
            </a:r>
            <a:br>
              <a:rPr lang="en-US"/>
            </a:br>
            <a:r>
              <a:rPr lang="en-US"/>
              <a:t>Communication Procedures</a:t>
            </a:r>
            <a:endParaRPr/>
          </a:p>
        </p:txBody>
      </p:sp>
      <p:pic>
        <p:nvPicPr>
          <p:cNvPr id="188" name="Google Shape;188;p26"/>
          <p:cNvPicPr preferRelativeResize="0"/>
          <p:nvPr/>
        </p:nvPicPr>
        <p:blipFill rotWithShape="1">
          <a:blip r:embed="rId3">
            <a:alphaModFix/>
          </a:blip>
          <a:srcRect b="26296" l="5525" r="4625" t="23573"/>
          <a:stretch/>
        </p:blipFill>
        <p:spPr>
          <a:xfrm rot="5400000">
            <a:off x="-1495168" y="2244816"/>
            <a:ext cx="6161903" cy="2578443"/>
          </a:xfrm>
          <a:prstGeom prst="rect">
            <a:avLst/>
          </a:prstGeom>
          <a:noFill/>
          <a:ln>
            <a:noFill/>
          </a:ln>
        </p:spPr>
      </p:pic>
      <p:sp>
        <p:nvSpPr>
          <p:cNvPr id="189" name="Google Shape;189;p26"/>
          <p:cNvSpPr txBox="1"/>
          <p:nvPr/>
        </p:nvSpPr>
        <p:spPr>
          <a:xfrm>
            <a:off x="3104985" y="2101783"/>
            <a:ext cx="8253600" cy="230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Lustria"/>
              <a:ea typeface="Lustria"/>
              <a:cs typeface="Lustria"/>
              <a:sym typeface="Lustria"/>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Lustria"/>
                <a:ea typeface="Lustria"/>
                <a:cs typeface="Lustria"/>
                <a:sym typeface="Lustria"/>
              </a:rPr>
              <a:t>Aircraft call signs should be spoken in their entirety, using the phonetic alphabet.</a:t>
            </a:r>
            <a:endParaRPr>
              <a:solidFill>
                <a:schemeClr val="dk1"/>
              </a:solidFill>
            </a:endParaRPr>
          </a:p>
          <a:p>
            <a:pPr indent="-171450" lvl="0" marL="285750" marR="0" rtl="0" algn="l">
              <a:spcBef>
                <a:spcPts val="0"/>
              </a:spcBef>
              <a:spcAft>
                <a:spcPts val="0"/>
              </a:spcAft>
              <a:buClr>
                <a:schemeClr val="lt1"/>
              </a:buClr>
              <a:buSzPts val="1800"/>
              <a:buFont typeface="Arial"/>
              <a:buNone/>
            </a:pPr>
            <a:r>
              <a:t/>
            </a:r>
            <a:endParaRPr sz="1800">
              <a:solidFill>
                <a:schemeClr val="dk1"/>
              </a:solidFill>
              <a:latin typeface="Lustria"/>
              <a:ea typeface="Lustria"/>
              <a:cs typeface="Lustria"/>
              <a:sym typeface="Lustria"/>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Lustria"/>
                <a:ea typeface="Lustria"/>
                <a:cs typeface="Lustria"/>
                <a:sym typeface="Lustria"/>
              </a:rPr>
              <a:t>Numbers are spoken individually.</a:t>
            </a:r>
            <a:endParaRPr>
              <a:solidFill>
                <a:schemeClr val="dk1"/>
              </a:solidFill>
            </a:endParaRPr>
          </a:p>
          <a:p>
            <a:pPr indent="-171450" lvl="0" marL="285750" marR="0" rtl="0" algn="l">
              <a:spcBef>
                <a:spcPts val="0"/>
              </a:spcBef>
              <a:spcAft>
                <a:spcPts val="0"/>
              </a:spcAft>
              <a:buClr>
                <a:schemeClr val="lt1"/>
              </a:buClr>
              <a:buSzPts val="1800"/>
              <a:buFont typeface="Arial"/>
              <a:buNone/>
            </a:pPr>
            <a:r>
              <a:t/>
            </a:r>
            <a:endParaRPr sz="1800">
              <a:solidFill>
                <a:schemeClr val="dk1"/>
              </a:solidFill>
              <a:latin typeface="Lustria"/>
              <a:ea typeface="Lustria"/>
              <a:cs typeface="Lustria"/>
              <a:sym typeface="Lustria"/>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Lustria"/>
                <a:ea typeface="Lustria"/>
                <a:cs typeface="Lustria"/>
                <a:sym typeface="Lustria"/>
              </a:rPr>
              <a:t>The remote PIC and all crew members should understand common phrases used in air traffic radio communication.  </a:t>
            </a:r>
            <a:endParaRPr sz="1800">
              <a:solidFill>
                <a:schemeClr val="dk1"/>
              </a:solidFill>
              <a:latin typeface="Lustria"/>
              <a:ea typeface="Lustria"/>
              <a:cs typeface="Lustria"/>
              <a:sym typeface="Lustr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7"/>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Operations</a:t>
            </a:r>
            <a:br>
              <a:rPr lang="en-US"/>
            </a:br>
            <a:r>
              <a:rPr lang="en-US"/>
              <a:t>Communication Procedures</a:t>
            </a:r>
            <a:endParaRPr/>
          </a:p>
        </p:txBody>
      </p:sp>
      <p:sp>
        <p:nvSpPr>
          <p:cNvPr id="195" name="Google Shape;195;p27"/>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0" lvl="0" marL="36900" rtl="0" algn="l">
              <a:spcBef>
                <a:spcPts val="0"/>
              </a:spcBef>
              <a:spcAft>
                <a:spcPts val="0"/>
              </a:spcAft>
              <a:buSzPts val="1400"/>
              <a:buNone/>
            </a:pPr>
            <a:r>
              <a:rPr lang="en-US"/>
              <a:t>The term “initial radio contact” or “initial callup” means the first radio call you make to a given faculty, or the first call to a different controller or flight service specialist within a facility. Use the following format:</a:t>
            </a:r>
            <a:endParaRPr/>
          </a:p>
          <a:p>
            <a:pPr indent="-270000" lvl="1" marL="720000" rtl="0" algn="l">
              <a:spcBef>
                <a:spcPts val="960"/>
              </a:spcBef>
              <a:spcAft>
                <a:spcPts val="0"/>
              </a:spcAft>
              <a:buSzPts val="1260"/>
              <a:buChar char="🞚"/>
            </a:pPr>
            <a:r>
              <a:rPr lang="en-US"/>
              <a:t>Name of the facility being called.</a:t>
            </a:r>
            <a:endParaRPr/>
          </a:p>
          <a:p>
            <a:pPr indent="-270000" lvl="1" marL="720000" rtl="0" algn="l">
              <a:spcBef>
                <a:spcPts val="960"/>
              </a:spcBef>
              <a:spcAft>
                <a:spcPts val="0"/>
              </a:spcAft>
              <a:buSzPts val="1260"/>
              <a:buChar char="🞚"/>
            </a:pPr>
            <a:r>
              <a:rPr lang="en-US"/>
              <a:t>Your full aircraft identification as filed in the flight plan.</a:t>
            </a:r>
            <a:endParaRPr/>
          </a:p>
          <a:p>
            <a:pPr indent="-270000" lvl="1" marL="720000" rtl="0" algn="l">
              <a:spcBef>
                <a:spcPts val="960"/>
              </a:spcBef>
              <a:spcAft>
                <a:spcPts val="0"/>
              </a:spcAft>
              <a:buSzPts val="1260"/>
              <a:buChar char="🞚"/>
            </a:pPr>
            <a:r>
              <a:rPr lang="en-US"/>
              <a:t>Type of message to follow or your request if it is short.</a:t>
            </a:r>
            <a:endParaRPr/>
          </a:p>
          <a:p>
            <a:pPr indent="-270000" lvl="1" marL="720000" rtl="0" algn="l">
              <a:spcBef>
                <a:spcPts val="960"/>
              </a:spcBef>
              <a:spcAft>
                <a:spcPts val="0"/>
              </a:spcAft>
              <a:buSzPts val="1260"/>
              <a:buChar char="🞚"/>
            </a:pPr>
            <a:r>
              <a:rPr lang="en-US"/>
              <a:t>The word “over” if required. This is typically omitted and is no longer commonly used.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8"/>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Sample Communication Phraseology</a:t>
            </a:r>
            <a:br>
              <a:rPr lang="en-US"/>
            </a:br>
            <a:r>
              <a:rPr lang="en-US"/>
              <a:t>What does all of this mean?</a:t>
            </a:r>
            <a:endParaRPr/>
          </a:p>
        </p:txBody>
      </p:sp>
      <p:sp>
        <p:nvSpPr>
          <p:cNvPr id="201" name="Google Shape;201;p28"/>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lnSpcReduction="20000"/>
          </a:bodyPr>
          <a:lstStyle/>
          <a:p>
            <a:pPr indent="-306000" lvl="0" marL="342900" rtl="0" algn="l">
              <a:spcBef>
                <a:spcPts val="0"/>
              </a:spcBef>
              <a:spcAft>
                <a:spcPts val="0"/>
              </a:spcAft>
              <a:buSzPts val="1400"/>
              <a:buChar char="◈"/>
            </a:pPr>
            <a:r>
              <a:rPr lang="en-US"/>
              <a:t>Aircraft- “Bozeman approach skyhawk niner two lima Charlie”</a:t>
            </a:r>
            <a:endParaRPr/>
          </a:p>
          <a:p>
            <a:pPr indent="-306000" lvl="0" marL="342900" rtl="0" algn="l">
              <a:spcBef>
                <a:spcPts val="1000"/>
              </a:spcBef>
              <a:spcAft>
                <a:spcPts val="0"/>
              </a:spcAft>
              <a:buSzPts val="1400"/>
              <a:buChar char="◈"/>
            </a:pPr>
            <a:r>
              <a:rPr lang="en-US"/>
              <a:t>ATC “Skyhawk niner two lima Charlie say request”</a:t>
            </a:r>
            <a:endParaRPr/>
          </a:p>
          <a:p>
            <a:pPr indent="-306000" lvl="0" marL="342900" rtl="0" algn="l">
              <a:spcBef>
                <a:spcPts val="1000"/>
              </a:spcBef>
              <a:spcAft>
                <a:spcPts val="0"/>
              </a:spcAft>
              <a:buSzPts val="1400"/>
              <a:buChar char="◈"/>
            </a:pPr>
            <a:r>
              <a:rPr lang="en-US"/>
              <a:t>Aircraft “We would like VFR flight following to Sierra Delta Yankee, Sidney-Richland. Currently 6 thousand three hundred climbing seven thousand five hundred niner two lima charlie”</a:t>
            </a:r>
            <a:endParaRPr/>
          </a:p>
          <a:p>
            <a:pPr indent="-306000" lvl="0" marL="342900" rtl="0" algn="l">
              <a:spcBef>
                <a:spcPts val="1000"/>
              </a:spcBef>
              <a:spcAft>
                <a:spcPts val="0"/>
              </a:spcAft>
              <a:buSzPts val="1400"/>
              <a:buChar char="◈"/>
            </a:pPr>
            <a:r>
              <a:rPr lang="en-US"/>
              <a:t>ATC “niner two lima Charlie squawk 3461 and ident”</a:t>
            </a:r>
            <a:endParaRPr/>
          </a:p>
          <a:p>
            <a:pPr indent="-306000" lvl="0" marL="342900" rtl="0" algn="l">
              <a:spcBef>
                <a:spcPts val="1000"/>
              </a:spcBef>
              <a:spcAft>
                <a:spcPts val="0"/>
              </a:spcAft>
              <a:buSzPts val="1400"/>
              <a:buChar char="◈"/>
            </a:pPr>
            <a:r>
              <a:rPr lang="en-US"/>
              <a:t>Aircraft “3461 niner two lima Charlie”</a:t>
            </a:r>
            <a:endParaRPr/>
          </a:p>
          <a:p>
            <a:pPr indent="-306000" lvl="0" marL="342900" rtl="0" algn="l">
              <a:spcBef>
                <a:spcPts val="1000"/>
              </a:spcBef>
              <a:spcAft>
                <a:spcPts val="0"/>
              </a:spcAft>
              <a:buSzPts val="1400"/>
              <a:buChar char="◈"/>
            </a:pPr>
            <a:r>
              <a:rPr lang="en-US"/>
              <a:t>ATC “niner two lima charlie radar contact 5 mile SE Bozeman field,  climb maintain seven thousand five hundred, maintain VFR, Bozeman altimeter two niner zero niner”</a:t>
            </a:r>
            <a:endParaRPr/>
          </a:p>
          <a:p>
            <a:pPr indent="-306000" lvl="0" marL="342900" rtl="0" algn="l">
              <a:spcBef>
                <a:spcPts val="1000"/>
              </a:spcBef>
              <a:spcAft>
                <a:spcPts val="0"/>
              </a:spcAft>
              <a:buSzPts val="1400"/>
              <a:buChar char="◈"/>
            </a:pPr>
            <a:r>
              <a:rPr lang="en-US"/>
              <a:t>Aircraft “climb maintain seven thousand five hundred, two niner zero niner Skyhawk niner two lima Charlie”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9"/>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Operations</a:t>
            </a:r>
            <a:br>
              <a:rPr lang="en-US"/>
            </a:br>
            <a:r>
              <a:rPr lang="en-US"/>
              <a:t>sUAS Frequencies</a:t>
            </a:r>
            <a:endParaRPr/>
          </a:p>
        </p:txBody>
      </p:sp>
      <p:sp>
        <p:nvSpPr>
          <p:cNvPr id="207" name="Google Shape;207;p29"/>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fontScale="92500"/>
          </a:bodyPr>
          <a:lstStyle/>
          <a:p>
            <a:pPr indent="-299333" lvl="0" marL="342900" rtl="0" algn="l">
              <a:spcBef>
                <a:spcPts val="0"/>
              </a:spcBef>
              <a:spcAft>
                <a:spcPts val="0"/>
              </a:spcAft>
              <a:buSzPct val="70000"/>
              <a:buChar char="◈"/>
            </a:pPr>
            <a:r>
              <a:rPr lang="en-US"/>
              <a:t>Radio frequency bands are regulated by the Federal Communications Commission (FCC).</a:t>
            </a:r>
            <a:endParaRPr/>
          </a:p>
          <a:p>
            <a:pPr indent="-299333" lvl="0" marL="342900" rtl="0" algn="l">
              <a:spcBef>
                <a:spcPts val="1000"/>
              </a:spcBef>
              <a:spcAft>
                <a:spcPts val="0"/>
              </a:spcAft>
              <a:buSzPct val="70000"/>
              <a:buChar char="◈"/>
            </a:pPr>
            <a:r>
              <a:rPr lang="en-US"/>
              <a:t>Most common sUAS frequencies are 2.4GHz and 5.8 GHz. </a:t>
            </a:r>
            <a:endParaRPr/>
          </a:p>
          <a:p>
            <a:pPr indent="-299333" lvl="0" marL="342900" rtl="0" algn="l">
              <a:spcBef>
                <a:spcPts val="1000"/>
              </a:spcBef>
              <a:spcAft>
                <a:spcPts val="0"/>
              </a:spcAft>
              <a:buSzPct val="70000"/>
              <a:buChar char="◈"/>
            </a:pPr>
            <a:r>
              <a:rPr lang="en-US"/>
              <a:t>These frequencies are close to wireless network frequencies and can cause interference.</a:t>
            </a:r>
            <a:endParaRPr/>
          </a:p>
          <a:p>
            <a:pPr indent="-263999" lvl="1" marL="720000" rtl="0" algn="l">
              <a:spcBef>
                <a:spcPts val="960"/>
              </a:spcBef>
              <a:spcAft>
                <a:spcPts val="0"/>
              </a:spcAft>
              <a:buSzPct val="70000"/>
              <a:buChar char="🞚"/>
            </a:pPr>
            <a:r>
              <a:rPr lang="en-US"/>
              <a:t>Frequency interference increases fly away risk near densely populated areas. </a:t>
            </a:r>
            <a:endParaRPr/>
          </a:p>
          <a:p>
            <a:pPr indent="-299333" lvl="0" marL="342900" rtl="0" algn="l">
              <a:spcBef>
                <a:spcPts val="1000"/>
              </a:spcBef>
              <a:spcAft>
                <a:spcPts val="0"/>
              </a:spcAft>
              <a:buSzPct val="70000"/>
              <a:buChar char="◈"/>
            </a:pPr>
            <a:r>
              <a:rPr lang="en-US"/>
              <a:t>5.8GHz used for control.</a:t>
            </a:r>
            <a:endParaRPr/>
          </a:p>
          <a:p>
            <a:pPr indent="-299333" lvl="0" marL="342900" rtl="0" algn="l">
              <a:spcBef>
                <a:spcPts val="1000"/>
              </a:spcBef>
              <a:spcAft>
                <a:spcPts val="0"/>
              </a:spcAft>
              <a:buSzPct val="70000"/>
              <a:buChar char="◈"/>
            </a:pPr>
            <a:r>
              <a:rPr lang="en-US"/>
              <a:t>2.4 GHZ used to transmit photos and videos.</a:t>
            </a:r>
            <a:endParaRPr/>
          </a:p>
          <a:p>
            <a:pPr indent="-299333" lvl="0" marL="342900" rtl="0" algn="l">
              <a:spcBef>
                <a:spcPts val="1000"/>
              </a:spcBef>
              <a:spcAft>
                <a:spcPts val="0"/>
              </a:spcAft>
              <a:buSzPct val="70000"/>
              <a:buChar char="◈"/>
            </a:pPr>
            <a:r>
              <a:rPr lang="en-US"/>
              <a:t>Consult the FCC for frequency licensing info at </a:t>
            </a:r>
            <a:endParaRPr/>
          </a:p>
          <a:p>
            <a:pPr indent="0" lvl="0" marL="36900" rtl="0" algn="ctr">
              <a:spcBef>
                <a:spcPts val="1000"/>
              </a:spcBef>
              <a:spcAft>
                <a:spcPts val="0"/>
              </a:spcAft>
              <a:buSzPct val="70000"/>
              <a:buNone/>
            </a:pPr>
            <a:r>
              <a:rPr lang="en-US" u="sng">
                <a:hlinkClick r:id="rId3"/>
              </a:rPr>
              <a:t>www.fcc.gov/licencing-databases/licencing</a:t>
            </a:r>
            <a:endParaRPr/>
          </a:p>
          <a:p>
            <a:pPr indent="0" lvl="0" marL="36900" rtl="0" algn="ctr">
              <a:spcBef>
                <a:spcPts val="1000"/>
              </a:spcBef>
              <a:spcAft>
                <a:spcPts val="0"/>
              </a:spcAft>
              <a:buSzPct val="70000"/>
              <a:buNone/>
            </a:pPr>
            <a:r>
              <a:t/>
            </a:r>
            <a:endParaRPr/>
          </a:p>
          <a:p>
            <a:pPr indent="-217100" lvl="0" marL="342900" rtl="0" algn="l">
              <a:spcBef>
                <a:spcPts val="1000"/>
              </a:spcBef>
              <a:spcAft>
                <a:spcPts val="0"/>
              </a:spcAft>
              <a:buSzPct val="700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0"/>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Operations</a:t>
            </a:r>
            <a:br>
              <a:rPr lang="en-US"/>
            </a:br>
            <a:r>
              <a:rPr lang="en-US"/>
              <a:t>Emergency Procedures</a:t>
            </a:r>
            <a:endParaRPr/>
          </a:p>
        </p:txBody>
      </p:sp>
      <p:sp>
        <p:nvSpPr>
          <p:cNvPr id="213" name="Google Shape;213;p30"/>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b="1" lang="en-US"/>
              <a:t>Lost Link </a:t>
            </a:r>
            <a:r>
              <a:rPr lang="en-US"/>
              <a:t>- Loss of communications link between PIC and aircraft. Notify ATC if in controlled airspace. </a:t>
            </a:r>
            <a:endParaRPr/>
          </a:p>
          <a:p>
            <a:pPr indent="-306000" lvl="0" marL="342900" rtl="0" algn="l">
              <a:spcBef>
                <a:spcPts val="1000"/>
              </a:spcBef>
              <a:spcAft>
                <a:spcPts val="0"/>
              </a:spcAft>
              <a:buSzPts val="1400"/>
              <a:buChar char="◈"/>
            </a:pPr>
            <a:r>
              <a:rPr b="1" lang="en-US"/>
              <a:t>Flight Termination </a:t>
            </a:r>
            <a:r>
              <a:rPr lang="en-US"/>
              <a:t>– Intentional  process of controlled flight into the ground to terminate a flight.</a:t>
            </a:r>
            <a:endParaRPr/>
          </a:p>
          <a:p>
            <a:pPr indent="-306000" lvl="0" marL="342900" rtl="0" algn="l">
              <a:spcBef>
                <a:spcPts val="1000"/>
              </a:spcBef>
              <a:spcAft>
                <a:spcPts val="0"/>
              </a:spcAft>
              <a:buSzPts val="1400"/>
              <a:buChar char="◈"/>
            </a:pPr>
            <a:r>
              <a:rPr b="1" lang="en-US"/>
              <a:t>Flyaways</a:t>
            </a:r>
            <a:r>
              <a:rPr lang="en-US"/>
              <a:t> – Typically occurs after a loss link. Aircraft flys uncontrolled and unpredictably. If in ATC controlled airspace, notify ATC immediately. </a:t>
            </a:r>
            <a:endParaRPr/>
          </a:p>
          <a:p>
            <a:pPr indent="-306000" lvl="0" marL="342900" rtl="0" algn="l">
              <a:spcBef>
                <a:spcPts val="1000"/>
              </a:spcBef>
              <a:spcAft>
                <a:spcPts val="0"/>
              </a:spcAft>
              <a:buSzPts val="1400"/>
              <a:buChar char="◈"/>
            </a:pPr>
            <a:r>
              <a:rPr b="1" lang="en-US"/>
              <a:t>Loss of GPS </a:t>
            </a:r>
            <a:r>
              <a:rPr lang="en-US"/>
              <a:t>– Pilots should not become over reliant on GPS. Remote PIC should have plan in place if loss of GPS occurs. Loss of GPS is not typically an emergency.</a:t>
            </a:r>
            <a:endParaRPr/>
          </a:p>
          <a:p>
            <a:pPr indent="-306000" lvl="0" marL="342900" rtl="0" algn="l">
              <a:spcBef>
                <a:spcPts val="1000"/>
              </a:spcBef>
              <a:spcAft>
                <a:spcPts val="0"/>
              </a:spcAft>
              <a:buSzPts val="1400"/>
              <a:buChar char="◈"/>
            </a:pPr>
            <a:r>
              <a:rPr b="1" lang="en-US"/>
              <a:t>Battery Fires </a:t>
            </a:r>
            <a:r>
              <a:rPr lang="en-US"/>
              <a:t>– Lithium metal and lithium-ion batteries are highly flammable, and subject to thermal runaway. Pose a significant hazard to sUAS. Never use damaged batteries.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1"/>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Operations</a:t>
            </a:r>
            <a:br>
              <a:rPr lang="en-US"/>
            </a:br>
            <a:r>
              <a:rPr lang="en-US"/>
              <a:t>Aeronautical Decision Making</a:t>
            </a:r>
            <a:endParaRPr/>
          </a:p>
        </p:txBody>
      </p:sp>
      <p:sp>
        <p:nvSpPr>
          <p:cNvPr id="219" name="Google Shape;219;p31"/>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lnSpcReduction="20000"/>
          </a:bodyPr>
          <a:lstStyle/>
          <a:p>
            <a:pPr indent="0" lvl="0" marL="36900" rtl="0" algn="ctr">
              <a:spcBef>
                <a:spcPts val="0"/>
              </a:spcBef>
              <a:spcAft>
                <a:spcPts val="0"/>
              </a:spcAft>
              <a:buSzPts val="1400"/>
              <a:buNone/>
            </a:pPr>
            <a:r>
              <a:rPr b="1" lang="en-US"/>
              <a:t>Develop a culture of safety</a:t>
            </a:r>
            <a:endParaRPr/>
          </a:p>
          <a:p>
            <a:pPr indent="-312667" lvl="0" marL="342900" rtl="0" algn="l">
              <a:spcBef>
                <a:spcPts val="970"/>
              </a:spcBef>
              <a:spcAft>
                <a:spcPts val="0"/>
              </a:spcAft>
              <a:buSzPts val="1400"/>
              <a:buChar char="◈"/>
            </a:pPr>
            <a:r>
              <a:rPr b="1" lang="en-US"/>
              <a:t>Situational awareness </a:t>
            </a:r>
            <a:r>
              <a:rPr lang="en-US"/>
              <a:t>– obtain as much information as possible before a flight. Knowledge of airspace, weather, privacy, and ATC requirements all contribute to a remote PICs situational awareness. </a:t>
            </a:r>
            <a:endParaRPr/>
          </a:p>
          <a:p>
            <a:pPr indent="-312667" lvl="0" marL="342900" rtl="0" algn="l">
              <a:spcBef>
                <a:spcPts val="970"/>
              </a:spcBef>
              <a:spcAft>
                <a:spcPts val="0"/>
              </a:spcAft>
              <a:buSzPts val="1400"/>
              <a:buChar char="◈"/>
            </a:pPr>
            <a:r>
              <a:rPr b="1" lang="en-US"/>
              <a:t>Risk-based Aeronautical Decision Making (ADM) </a:t>
            </a:r>
            <a:r>
              <a:rPr lang="en-US"/>
              <a:t>– a systematic approach to the metal process used by pilots to consistently determine the best course of action in response to a given set of circumstances. </a:t>
            </a:r>
            <a:endParaRPr/>
          </a:p>
          <a:p>
            <a:pPr indent="-312667" lvl="0" marL="342900" rtl="0" algn="l">
              <a:spcBef>
                <a:spcPts val="970"/>
              </a:spcBef>
              <a:spcAft>
                <a:spcPts val="0"/>
              </a:spcAft>
              <a:buSzPts val="1400"/>
              <a:buChar char="◈"/>
            </a:pPr>
            <a:r>
              <a:rPr b="1" lang="en-US"/>
              <a:t>Crew Resource Management (CRM) </a:t>
            </a:r>
            <a:r>
              <a:rPr lang="en-US"/>
              <a:t>– the effective use of all available resources, human, hardware, information,  etc., prior to, and during flight, to ensure a successful outcome of the operation. </a:t>
            </a:r>
            <a:endParaRPr/>
          </a:p>
          <a:p>
            <a:pPr indent="-312667" lvl="0" marL="342900" rtl="0" algn="l">
              <a:spcBef>
                <a:spcPts val="970"/>
              </a:spcBef>
              <a:spcAft>
                <a:spcPts val="0"/>
              </a:spcAft>
              <a:buSzPts val="1400"/>
              <a:buChar char="◈"/>
            </a:pPr>
            <a:r>
              <a:rPr b="1" lang="en-US"/>
              <a:t>Safety Management Systems (SMS) </a:t>
            </a:r>
            <a:r>
              <a:rPr lang="en-US"/>
              <a:t>– the formal, top-down business-like approach to managing safety risk, which includes a systemic approach to managing safety, including the necessary organizational structures, accountabilities, policies and procedures.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2"/>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Operations</a:t>
            </a:r>
            <a:br>
              <a:rPr lang="en-US"/>
            </a:br>
            <a:r>
              <a:rPr lang="en-US"/>
              <a:t>Aeronautical Decision Making</a:t>
            </a:r>
            <a:endParaRPr/>
          </a:p>
        </p:txBody>
      </p:sp>
      <p:pic>
        <p:nvPicPr>
          <p:cNvPr id="225" name="Google Shape;225;p32"/>
          <p:cNvPicPr preferRelativeResize="0"/>
          <p:nvPr>
            <p:ph idx="1" type="body"/>
          </p:nvPr>
        </p:nvPicPr>
        <p:blipFill rotWithShape="1">
          <a:blip r:embed="rId3">
            <a:alphaModFix/>
          </a:blip>
          <a:srcRect b="4119" l="0" r="0" t="0"/>
          <a:stretch/>
        </p:blipFill>
        <p:spPr>
          <a:xfrm>
            <a:off x="913795" y="1732449"/>
            <a:ext cx="10353900" cy="4058700"/>
          </a:xfrm>
          <a:prstGeom prst="rect">
            <a:avLst/>
          </a:prstGeom>
          <a:noFill/>
          <a:ln>
            <a:noFill/>
          </a:ln>
          <a:effectLst>
            <a:outerShdw blurRad="25400">
              <a:srgbClr val="000000">
                <a:alpha val="45882"/>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3"/>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Operations</a:t>
            </a:r>
            <a:br>
              <a:rPr lang="en-US"/>
            </a:br>
            <a:r>
              <a:rPr lang="en-US"/>
              <a:t>Physiology</a:t>
            </a:r>
            <a:endParaRPr/>
          </a:p>
        </p:txBody>
      </p:sp>
      <p:sp>
        <p:nvSpPr>
          <p:cNvPr id="231" name="Google Shape;231;p33"/>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fontScale="77500" lnSpcReduction="20000"/>
          </a:bodyPr>
          <a:lstStyle/>
          <a:p>
            <a:pPr indent="-306000" lvl="0" marL="342900" rtl="0" algn="l">
              <a:spcBef>
                <a:spcPts val="0"/>
              </a:spcBef>
              <a:spcAft>
                <a:spcPts val="0"/>
              </a:spcAft>
              <a:buSzPct val="70000"/>
              <a:buChar char="◈"/>
            </a:pPr>
            <a:r>
              <a:rPr b="1" lang="en-US"/>
              <a:t>Hyperventilation</a:t>
            </a:r>
            <a:r>
              <a:rPr lang="en-US"/>
              <a:t> – a deficiency of carbon dioxide within the body. Can be the result of rapid breathing from stress, anxiety or fear. </a:t>
            </a:r>
            <a:endParaRPr/>
          </a:p>
          <a:p>
            <a:pPr indent="-306000" lvl="0" marL="342900" rtl="0" algn="l">
              <a:spcBef>
                <a:spcPts val="910"/>
              </a:spcBef>
              <a:spcAft>
                <a:spcPts val="0"/>
              </a:spcAft>
              <a:buSzPct val="70000"/>
              <a:buChar char="◈"/>
            </a:pPr>
            <a:r>
              <a:rPr b="1" lang="en-US"/>
              <a:t>Dehydration</a:t>
            </a:r>
            <a:r>
              <a:rPr lang="en-US"/>
              <a:t> - Critical loss of water from the body. (headaches, fatigue, cramps, sleepiness, and dizziness are symptoms).</a:t>
            </a:r>
            <a:endParaRPr/>
          </a:p>
          <a:p>
            <a:pPr indent="-306000" lvl="0" marL="342900" rtl="0" algn="l">
              <a:spcBef>
                <a:spcPts val="910"/>
              </a:spcBef>
              <a:spcAft>
                <a:spcPts val="0"/>
              </a:spcAft>
              <a:buSzPct val="70000"/>
              <a:buChar char="◈"/>
            </a:pPr>
            <a:r>
              <a:rPr b="1" lang="en-US"/>
              <a:t>Heatstroke</a:t>
            </a:r>
            <a:r>
              <a:rPr lang="en-US"/>
              <a:t> – Any inability of the body to regulate temperature. (symptoms common to dehydration symptoms but can also become complete collapse of victim). </a:t>
            </a:r>
            <a:endParaRPr/>
          </a:p>
          <a:p>
            <a:pPr indent="-306000" lvl="0" marL="342900" rtl="0" algn="l">
              <a:spcBef>
                <a:spcPts val="910"/>
              </a:spcBef>
              <a:spcAft>
                <a:spcPts val="0"/>
              </a:spcAft>
              <a:buSzPct val="70000"/>
              <a:buChar char="◈"/>
            </a:pPr>
            <a:r>
              <a:rPr b="1" lang="en-US"/>
              <a:t>Hypothermia</a:t>
            </a:r>
            <a:r>
              <a:rPr lang="en-US"/>
              <a:t> – excessively low body temperature. (shivering, clumsiness, slurred speech, confusion, low energy, discoloration of the skin (red or blue) loss of consciousness). </a:t>
            </a:r>
            <a:endParaRPr/>
          </a:p>
          <a:p>
            <a:pPr indent="-306000" lvl="0" marL="342900" rtl="0" algn="l">
              <a:spcBef>
                <a:spcPts val="910"/>
              </a:spcBef>
              <a:spcAft>
                <a:spcPts val="0"/>
              </a:spcAft>
              <a:buSzPct val="70000"/>
              <a:buChar char="◈"/>
            </a:pPr>
            <a:r>
              <a:rPr b="1" lang="en-US"/>
              <a:t>Stress</a:t>
            </a:r>
            <a:r>
              <a:rPr lang="en-US"/>
              <a:t> – Causes by many factors including working with new or inexperienced crew members, having spectators or government officials on hand etc. Prior proper planning can help reduce stress. </a:t>
            </a:r>
            <a:endParaRPr/>
          </a:p>
          <a:p>
            <a:pPr indent="-306000" lvl="0" marL="342900" rtl="0" algn="l">
              <a:spcBef>
                <a:spcPts val="910"/>
              </a:spcBef>
              <a:spcAft>
                <a:spcPts val="0"/>
              </a:spcAft>
              <a:buSzPct val="70000"/>
              <a:buChar char="◈"/>
            </a:pPr>
            <a:r>
              <a:rPr b="1" lang="en-US"/>
              <a:t>Fatigue</a:t>
            </a:r>
            <a:r>
              <a:rPr lang="en-US"/>
              <a:t> – Acute (short term) and chronic (prolonged) tiredness. Fatigue is a factor in many aviation accidents. Fatigue can be caused by lack of sleep, stress, length of time spent on a specific task etc. Chronic fatigue can be caused when acute fatigue has not been fully recovered from. </a:t>
            </a:r>
            <a:endParaRPr/>
          </a:p>
          <a:p>
            <a:pPr indent="-306000" lvl="0" marL="342900" rtl="0" algn="l">
              <a:spcBef>
                <a:spcPts val="910"/>
              </a:spcBef>
              <a:spcAft>
                <a:spcPts val="0"/>
              </a:spcAft>
              <a:buSzPct val="70000"/>
              <a:buChar char="◈"/>
            </a:pPr>
            <a:r>
              <a:rPr b="1" lang="en-US"/>
              <a:t>Chronic Stress </a:t>
            </a:r>
            <a:r>
              <a:rPr lang="en-US"/>
              <a:t>– Long term untreated stress. Best way to treat stress is to remove or limit stressors. Chronic stress can weaken the immune system, cause high blood pressure, anxiety, confusion, mental errors, insomnia.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4"/>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2"/>
              </a:buClr>
              <a:buSzPct val="100000"/>
              <a:buFont typeface="Lustria"/>
              <a:buNone/>
            </a:pPr>
            <a:r>
              <a:rPr lang="en-US"/>
              <a:t>Operations</a:t>
            </a:r>
            <a:br>
              <a:rPr lang="en-US"/>
            </a:br>
            <a:r>
              <a:rPr lang="en-US"/>
              <a:t>Maintenance and Inspection Procedures</a:t>
            </a:r>
            <a:endParaRPr/>
          </a:p>
        </p:txBody>
      </p:sp>
      <p:sp>
        <p:nvSpPr>
          <p:cNvPr id="237" name="Google Shape;237;p34"/>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Follow all manufacturer maintenance recommendations to achieve the longest and safest service life of the sUAS. </a:t>
            </a:r>
            <a:endParaRPr/>
          </a:p>
          <a:p>
            <a:pPr indent="-306000" lvl="0" marL="342900" rtl="0" algn="l">
              <a:spcBef>
                <a:spcPts val="1000"/>
              </a:spcBef>
              <a:spcAft>
                <a:spcPts val="0"/>
              </a:spcAft>
              <a:buSzPts val="1400"/>
              <a:buChar char="◈"/>
            </a:pPr>
            <a:r>
              <a:rPr lang="en-US"/>
              <a:t>If no procedures exist, it is recommended that the remote PIC develop his/her own procedures. </a:t>
            </a:r>
            <a:endParaRPr/>
          </a:p>
          <a:p>
            <a:pPr indent="-306000" lvl="0" marL="342900" rtl="0" algn="l">
              <a:spcBef>
                <a:spcPts val="1000"/>
              </a:spcBef>
              <a:spcAft>
                <a:spcPts val="0"/>
              </a:spcAft>
              <a:buSzPts val="1400"/>
              <a:buChar char="◈"/>
            </a:pPr>
            <a:r>
              <a:rPr lang="en-US"/>
              <a:t>Follow the most restrictive limitations or component cycle life in order error on the side of safety. </a:t>
            </a:r>
            <a:endParaRPr/>
          </a:p>
          <a:p>
            <a:pPr indent="0" lvl="0" marL="36900" rtl="0" algn="ctr">
              <a:spcBef>
                <a:spcPts val="1000"/>
              </a:spcBef>
              <a:spcAft>
                <a:spcPts val="0"/>
              </a:spcAft>
              <a:buSzPts val="1400"/>
              <a:buNone/>
            </a:pPr>
            <a:r>
              <a:rPr b="1" lang="en-US"/>
              <a:t>It is the remote PIC’s responsibility to make sure the UAS (as well as the remoter pilot) is in a safe condition for flight.</a:t>
            </a:r>
            <a:endParaRPr b="1"/>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5"/>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What does a training flight look like?</a:t>
            </a:r>
            <a:endParaRPr/>
          </a:p>
        </p:txBody>
      </p:sp>
      <p:sp>
        <p:nvSpPr>
          <p:cNvPr id="243" name="Google Shape;243;p35"/>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fontScale="77500" lnSpcReduction="20000"/>
          </a:bodyPr>
          <a:lstStyle/>
          <a:p>
            <a:pPr indent="-312667" lvl="0" marL="342900" rtl="0" algn="l">
              <a:spcBef>
                <a:spcPts val="0"/>
              </a:spcBef>
              <a:spcAft>
                <a:spcPts val="0"/>
              </a:spcAft>
              <a:buSzPct val="70000"/>
              <a:buChar char="◈"/>
            </a:pPr>
            <a:r>
              <a:rPr lang="en-US"/>
              <a:t>Check weather</a:t>
            </a:r>
            <a:endParaRPr/>
          </a:p>
          <a:p>
            <a:pPr indent="-312667" lvl="0" marL="342900" rtl="0" algn="l">
              <a:spcBef>
                <a:spcPts val="880"/>
              </a:spcBef>
              <a:spcAft>
                <a:spcPts val="0"/>
              </a:spcAft>
              <a:buSzPct val="70000"/>
              <a:buChar char="◈"/>
            </a:pPr>
            <a:r>
              <a:rPr lang="en-US"/>
              <a:t>Establish a flight zone.</a:t>
            </a:r>
            <a:endParaRPr/>
          </a:p>
          <a:p>
            <a:pPr indent="-312667" lvl="0" marL="342900" rtl="0" algn="l">
              <a:spcBef>
                <a:spcPts val="880"/>
              </a:spcBef>
              <a:spcAft>
                <a:spcPts val="0"/>
              </a:spcAft>
              <a:buSzPct val="70000"/>
              <a:buChar char="◈"/>
            </a:pPr>
            <a:r>
              <a:rPr lang="en-US"/>
              <a:t>Establish an observer area.</a:t>
            </a:r>
            <a:endParaRPr/>
          </a:p>
          <a:p>
            <a:pPr indent="-312667" lvl="0" marL="342900" rtl="0" algn="l">
              <a:spcBef>
                <a:spcPts val="880"/>
              </a:spcBef>
              <a:spcAft>
                <a:spcPts val="0"/>
              </a:spcAft>
              <a:buSzPct val="70000"/>
              <a:buChar char="◈"/>
            </a:pPr>
            <a:r>
              <a:rPr lang="en-US"/>
              <a:t>Establish a pilot and trainer area.</a:t>
            </a:r>
            <a:endParaRPr/>
          </a:p>
          <a:p>
            <a:pPr indent="-312667" lvl="0" marL="342900" rtl="0" algn="l">
              <a:spcBef>
                <a:spcPts val="880"/>
              </a:spcBef>
              <a:spcAft>
                <a:spcPts val="0"/>
              </a:spcAft>
              <a:buSzPct val="70000"/>
              <a:buChar char="◈"/>
            </a:pPr>
            <a:r>
              <a:rPr lang="en-US"/>
              <a:t>Pre-flight aircraft</a:t>
            </a:r>
            <a:endParaRPr/>
          </a:p>
          <a:p>
            <a:pPr indent="-276001" lvl="1" marL="720000" rtl="0" algn="l">
              <a:spcBef>
                <a:spcPts val="852"/>
              </a:spcBef>
              <a:spcAft>
                <a:spcPts val="0"/>
              </a:spcAft>
              <a:buSzPct val="70000"/>
              <a:buChar char="🞚"/>
            </a:pPr>
            <a:r>
              <a:rPr lang="en-US"/>
              <a:t>Flight controls free and correct</a:t>
            </a:r>
            <a:endParaRPr/>
          </a:p>
          <a:p>
            <a:pPr indent="-276001" lvl="1" marL="720000" rtl="0" algn="l">
              <a:spcBef>
                <a:spcPts val="852"/>
              </a:spcBef>
              <a:spcAft>
                <a:spcPts val="0"/>
              </a:spcAft>
              <a:buSzPct val="70000"/>
              <a:buChar char="🞚"/>
            </a:pPr>
            <a:r>
              <a:rPr lang="en-US"/>
              <a:t>Battery secure</a:t>
            </a:r>
            <a:endParaRPr/>
          </a:p>
          <a:p>
            <a:pPr indent="-276001" lvl="1" marL="720000" rtl="0" algn="l">
              <a:spcBef>
                <a:spcPts val="852"/>
              </a:spcBef>
              <a:spcAft>
                <a:spcPts val="0"/>
              </a:spcAft>
              <a:buSzPct val="70000"/>
              <a:buChar char="🞚"/>
            </a:pPr>
            <a:r>
              <a:rPr lang="en-US"/>
              <a:t>Dual control check</a:t>
            </a:r>
            <a:endParaRPr/>
          </a:p>
          <a:p>
            <a:pPr indent="-276001" lvl="1" marL="720000" rtl="0" algn="l">
              <a:spcBef>
                <a:spcPts val="852"/>
              </a:spcBef>
              <a:spcAft>
                <a:spcPts val="0"/>
              </a:spcAft>
              <a:buSzPct val="70000"/>
              <a:buChar char="🞚"/>
            </a:pPr>
            <a:r>
              <a:rPr lang="en-US"/>
              <a:t>Visual inspection of aircraft</a:t>
            </a:r>
            <a:endParaRPr/>
          </a:p>
          <a:p>
            <a:pPr indent="-276001" lvl="1" marL="720000" rtl="0" algn="l">
              <a:spcBef>
                <a:spcPts val="852"/>
              </a:spcBef>
              <a:spcAft>
                <a:spcPts val="0"/>
              </a:spcAft>
              <a:buSzPct val="70000"/>
              <a:buChar char="🞚"/>
            </a:pPr>
            <a:r>
              <a:rPr lang="en-US"/>
              <a:t>Check airspace (visually and on VFR sectional)</a:t>
            </a:r>
            <a:endParaRPr/>
          </a:p>
          <a:p>
            <a:pPr indent="-312667" lvl="0" marL="342900" rtl="0" algn="l">
              <a:spcBef>
                <a:spcPts val="880"/>
              </a:spcBef>
              <a:spcAft>
                <a:spcPts val="0"/>
              </a:spcAft>
              <a:buSzPct val="70000"/>
              <a:buChar char="◈"/>
            </a:pPr>
            <a:r>
              <a:rPr lang="en-US"/>
              <a:t>Preflight student</a:t>
            </a:r>
            <a:endParaRPr/>
          </a:p>
          <a:p>
            <a:pPr indent="-276001" lvl="1" marL="720000" rtl="0" algn="l">
              <a:spcBef>
                <a:spcPts val="852"/>
              </a:spcBef>
              <a:spcAft>
                <a:spcPts val="0"/>
              </a:spcAft>
              <a:buSzPct val="70000"/>
              <a:buChar char="🞚"/>
            </a:pPr>
            <a:r>
              <a:rPr lang="en-US"/>
              <a:t>alert </a:t>
            </a:r>
            <a:endParaRPr/>
          </a:p>
          <a:p>
            <a:pPr indent="-276001" lvl="1" marL="720000" rtl="0" algn="l">
              <a:spcBef>
                <a:spcPts val="852"/>
              </a:spcBef>
              <a:spcAft>
                <a:spcPts val="0"/>
              </a:spcAft>
              <a:buSzPct val="70000"/>
              <a:buChar char="🞚"/>
            </a:pPr>
            <a:r>
              <a:rPr lang="en-US"/>
              <a:t>distractions removed/mitigated</a:t>
            </a:r>
            <a:endParaRPr/>
          </a:p>
          <a:p>
            <a:pPr indent="-276001" lvl="1" marL="720000" rtl="0" algn="l">
              <a:spcBef>
                <a:spcPts val="852"/>
              </a:spcBef>
              <a:spcAft>
                <a:spcPts val="0"/>
              </a:spcAft>
              <a:buSzPct val="70000"/>
              <a:buChar char="🞚"/>
            </a:pPr>
            <a:r>
              <a:rPr lang="en-US"/>
              <a:t>Understand controls/what will happen next</a:t>
            </a:r>
            <a:endParaRPr/>
          </a:p>
        </p:txBody>
      </p:sp>
      <p:pic>
        <p:nvPicPr>
          <p:cNvPr id="244" name="Google Shape;244;p35"/>
          <p:cNvPicPr preferRelativeResize="0"/>
          <p:nvPr/>
        </p:nvPicPr>
        <p:blipFill rotWithShape="1">
          <a:blip r:embed="rId3">
            <a:alphaModFix/>
          </a:blip>
          <a:srcRect b="0" l="0" r="0" t="0"/>
          <a:stretch/>
        </p:blipFill>
        <p:spPr>
          <a:xfrm>
            <a:off x="5320143" y="2014070"/>
            <a:ext cx="6053837" cy="377713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6"/>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4000"/>
              <a:buFont typeface="Lustria"/>
              <a:buNone/>
            </a:pPr>
            <a:r>
              <a:rPr lang="en-US"/>
              <a:t>References</a:t>
            </a:r>
            <a:endParaRPr/>
          </a:p>
        </p:txBody>
      </p:sp>
      <p:sp>
        <p:nvSpPr>
          <p:cNvPr id="250" name="Google Shape;250;p36"/>
          <p:cNvSpPr txBox="1"/>
          <p:nvPr>
            <p:ph idx="1" type="body"/>
          </p:nvPr>
        </p:nvSpPr>
        <p:spPr>
          <a:xfrm>
            <a:off x="913795" y="1732449"/>
            <a:ext cx="10353762"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306000" lvl="0" marL="342900" rtl="0" algn="l">
              <a:spcBef>
                <a:spcPts val="0"/>
              </a:spcBef>
              <a:spcAft>
                <a:spcPts val="0"/>
              </a:spcAft>
              <a:buSzPts val="1400"/>
              <a:buChar char="◈"/>
            </a:pPr>
            <a:r>
              <a:rPr lang="en-US"/>
              <a:t>Marshall, D.; Barnhart, R., Shappee, E., Most, M. (2016). </a:t>
            </a:r>
            <a:r>
              <a:rPr i="1" lang="en-US"/>
              <a:t>Introduction to Unmanned Aircraft Systems.</a:t>
            </a:r>
            <a:r>
              <a:rPr lang="en-US"/>
              <a:t> New York, NY: CRC Press.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000000"/>
      </a:dk1>
      <a:lt1>
        <a:srgbClr val="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