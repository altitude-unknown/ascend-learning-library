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6858000" cx="12192000"/>
  <p:notesSz cx="6858000" cy="9144000"/>
  <p:embeddedFontLst>
    <p:embeddedFont>
      <p:font typeface="Lustria"/>
      <p:regular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FDF57B3-AB8E-4777-A536-E36D5BA31B19}">
  <a:tblStyle styleId="{2FDF57B3-AB8E-4777-A536-E36D5BA31B19}" styleName="Table_0">
    <a:wholeTbl>
      <a:tcTxStyle b="off" i="off">
        <a:font>
          <a:latin typeface="Calisto MT"/>
          <a:ea typeface="Calisto MT"/>
          <a:cs typeface="Calisto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3E8E7"/>
          </a:solidFill>
        </a:fill>
      </a:tcStyle>
    </a:wholeTbl>
    <a:band1H>
      <a:tcTxStyle/>
      <a:tcStyle>
        <a:fill>
          <a:solidFill>
            <a:srgbClr val="E7CECB"/>
          </a:solidFill>
        </a:fill>
      </a:tcStyle>
    </a:band1H>
    <a:band2H>
      <a:tcTxStyle/>
    </a:band2H>
    <a:band1V>
      <a:tcTxStyle/>
      <a:tcStyle>
        <a:fill>
          <a:solidFill>
            <a:srgbClr val="E7CECB"/>
          </a:solidFill>
        </a:fill>
      </a:tcStyle>
    </a:band1V>
    <a:band2V>
      <a:tcTxStyle/>
    </a:band2V>
    <a:lastCol>
      <a:tcTxStyle b="on" i="off">
        <a:font>
          <a:latin typeface="Calisto MT"/>
          <a:ea typeface="Calisto MT"/>
          <a:cs typeface="Calisto MT"/>
        </a:font>
        <a:schemeClr val="lt1"/>
      </a:tcTxStyle>
      <a:tcStyle>
        <a:fill>
          <a:solidFill>
            <a:schemeClr val="accent1"/>
          </a:solidFill>
        </a:fill>
      </a:tcStyle>
    </a:lastCol>
    <a:firstCol>
      <a:tcTxStyle b="on" i="off">
        <a:font>
          <a:latin typeface="Calisto MT"/>
          <a:ea typeface="Calisto MT"/>
          <a:cs typeface="Calisto MT"/>
        </a:font>
        <a:schemeClr val="lt1"/>
      </a:tcTxStyle>
      <a:tcStyle>
        <a:fill>
          <a:solidFill>
            <a:schemeClr val="accent1"/>
          </a:solidFill>
        </a:fill>
      </a:tcStyle>
    </a:firstCol>
    <a:lastRow>
      <a:tcTxStyle b="on" i="off">
        <a:font>
          <a:latin typeface="Calisto MT"/>
          <a:ea typeface="Calisto MT"/>
          <a:cs typeface="Calisto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sto MT"/>
          <a:ea typeface="Calisto MT"/>
          <a:cs typeface="Calisto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font" Target="fonts/Lustria-regular.fntdata"/><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9FC5E8"/>
        </a:solidFill>
      </p:bgPr>
    </p:bg>
    <p:spTree>
      <p:nvGrpSpPr>
        <p:cNvPr id="11" name="Shape 11"/>
        <p:cNvGrpSpPr/>
        <p:nvPr/>
      </p:nvGrpSpPr>
      <p:grpSpPr>
        <a:xfrm>
          <a:off x="0" y="0"/>
          <a:ext cx="0" cy="0"/>
          <a:chOff x="0" y="0"/>
          <a:chExt cx="0" cy="0"/>
        </a:xfrm>
      </p:grpSpPr>
      <p:sp>
        <p:nvSpPr>
          <p:cNvPr id="12" name="Google Shape;12;p2"/>
          <p:cNvSpPr txBox="1"/>
          <p:nvPr>
            <p:ph type="ctrTitle"/>
          </p:nvPr>
        </p:nvSpPr>
        <p:spPr>
          <a:xfrm>
            <a:off x="1370693" y="1769540"/>
            <a:ext cx="9440034" cy="1828801"/>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5400"/>
              <a:buFont typeface="Lustria"/>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 type="subTitle"/>
          </p:nvPr>
        </p:nvSpPr>
        <p:spPr>
          <a:xfrm>
            <a:off x="1370693" y="3598339"/>
            <a:ext cx="9440034" cy="1049867"/>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lvl="0" algn="ctr">
              <a:spcBef>
                <a:spcPts val="400"/>
              </a:spcBef>
              <a:spcAft>
                <a:spcPts val="0"/>
              </a:spcAft>
              <a:buSzPts val="1400"/>
              <a:buNone/>
              <a:defRPr>
                <a:solidFill>
                  <a:schemeClr val="lt1"/>
                </a:solidFill>
              </a:defRPr>
            </a:lvl1pPr>
            <a:lvl2pPr lvl="1" algn="ctr">
              <a:spcBef>
                <a:spcPts val="600"/>
              </a:spcBef>
              <a:spcAft>
                <a:spcPts val="0"/>
              </a:spcAft>
              <a:buSzPts val="1260"/>
              <a:buNone/>
              <a:defRPr>
                <a:solidFill>
                  <a:schemeClr val="lt1"/>
                </a:solidFill>
              </a:defRPr>
            </a:lvl2pPr>
            <a:lvl3pPr lvl="2" algn="ctr">
              <a:spcBef>
                <a:spcPts val="600"/>
              </a:spcBef>
              <a:spcAft>
                <a:spcPts val="0"/>
              </a:spcAft>
              <a:buSzPts val="1120"/>
              <a:buNone/>
              <a:defRPr>
                <a:solidFill>
                  <a:schemeClr val="lt1"/>
                </a:solidFill>
              </a:defRPr>
            </a:lvl3pPr>
            <a:lvl4pPr lvl="3" algn="ctr">
              <a:spcBef>
                <a:spcPts val="600"/>
              </a:spcBef>
              <a:spcAft>
                <a:spcPts val="0"/>
              </a:spcAft>
              <a:buSzPts val="980"/>
              <a:buNone/>
              <a:defRPr>
                <a:solidFill>
                  <a:schemeClr val="lt1"/>
                </a:solidFill>
              </a:defRPr>
            </a:lvl4pPr>
            <a:lvl5pPr lvl="4" algn="ctr">
              <a:spcBef>
                <a:spcPts val="600"/>
              </a:spcBef>
              <a:spcAft>
                <a:spcPts val="0"/>
              </a:spcAft>
              <a:buSzPts val="980"/>
              <a:buNone/>
              <a:defRPr>
                <a:solidFill>
                  <a:schemeClr val="lt1"/>
                </a:solidFill>
              </a:defRPr>
            </a:lvl5pPr>
            <a:lvl6pPr lvl="5" algn="ctr">
              <a:spcBef>
                <a:spcPts val="600"/>
              </a:spcBef>
              <a:spcAft>
                <a:spcPts val="0"/>
              </a:spcAft>
              <a:buSzPts val="980"/>
              <a:buNone/>
              <a:defRPr>
                <a:solidFill>
                  <a:schemeClr val="lt1"/>
                </a:solidFill>
              </a:defRPr>
            </a:lvl6pPr>
            <a:lvl7pPr lvl="6" algn="ctr">
              <a:spcBef>
                <a:spcPts val="600"/>
              </a:spcBef>
              <a:spcAft>
                <a:spcPts val="0"/>
              </a:spcAft>
              <a:buSzPts val="980"/>
              <a:buNone/>
              <a:defRPr>
                <a:solidFill>
                  <a:schemeClr val="lt1"/>
                </a:solidFill>
              </a:defRPr>
            </a:lvl7pPr>
            <a:lvl8pPr lvl="7" algn="ctr">
              <a:spcBef>
                <a:spcPts val="600"/>
              </a:spcBef>
              <a:spcAft>
                <a:spcPts val="0"/>
              </a:spcAft>
              <a:buSzPts val="980"/>
              <a:buNone/>
              <a:defRPr>
                <a:solidFill>
                  <a:schemeClr val="lt1"/>
                </a:solidFill>
              </a:defRPr>
            </a:lvl8pPr>
            <a:lvl9pPr lvl="8" algn="ctr">
              <a:spcBef>
                <a:spcPts val="600"/>
              </a:spcBef>
              <a:spcAft>
                <a:spcPts val="600"/>
              </a:spcAft>
              <a:buSzPts val="980"/>
              <a:buNone/>
              <a:defRPr>
                <a:solidFill>
                  <a:schemeClr val="lt1"/>
                </a:solidFill>
              </a:defRPr>
            </a:lvl9pPr>
          </a:lstStyle>
          <a:p/>
        </p:txBody>
      </p:sp>
      <p:sp>
        <p:nvSpPr>
          <p:cNvPr id="14" name="Google Shape;14;p2"/>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20" name="Google Shape;20;p3"/>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4"/>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1295401" y="1761067"/>
            <a:ext cx="9590550" cy="1828813"/>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4000"/>
              <a:buFont typeface="Lustria"/>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5"/>
          <p:cNvSpPr txBox="1"/>
          <p:nvPr>
            <p:ph idx="1" type="body"/>
          </p:nvPr>
        </p:nvSpPr>
        <p:spPr>
          <a:xfrm>
            <a:off x="1295401" y="3589879"/>
            <a:ext cx="9590550" cy="150705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400"/>
              </a:spcBef>
              <a:spcAft>
                <a:spcPts val="0"/>
              </a:spcAft>
              <a:buSzPts val="1400"/>
              <a:buNone/>
              <a:defRPr sz="2000">
                <a:solidFill>
                  <a:schemeClr val="lt1"/>
                </a:solidFill>
              </a:defRPr>
            </a:lvl1pPr>
            <a:lvl2pPr indent="-228600" lvl="1" marL="914400" algn="l">
              <a:spcBef>
                <a:spcPts val="600"/>
              </a:spcBef>
              <a:spcAft>
                <a:spcPts val="0"/>
              </a:spcAft>
              <a:buSzPts val="1260"/>
              <a:buNone/>
              <a:defRPr sz="1800">
                <a:solidFill>
                  <a:schemeClr val="lt1"/>
                </a:solidFill>
              </a:defRPr>
            </a:lvl2pPr>
            <a:lvl3pPr indent="-228600" lvl="2" marL="1371600" algn="l">
              <a:spcBef>
                <a:spcPts val="600"/>
              </a:spcBef>
              <a:spcAft>
                <a:spcPts val="0"/>
              </a:spcAft>
              <a:buSzPts val="1120"/>
              <a:buNone/>
              <a:defRPr sz="1600">
                <a:solidFill>
                  <a:schemeClr val="lt1"/>
                </a:solidFill>
              </a:defRPr>
            </a:lvl3pPr>
            <a:lvl4pPr indent="-228600" lvl="3" marL="1828800" algn="l">
              <a:spcBef>
                <a:spcPts val="600"/>
              </a:spcBef>
              <a:spcAft>
                <a:spcPts val="0"/>
              </a:spcAft>
              <a:buSzPts val="980"/>
              <a:buNone/>
              <a:defRPr sz="1400">
                <a:solidFill>
                  <a:schemeClr val="lt1"/>
                </a:solidFill>
              </a:defRPr>
            </a:lvl4pPr>
            <a:lvl5pPr indent="-228600" lvl="4" marL="2286000" algn="l">
              <a:spcBef>
                <a:spcPts val="600"/>
              </a:spcBef>
              <a:spcAft>
                <a:spcPts val="0"/>
              </a:spcAft>
              <a:buSzPts val="980"/>
              <a:buNone/>
              <a:defRPr sz="1400">
                <a:solidFill>
                  <a:schemeClr val="lt1"/>
                </a:solidFill>
              </a:defRPr>
            </a:lvl5pPr>
            <a:lvl6pPr indent="-228600" lvl="5" marL="2743200" algn="l">
              <a:spcBef>
                <a:spcPts val="600"/>
              </a:spcBef>
              <a:spcAft>
                <a:spcPts val="0"/>
              </a:spcAft>
              <a:buSzPts val="980"/>
              <a:buNone/>
              <a:defRPr sz="1400">
                <a:solidFill>
                  <a:schemeClr val="lt1"/>
                </a:solidFill>
              </a:defRPr>
            </a:lvl6pPr>
            <a:lvl7pPr indent="-228600" lvl="6" marL="3200400" algn="l">
              <a:spcBef>
                <a:spcPts val="600"/>
              </a:spcBef>
              <a:spcAft>
                <a:spcPts val="0"/>
              </a:spcAft>
              <a:buSzPts val="980"/>
              <a:buNone/>
              <a:defRPr sz="1400">
                <a:solidFill>
                  <a:schemeClr val="lt1"/>
                </a:solidFill>
              </a:defRPr>
            </a:lvl7pPr>
            <a:lvl8pPr indent="-228600" lvl="7" marL="3657600" algn="l">
              <a:spcBef>
                <a:spcPts val="600"/>
              </a:spcBef>
              <a:spcAft>
                <a:spcPts val="0"/>
              </a:spcAft>
              <a:buSzPts val="980"/>
              <a:buNone/>
              <a:defRPr sz="1400">
                <a:solidFill>
                  <a:schemeClr val="lt1"/>
                </a:solidFill>
              </a:defRPr>
            </a:lvl8pPr>
            <a:lvl9pPr indent="-228600" lvl="8" marL="4114800" algn="l">
              <a:spcBef>
                <a:spcPts val="600"/>
              </a:spcBef>
              <a:spcAft>
                <a:spcPts val="600"/>
              </a:spcAft>
              <a:buSzPts val="980"/>
              <a:buNone/>
              <a:defRPr sz="1400">
                <a:solidFill>
                  <a:schemeClr val="lt1"/>
                </a:solidFill>
              </a:defRPr>
            </a:lvl9pPr>
          </a:lstStyle>
          <a:p/>
        </p:txBody>
      </p:sp>
      <p:sp>
        <p:nvSpPr>
          <p:cNvPr id="30" name="Google Shape;30;p5"/>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
          <p:cNvSpPr txBox="1"/>
          <p:nvPr>
            <p:ph idx="1" type="body"/>
          </p:nvPr>
        </p:nvSpPr>
        <p:spPr>
          <a:xfrm>
            <a:off x="913795" y="1732449"/>
            <a:ext cx="5060497" cy="40587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36" name="Google Shape;36;p6"/>
          <p:cNvSpPr txBox="1"/>
          <p:nvPr>
            <p:ph idx="2" type="body"/>
          </p:nvPr>
        </p:nvSpPr>
        <p:spPr>
          <a:xfrm>
            <a:off x="6202892" y="1732449"/>
            <a:ext cx="5064665"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37" name="Google Shape;37;p6"/>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pic>
        <p:nvPicPr>
          <p:cNvPr descr="Slate-V2-HD-compPhotoInset.png" id="41" name="Google Shape;41;p7"/>
          <p:cNvPicPr preferRelativeResize="0"/>
          <p:nvPr/>
        </p:nvPicPr>
        <p:blipFill rotWithShape="1">
          <a:blip r:embed="rId2">
            <a:alphaModFix/>
          </a:blip>
          <a:srcRect b="0" l="0" r="0" t="0"/>
          <a:stretch/>
        </p:blipFill>
        <p:spPr>
          <a:xfrm>
            <a:off x="913795" y="1734506"/>
            <a:ext cx="5089072" cy="4148769"/>
          </a:xfrm>
          <a:prstGeom prst="rect">
            <a:avLst/>
          </a:prstGeom>
          <a:noFill/>
          <a:ln>
            <a:noFill/>
          </a:ln>
        </p:spPr>
      </p:pic>
      <p:pic>
        <p:nvPicPr>
          <p:cNvPr descr="Slate-V2-HD-compPhotoInset.png" id="42" name="Google Shape;42;p7"/>
          <p:cNvPicPr preferRelativeResize="0"/>
          <p:nvPr/>
        </p:nvPicPr>
        <p:blipFill rotWithShape="1">
          <a:blip r:embed="rId2">
            <a:alphaModFix/>
          </a:blip>
          <a:srcRect b="0" l="0" r="0" t="0"/>
          <a:stretch/>
        </p:blipFill>
        <p:spPr>
          <a:xfrm>
            <a:off x="6178485" y="1734506"/>
            <a:ext cx="5089072" cy="4148769"/>
          </a:xfrm>
          <a:prstGeom prst="rect">
            <a:avLst/>
          </a:prstGeom>
          <a:noFill/>
          <a:ln>
            <a:noFill/>
          </a:ln>
        </p:spPr>
      </p:pic>
      <p:sp>
        <p:nvSpPr>
          <p:cNvPr id="43" name="Google Shape;43;p7"/>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4000"/>
              <a:buFont typeface="Lustria"/>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idx="1" type="body"/>
          </p:nvPr>
        </p:nvSpPr>
        <p:spPr>
          <a:xfrm>
            <a:off x="1005872" y="1835254"/>
            <a:ext cx="4876344" cy="544884"/>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45" name="Google Shape;45;p7"/>
          <p:cNvSpPr txBox="1"/>
          <p:nvPr>
            <p:ph idx="2" type="body"/>
          </p:nvPr>
        </p:nvSpPr>
        <p:spPr>
          <a:xfrm>
            <a:off x="1005872" y="2380137"/>
            <a:ext cx="4876344" cy="341106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sz="1800"/>
            </a:lvl1pPr>
            <a:lvl2pPr indent="-299720" lvl="1" marL="914400" algn="l">
              <a:spcBef>
                <a:spcPts val="600"/>
              </a:spcBef>
              <a:spcAft>
                <a:spcPts val="0"/>
              </a:spcAft>
              <a:buSzPts val="1120"/>
              <a:buChar char="🞚"/>
              <a:defRPr sz="1600"/>
            </a:lvl2pPr>
            <a:lvl3pPr indent="-290830" lvl="2" marL="1371600" algn="l">
              <a:spcBef>
                <a:spcPts val="600"/>
              </a:spcBef>
              <a:spcAft>
                <a:spcPts val="0"/>
              </a:spcAft>
              <a:buSzPts val="980"/>
              <a:buChar char="◈"/>
              <a:defRPr sz="1400"/>
            </a:lvl3pPr>
            <a:lvl4pPr indent="-281940" lvl="3" marL="1828800" algn="l">
              <a:spcBef>
                <a:spcPts val="600"/>
              </a:spcBef>
              <a:spcAft>
                <a:spcPts val="0"/>
              </a:spcAft>
              <a:buSzPts val="840"/>
              <a:buChar char="🞚"/>
              <a:defRPr sz="1200"/>
            </a:lvl4pPr>
            <a:lvl5pPr indent="-281940" lvl="4" marL="2286000" algn="l">
              <a:spcBef>
                <a:spcPts val="600"/>
              </a:spcBef>
              <a:spcAft>
                <a:spcPts val="0"/>
              </a:spcAft>
              <a:buSzPts val="840"/>
              <a:buChar char="◈"/>
              <a:defRPr sz="1200"/>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46" name="Google Shape;46;p7"/>
          <p:cNvSpPr txBox="1"/>
          <p:nvPr>
            <p:ph idx="3" type="body"/>
          </p:nvPr>
        </p:nvSpPr>
        <p:spPr>
          <a:xfrm>
            <a:off x="6294967" y="1835254"/>
            <a:ext cx="4895330" cy="544883"/>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47" name="Google Shape;47;p7"/>
          <p:cNvSpPr txBox="1"/>
          <p:nvPr>
            <p:ph idx="4" type="body"/>
          </p:nvPr>
        </p:nvSpPr>
        <p:spPr>
          <a:xfrm>
            <a:off x="6294967" y="2380137"/>
            <a:ext cx="4895330" cy="341106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sz="1800"/>
            </a:lvl1pPr>
            <a:lvl2pPr indent="-299720" lvl="1" marL="914400" algn="l">
              <a:spcBef>
                <a:spcPts val="600"/>
              </a:spcBef>
              <a:spcAft>
                <a:spcPts val="0"/>
              </a:spcAft>
              <a:buSzPts val="1120"/>
              <a:buChar char="🞚"/>
              <a:defRPr sz="1600"/>
            </a:lvl2pPr>
            <a:lvl3pPr indent="-290830" lvl="2" marL="1371600" algn="l">
              <a:spcBef>
                <a:spcPts val="600"/>
              </a:spcBef>
              <a:spcAft>
                <a:spcPts val="0"/>
              </a:spcAft>
              <a:buSzPts val="980"/>
              <a:buChar char="◈"/>
              <a:defRPr sz="1400"/>
            </a:lvl3pPr>
            <a:lvl4pPr indent="-281940" lvl="3" marL="1828800" algn="l">
              <a:spcBef>
                <a:spcPts val="600"/>
              </a:spcBef>
              <a:spcAft>
                <a:spcPts val="0"/>
              </a:spcAft>
              <a:buSzPts val="840"/>
              <a:buChar char="🞚"/>
              <a:defRPr sz="1200"/>
            </a:lvl4pPr>
            <a:lvl5pPr indent="-281940" lvl="4" marL="2286000" algn="l">
              <a:spcBef>
                <a:spcPts val="600"/>
              </a:spcBef>
              <a:spcAft>
                <a:spcPts val="0"/>
              </a:spcAft>
              <a:buSzPts val="840"/>
              <a:buChar char="◈"/>
              <a:defRPr sz="1200"/>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48" name="Google Shape;48;p7"/>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8"/>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8"/>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8"/>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9"/>
          <p:cNvSpPr txBox="1"/>
          <p:nvPr>
            <p:ph type="title"/>
          </p:nvPr>
        </p:nvSpPr>
        <p:spPr>
          <a:xfrm>
            <a:off x="913795" y="609600"/>
            <a:ext cx="3706889" cy="1821918"/>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2400"/>
              <a:buFont typeface="Lustria"/>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9"/>
          <p:cNvSpPr txBox="1"/>
          <p:nvPr>
            <p:ph idx="1" type="body"/>
          </p:nvPr>
        </p:nvSpPr>
        <p:spPr>
          <a:xfrm>
            <a:off x="4855633" y="609600"/>
            <a:ext cx="6411924" cy="518160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59" name="Google Shape;59;p9"/>
          <p:cNvSpPr txBox="1"/>
          <p:nvPr>
            <p:ph idx="2" type="body"/>
          </p:nvPr>
        </p:nvSpPr>
        <p:spPr>
          <a:xfrm>
            <a:off x="913795" y="2431518"/>
            <a:ext cx="3706889" cy="335968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60" name="Google Shape;60;p9"/>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9"/>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pic>
        <p:nvPicPr>
          <p:cNvPr descr="Slate-V2-HD-vertPhotoInset.png" id="64" name="Google Shape;64;p10"/>
          <p:cNvPicPr preferRelativeResize="0"/>
          <p:nvPr/>
        </p:nvPicPr>
        <p:blipFill rotWithShape="1">
          <a:blip r:embed="rId2">
            <a:alphaModFix/>
          </a:blip>
          <a:srcRect b="0" l="0" r="0" t="0"/>
          <a:stretch/>
        </p:blipFill>
        <p:spPr>
          <a:xfrm>
            <a:off x="7293665" y="609600"/>
            <a:ext cx="3584166" cy="5204832"/>
          </a:xfrm>
          <a:prstGeom prst="rect">
            <a:avLst/>
          </a:prstGeom>
          <a:noFill/>
          <a:ln>
            <a:noFill/>
          </a:ln>
        </p:spPr>
      </p:pic>
      <p:sp>
        <p:nvSpPr>
          <p:cNvPr id="65" name="Google Shape;65;p10"/>
          <p:cNvSpPr txBox="1"/>
          <p:nvPr>
            <p:ph type="title"/>
          </p:nvPr>
        </p:nvSpPr>
        <p:spPr>
          <a:xfrm>
            <a:off x="913795" y="609923"/>
            <a:ext cx="5934949" cy="1829338"/>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lvl="0" algn="ctr">
              <a:spcBef>
                <a:spcPts val="0"/>
              </a:spcBef>
              <a:spcAft>
                <a:spcPts val="0"/>
              </a:spcAft>
              <a:buClr>
                <a:schemeClr val="lt2"/>
              </a:buClr>
              <a:buSzPts val="3200"/>
              <a:buFont typeface="Lustria"/>
              <a:buNone/>
              <a:defRPr b="0"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p:nvPr>
            <p:ph idx="2" type="pic"/>
          </p:nvPr>
        </p:nvSpPr>
        <p:spPr>
          <a:xfrm>
            <a:off x="7442551" y="763702"/>
            <a:ext cx="3275751" cy="4912822"/>
          </a:xfrm>
          <a:prstGeom prst="rect">
            <a:avLst/>
          </a:prstGeom>
          <a:noFill/>
          <a:ln>
            <a:noFill/>
          </a:ln>
          <a:effectLst>
            <a:outerShdw blurRad="38100" dir="4440000" dist="25400">
              <a:srgbClr val="000000">
                <a:alpha val="35686"/>
              </a:srgbClr>
            </a:outerShdw>
          </a:effectLst>
        </p:spPr>
      </p:sp>
      <p:sp>
        <p:nvSpPr>
          <p:cNvPr id="67" name="Google Shape;67;p10"/>
          <p:cNvSpPr txBox="1"/>
          <p:nvPr>
            <p:ph idx="1" type="body"/>
          </p:nvPr>
        </p:nvSpPr>
        <p:spPr>
          <a:xfrm>
            <a:off x="913795" y="2439261"/>
            <a:ext cx="5934949" cy="337613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68" name="Google Shape;68;p10"/>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0"/>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1" name="Shape 71"/>
        <p:cNvGrpSpPr/>
        <p:nvPr/>
      </p:nvGrpSpPr>
      <p:grpSpPr>
        <a:xfrm>
          <a:off x="0" y="0"/>
          <a:ext cx="0" cy="0"/>
          <a:chOff x="0" y="0"/>
          <a:chExt cx="0" cy="0"/>
        </a:xfrm>
      </p:grpSpPr>
      <p:pic>
        <p:nvPicPr>
          <p:cNvPr descr="Slate-V2-HD-panoPhotoInset.png" id="72" name="Google Shape;72;p11"/>
          <p:cNvPicPr preferRelativeResize="0"/>
          <p:nvPr/>
        </p:nvPicPr>
        <p:blipFill rotWithShape="1">
          <a:blip r:embed="rId2">
            <a:alphaModFix/>
          </a:blip>
          <a:srcRect b="0" l="0" r="0" t="0"/>
          <a:stretch/>
        </p:blipFill>
        <p:spPr>
          <a:xfrm>
            <a:off x="1013883" y="547807"/>
            <a:ext cx="10141799" cy="3816806"/>
          </a:xfrm>
          <a:prstGeom prst="rect">
            <a:avLst/>
          </a:prstGeom>
          <a:noFill/>
          <a:ln>
            <a:noFill/>
          </a:ln>
        </p:spPr>
      </p:pic>
      <p:sp>
        <p:nvSpPr>
          <p:cNvPr id="73" name="Google Shape;73;p11"/>
          <p:cNvSpPr txBox="1"/>
          <p:nvPr>
            <p:ph type="title"/>
          </p:nvPr>
        </p:nvSpPr>
        <p:spPr>
          <a:xfrm>
            <a:off x="913806" y="4565255"/>
            <a:ext cx="10355326" cy="54347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2800"/>
              <a:buFont typeface="Lustria"/>
              <a:buNone/>
              <a:defRPr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1"/>
          <p:cNvSpPr/>
          <p:nvPr>
            <p:ph idx="2" type="pic"/>
          </p:nvPr>
        </p:nvSpPr>
        <p:spPr>
          <a:xfrm>
            <a:off x="1169349" y="695009"/>
            <a:ext cx="9845346" cy="3525671"/>
          </a:xfrm>
          <a:prstGeom prst="rect">
            <a:avLst/>
          </a:prstGeom>
          <a:noFill/>
          <a:ln>
            <a:noFill/>
          </a:ln>
          <a:effectLst>
            <a:outerShdw blurRad="38100" dir="4440000" dist="25400">
              <a:srgbClr val="000000">
                <a:alpha val="35686"/>
              </a:srgbClr>
            </a:outerShdw>
          </a:effectLst>
        </p:spPr>
      </p:sp>
      <p:sp>
        <p:nvSpPr>
          <p:cNvPr id="75" name="Google Shape;75;p11"/>
          <p:cNvSpPr txBox="1"/>
          <p:nvPr>
            <p:ph idx="1" type="body"/>
          </p:nvPr>
        </p:nvSpPr>
        <p:spPr>
          <a:xfrm>
            <a:off x="913795" y="5108728"/>
            <a:ext cx="10353762" cy="68247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76" name="Google Shape;76;p11"/>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79" name="Shape 79"/>
        <p:cNvGrpSpPr/>
        <p:nvPr/>
      </p:nvGrpSpPr>
      <p:grpSpPr>
        <a:xfrm>
          <a:off x="0" y="0"/>
          <a:ext cx="0" cy="0"/>
          <a:chOff x="0" y="0"/>
          <a:chExt cx="0" cy="0"/>
        </a:xfrm>
      </p:grpSpPr>
      <p:sp>
        <p:nvSpPr>
          <p:cNvPr id="80" name="Google Shape;80;p12"/>
          <p:cNvSpPr txBox="1"/>
          <p:nvPr>
            <p:ph type="title"/>
          </p:nvPr>
        </p:nvSpPr>
        <p:spPr>
          <a:xfrm>
            <a:off x="913795" y="608437"/>
            <a:ext cx="10353762" cy="3534344"/>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3200"/>
              <a:buFont typeface="Lustria"/>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2"/>
          <p:cNvSpPr txBox="1"/>
          <p:nvPr>
            <p:ph idx="1" type="body"/>
          </p:nvPr>
        </p:nvSpPr>
        <p:spPr>
          <a:xfrm>
            <a:off x="913794" y="4295180"/>
            <a:ext cx="10353763" cy="1501826"/>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82" name="Google Shape;82;p12"/>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2"/>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85" name="Shape 85"/>
        <p:cNvGrpSpPr/>
        <p:nvPr/>
      </p:nvGrpSpPr>
      <p:grpSpPr>
        <a:xfrm>
          <a:off x="0" y="0"/>
          <a:ext cx="0" cy="0"/>
          <a:chOff x="0" y="0"/>
          <a:chExt cx="0" cy="0"/>
        </a:xfrm>
      </p:grpSpPr>
      <p:sp>
        <p:nvSpPr>
          <p:cNvPr id="86" name="Google Shape;86;p13"/>
          <p:cNvSpPr txBox="1"/>
          <p:nvPr>
            <p:ph type="title"/>
          </p:nvPr>
        </p:nvSpPr>
        <p:spPr>
          <a:xfrm>
            <a:off x="1446212" y="609600"/>
            <a:ext cx="9302752" cy="2992904"/>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3200"/>
              <a:buFont typeface="Lustria"/>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3"/>
          <p:cNvSpPr txBox="1"/>
          <p:nvPr>
            <p:ph idx="1" type="body"/>
          </p:nvPr>
        </p:nvSpPr>
        <p:spPr>
          <a:xfrm>
            <a:off x="1720644" y="3610032"/>
            <a:ext cx="8752299" cy="532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r">
              <a:spcBef>
                <a:spcPts val="280"/>
              </a:spcBef>
              <a:spcAft>
                <a:spcPts val="0"/>
              </a:spcAft>
              <a:buSzPts val="980"/>
              <a:buNone/>
              <a:defRPr sz="14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88" name="Google Shape;88;p13"/>
          <p:cNvSpPr txBox="1"/>
          <p:nvPr>
            <p:ph idx="2" type="body"/>
          </p:nvPr>
        </p:nvSpPr>
        <p:spPr>
          <a:xfrm>
            <a:off x="913794" y="4304353"/>
            <a:ext cx="10353763" cy="1489496"/>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89" name="Google Shape;89;p13"/>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3"/>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3"/>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2" name="Google Shape;92;p13"/>
          <p:cNvSpPr txBox="1"/>
          <p:nvPr/>
        </p:nvSpPr>
        <p:spPr>
          <a:xfrm>
            <a:off x="990600" y="88479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8000"/>
              <a:buFont typeface="Lustria"/>
              <a:buNone/>
            </a:pPr>
            <a:r>
              <a:rPr b="0" lang="en-US" sz="8000" cap="none">
                <a:solidFill>
                  <a:schemeClr val="lt1"/>
                </a:solidFill>
                <a:latin typeface="Lustria"/>
                <a:ea typeface="Lustria"/>
                <a:cs typeface="Lustria"/>
                <a:sym typeface="Lustria"/>
              </a:rPr>
              <a:t>“</a:t>
            </a:r>
            <a:endParaRPr/>
          </a:p>
        </p:txBody>
      </p:sp>
      <p:sp>
        <p:nvSpPr>
          <p:cNvPr id="93" name="Google Shape;93;p13"/>
          <p:cNvSpPr txBox="1"/>
          <p:nvPr/>
        </p:nvSpPr>
        <p:spPr>
          <a:xfrm>
            <a:off x="10504716" y="2928258"/>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Lustria"/>
              <a:buNone/>
            </a:pPr>
            <a:r>
              <a:rPr b="0" lang="en-US" sz="8000" cap="none">
                <a:solidFill>
                  <a:schemeClr val="lt1"/>
                </a:solidFill>
                <a:latin typeface="Lustria"/>
                <a:ea typeface="Lustria"/>
                <a:cs typeface="Lustria"/>
                <a:sym typeface="Lustria"/>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94" name="Shape 94"/>
        <p:cNvGrpSpPr/>
        <p:nvPr/>
      </p:nvGrpSpPr>
      <p:grpSpPr>
        <a:xfrm>
          <a:off x="0" y="0"/>
          <a:ext cx="0" cy="0"/>
          <a:chOff x="0" y="0"/>
          <a:chExt cx="0" cy="0"/>
        </a:xfrm>
      </p:grpSpPr>
      <p:sp>
        <p:nvSpPr>
          <p:cNvPr id="95" name="Google Shape;95;p14"/>
          <p:cNvSpPr txBox="1"/>
          <p:nvPr>
            <p:ph type="title"/>
          </p:nvPr>
        </p:nvSpPr>
        <p:spPr>
          <a:xfrm>
            <a:off x="913794" y="2126942"/>
            <a:ext cx="10353763" cy="2511835"/>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3200"/>
              <a:buFont typeface="Lustria"/>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4"/>
          <p:cNvSpPr txBox="1"/>
          <p:nvPr>
            <p:ph idx="1" type="body"/>
          </p:nvPr>
        </p:nvSpPr>
        <p:spPr>
          <a:xfrm>
            <a:off x="913784" y="4650556"/>
            <a:ext cx="10352199" cy="114064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97" name="Google Shape;97;p14"/>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4"/>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4"/>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0" name="Shape 100"/>
        <p:cNvGrpSpPr/>
        <p:nvPr/>
      </p:nvGrpSpPr>
      <p:grpSpPr>
        <a:xfrm>
          <a:off x="0" y="0"/>
          <a:ext cx="0" cy="0"/>
          <a:chOff x="0" y="0"/>
          <a:chExt cx="0" cy="0"/>
        </a:xfrm>
      </p:grpSpPr>
      <p:sp>
        <p:nvSpPr>
          <p:cNvPr id="101" name="Google Shape;101;p15"/>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5"/>
          <p:cNvSpPr txBox="1"/>
          <p:nvPr>
            <p:ph idx="1" type="body"/>
          </p:nvPr>
        </p:nvSpPr>
        <p:spPr>
          <a:xfrm>
            <a:off x="913795" y="1885950"/>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03" name="Google Shape;103;p15"/>
          <p:cNvSpPr txBox="1"/>
          <p:nvPr>
            <p:ph idx="2" type="body"/>
          </p:nvPr>
        </p:nvSpPr>
        <p:spPr>
          <a:xfrm>
            <a:off x="913795" y="2571750"/>
            <a:ext cx="3300984" cy="32194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04" name="Google Shape;104;p15"/>
          <p:cNvSpPr txBox="1"/>
          <p:nvPr>
            <p:ph idx="3" type="body"/>
          </p:nvPr>
        </p:nvSpPr>
        <p:spPr>
          <a:xfrm>
            <a:off x="4446711" y="1885950"/>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05" name="Google Shape;105;p15"/>
          <p:cNvSpPr txBox="1"/>
          <p:nvPr>
            <p:ph idx="4" type="body"/>
          </p:nvPr>
        </p:nvSpPr>
        <p:spPr>
          <a:xfrm>
            <a:off x="4441435" y="2571750"/>
            <a:ext cx="3300984" cy="32194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06" name="Google Shape;106;p15"/>
          <p:cNvSpPr txBox="1"/>
          <p:nvPr>
            <p:ph idx="5" type="body"/>
          </p:nvPr>
        </p:nvSpPr>
        <p:spPr>
          <a:xfrm>
            <a:off x="7966572" y="1885950"/>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07" name="Google Shape;107;p15"/>
          <p:cNvSpPr txBox="1"/>
          <p:nvPr>
            <p:ph idx="6" type="body"/>
          </p:nvPr>
        </p:nvSpPr>
        <p:spPr>
          <a:xfrm>
            <a:off x="7966572" y="2571750"/>
            <a:ext cx="3300984" cy="32194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08" name="Google Shape;108;p15"/>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5"/>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15"/>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1" name="Shape 111"/>
        <p:cNvGrpSpPr/>
        <p:nvPr/>
      </p:nvGrpSpPr>
      <p:grpSpPr>
        <a:xfrm>
          <a:off x="0" y="0"/>
          <a:ext cx="0" cy="0"/>
          <a:chOff x="0" y="0"/>
          <a:chExt cx="0" cy="0"/>
        </a:xfrm>
      </p:grpSpPr>
      <p:pic>
        <p:nvPicPr>
          <p:cNvPr descr="Slate-V2-HD-3colPhotoInset.png" id="112" name="Google Shape;112;p16"/>
          <p:cNvPicPr preferRelativeResize="0"/>
          <p:nvPr/>
        </p:nvPicPr>
        <p:blipFill rotWithShape="1">
          <a:blip r:embed="rId2">
            <a:alphaModFix/>
          </a:blip>
          <a:srcRect b="0" l="0" r="0" t="0"/>
          <a:stretch/>
        </p:blipFill>
        <p:spPr>
          <a:xfrm>
            <a:off x="897962" y="1818214"/>
            <a:ext cx="3339972" cy="1847851"/>
          </a:xfrm>
          <a:prstGeom prst="rect">
            <a:avLst/>
          </a:prstGeom>
          <a:noFill/>
          <a:ln>
            <a:noFill/>
          </a:ln>
        </p:spPr>
      </p:pic>
      <p:pic>
        <p:nvPicPr>
          <p:cNvPr descr="Slate-V2-HD-3colPhotoInset.png" id="113" name="Google Shape;113;p16"/>
          <p:cNvPicPr preferRelativeResize="0"/>
          <p:nvPr/>
        </p:nvPicPr>
        <p:blipFill rotWithShape="1">
          <a:blip r:embed="rId2">
            <a:alphaModFix/>
          </a:blip>
          <a:srcRect b="0" l="0" r="0" t="0"/>
          <a:stretch/>
        </p:blipFill>
        <p:spPr>
          <a:xfrm>
            <a:off x="4403800" y="1818214"/>
            <a:ext cx="3339972" cy="1847851"/>
          </a:xfrm>
          <a:prstGeom prst="rect">
            <a:avLst/>
          </a:prstGeom>
          <a:noFill/>
          <a:ln>
            <a:noFill/>
          </a:ln>
        </p:spPr>
      </p:pic>
      <p:pic>
        <p:nvPicPr>
          <p:cNvPr descr="Slate-V2-HD-3colPhotoInset.png" id="114" name="Google Shape;114;p16"/>
          <p:cNvPicPr preferRelativeResize="0"/>
          <p:nvPr/>
        </p:nvPicPr>
        <p:blipFill rotWithShape="1">
          <a:blip r:embed="rId2">
            <a:alphaModFix/>
          </a:blip>
          <a:srcRect b="0" l="0" r="0" t="0"/>
          <a:stretch/>
        </p:blipFill>
        <p:spPr>
          <a:xfrm>
            <a:off x="7936051" y="1818214"/>
            <a:ext cx="3339972" cy="1847851"/>
          </a:xfrm>
          <a:prstGeom prst="rect">
            <a:avLst/>
          </a:prstGeom>
          <a:noFill/>
          <a:ln>
            <a:noFill/>
          </a:ln>
        </p:spPr>
      </p:pic>
      <p:sp>
        <p:nvSpPr>
          <p:cNvPr id="115" name="Google Shape;115;p16"/>
          <p:cNvSpPr txBox="1"/>
          <p:nvPr>
            <p:ph type="title"/>
          </p:nvPr>
        </p:nvSpPr>
        <p:spPr>
          <a:xfrm>
            <a:off x="913794" y="609600"/>
            <a:ext cx="10353763"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6"/>
          <p:cNvSpPr txBox="1"/>
          <p:nvPr>
            <p:ph idx="1" type="body"/>
          </p:nvPr>
        </p:nvSpPr>
        <p:spPr>
          <a:xfrm>
            <a:off x="913795"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17" name="Google Shape;117;p16"/>
          <p:cNvSpPr/>
          <p:nvPr>
            <p:ph idx="2" type="pic"/>
          </p:nvPr>
        </p:nvSpPr>
        <p:spPr>
          <a:xfrm>
            <a:off x="1018102" y="1938918"/>
            <a:ext cx="3092368" cy="1602954"/>
          </a:xfrm>
          <a:prstGeom prst="roundRect">
            <a:avLst>
              <a:gd fmla="val 1858" name="adj"/>
            </a:avLst>
          </a:prstGeom>
          <a:noFill/>
          <a:ln>
            <a:noFill/>
          </a:ln>
          <a:effectLst>
            <a:outerShdw blurRad="38100" dir="4440000" dist="25400">
              <a:srgbClr val="000000">
                <a:alpha val="35686"/>
              </a:srgbClr>
            </a:outerShdw>
          </a:effectLst>
        </p:spPr>
      </p:sp>
      <p:sp>
        <p:nvSpPr>
          <p:cNvPr id="118" name="Google Shape;118;p16"/>
          <p:cNvSpPr txBox="1"/>
          <p:nvPr>
            <p:ph idx="3" type="body"/>
          </p:nvPr>
        </p:nvSpPr>
        <p:spPr>
          <a:xfrm>
            <a:off x="913795" y="4480368"/>
            <a:ext cx="3300984" cy="131083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19" name="Google Shape;119;p16"/>
          <p:cNvSpPr txBox="1"/>
          <p:nvPr>
            <p:ph idx="4" type="body"/>
          </p:nvPr>
        </p:nvSpPr>
        <p:spPr>
          <a:xfrm>
            <a:off x="4442788"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0" name="Google Shape;120;p16"/>
          <p:cNvSpPr/>
          <p:nvPr>
            <p:ph idx="5" type="pic"/>
          </p:nvPr>
        </p:nvSpPr>
        <p:spPr>
          <a:xfrm>
            <a:off x="4545743" y="1939094"/>
            <a:ext cx="3092368" cy="1608164"/>
          </a:xfrm>
          <a:prstGeom prst="roundRect">
            <a:avLst>
              <a:gd fmla="val 1858" name="adj"/>
            </a:avLst>
          </a:prstGeom>
          <a:noFill/>
          <a:ln>
            <a:noFill/>
          </a:ln>
          <a:effectLst>
            <a:outerShdw blurRad="38100" dir="4440000" dist="25400">
              <a:srgbClr val="000000">
                <a:alpha val="35686"/>
              </a:srgbClr>
            </a:outerShdw>
          </a:effectLst>
        </p:spPr>
      </p:sp>
      <p:sp>
        <p:nvSpPr>
          <p:cNvPr id="121" name="Google Shape;121;p16"/>
          <p:cNvSpPr txBox="1"/>
          <p:nvPr>
            <p:ph idx="6" type="body"/>
          </p:nvPr>
        </p:nvSpPr>
        <p:spPr>
          <a:xfrm>
            <a:off x="4441435" y="4480367"/>
            <a:ext cx="3300984" cy="131083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22" name="Google Shape;122;p16"/>
          <p:cNvSpPr txBox="1"/>
          <p:nvPr>
            <p:ph idx="7" type="body"/>
          </p:nvPr>
        </p:nvSpPr>
        <p:spPr>
          <a:xfrm>
            <a:off x="7966697"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3" name="Google Shape;123;p16"/>
          <p:cNvSpPr/>
          <p:nvPr>
            <p:ph idx="8" type="pic"/>
          </p:nvPr>
        </p:nvSpPr>
        <p:spPr>
          <a:xfrm>
            <a:off x="8075698" y="1934432"/>
            <a:ext cx="3092368" cy="1607294"/>
          </a:xfrm>
          <a:prstGeom prst="roundRect">
            <a:avLst>
              <a:gd fmla="val 1858" name="adj"/>
            </a:avLst>
          </a:prstGeom>
          <a:noFill/>
          <a:ln>
            <a:noFill/>
          </a:ln>
          <a:effectLst>
            <a:outerShdw blurRad="38100" dir="4440000" dist="25400">
              <a:srgbClr val="000000">
                <a:alpha val="35686"/>
              </a:srgbClr>
            </a:outerShdw>
          </a:effectLst>
        </p:spPr>
      </p:sp>
      <p:sp>
        <p:nvSpPr>
          <p:cNvPr id="124" name="Google Shape;124;p16"/>
          <p:cNvSpPr txBox="1"/>
          <p:nvPr>
            <p:ph idx="9" type="body"/>
          </p:nvPr>
        </p:nvSpPr>
        <p:spPr>
          <a:xfrm>
            <a:off x="7966572" y="4480365"/>
            <a:ext cx="3300984" cy="1310835"/>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25" name="Google Shape;125;p16"/>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6"/>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6"/>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8" name="Shape 128"/>
        <p:cNvGrpSpPr/>
        <p:nvPr/>
      </p:nvGrpSpPr>
      <p:grpSpPr>
        <a:xfrm>
          <a:off x="0" y="0"/>
          <a:ext cx="0" cy="0"/>
          <a:chOff x="0" y="0"/>
          <a:chExt cx="0" cy="0"/>
        </a:xfrm>
      </p:grpSpPr>
      <p:sp>
        <p:nvSpPr>
          <p:cNvPr id="129" name="Google Shape;129;p17"/>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7"/>
          <p:cNvSpPr txBox="1"/>
          <p:nvPr>
            <p:ph idx="1" type="body"/>
          </p:nvPr>
        </p:nvSpPr>
        <p:spPr>
          <a:xfrm rot="5400000">
            <a:off x="4061301" y="-1415056"/>
            <a:ext cx="4058751" cy="1035376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131" name="Google Shape;131;p17"/>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17"/>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7"/>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4" name="Shape 134"/>
        <p:cNvGrpSpPr/>
        <p:nvPr/>
      </p:nvGrpSpPr>
      <p:grpSpPr>
        <a:xfrm>
          <a:off x="0" y="0"/>
          <a:ext cx="0" cy="0"/>
          <a:chOff x="0" y="0"/>
          <a:chExt cx="0" cy="0"/>
        </a:xfrm>
      </p:grpSpPr>
      <p:sp>
        <p:nvSpPr>
          <p:cNvPr id="135" name="Google Shape;135;p18"/>
          <p:cNvSpPr txBox="1"/>
          <p:nvPr>
            <p:ph type="title"/>
          </p:nvPr>
        </p:nvSpPr>
        <p:spPr>
          <a:xfrm rot="5400000">
            <a:off x="7534511" y="2058156"/>
            <a:ext cx="5181601" cy="2284487"/>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l">
              <a:spcBef>
                <a:spcPts val="0"/>
              </a:spcBef>
              <a:spcAft>
                <a:spcPts val="0"/>
              </a:spcAft>
              <a:buClr>
                <a:schemeClr val="lt2"/>
              </a:buClr>
              <a:buSzPts val="4000"/>
              <a:buFont typeface="Lustria"/>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18"/>
          <p:cNvSpPr txBox="1"/>
          <p:nvPr>
            <p:ph idx="1" type="body"/>
          </p:nvPr>
        </p:nvSpPr>
        <p:spPr>
          <a:xfrm rot="5400000">
            <a:off x="2281431" y="-758036"/>
            <a:ext cx="5181601" cy="791687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137" name="Google Shape;137;p18"/>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18"/>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18"/>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FC5E8"/>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000"/>
              <a:buFont typeface="Lustria"/>
              <a:buNone/>
              <a:defRPr b="0" i="0" sz="4000" u="none" cap="none" strike="noStrike">
                <a:solidFill>
                  <a:schemeClr val="dk1"/>
                </a:solidFill>
                <a:latin typeface="Lustria"/>
                <a:ea typeface="Lustria"/>
                <a:cs typeface="Lustria"/>
                <a:sym typeface="Lustria"/>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7" name="Google Shape;7;p1"/>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17500" lvl="0" marL="457200" marR="0" rtl="0" algn="l">
              <a:spcBef>
                <a:spcPts val="400"/>
              </a:spcBef>
              <a:spcAft>
                <a:spcPts val="0"/>
              </a:spcAft>
              <a:buClr>
                <a:schemeClr val="dk1"/>
              </a:buClr>
              <a:buSzPts val="1400"/>
              <a:buFont typeface="Noto Sans Symbols"/>
              <a:buChar char="◈"/>
              <a:defRPr b="0" i="0" sz="2000" u="none" cap="none" strike="noStrike">
                <a:solidFill>
                  <a:schemeClr val="dk1"/>
                </a:solidFill>
                <a:latin typeface="Lustria"/>
                <a:ea typeface="Lustria"/>
                <a:cs typeface="Lustria"/>
                <a:sym typeface="Lustria"/>
              </a:defRPr>
            </a:lvl1pPr>
            <a:lvl2pPr indent="-308610" lvl="1" marL="914400" marR="0" rtl="0" algn="l">
              <a:spcBef>
                <a:spcPts val="600"/>
              </a:spcBef>
              <a:spcAft>
                <a:spcPts val="0"/>
              </a:spcAft>
              <a:buClr>
                <a:schemeClr val="dk1"/>
              </a:buClr>
              <a:buSzPts val="1260"/>
              <a:buFont typeface="Noto Sans Symbols"/>
              <a:buChar char="🞚"/>
              <a:defRPr b="0" i="0" sz="1800" u="none" cap="none" strike="noStrike">
                <a:solidFill>
                  <a:schemeClr val="dk1"/>
                </a:solidFill>
                <a:latin typeface="Lustria"/>
                <a:ea typeface="Lustria"/>
                <a:cs typeface="Lustria"/>
                <a:sym typeface="Lustria"/>
              </a:defRPr>
            </a:lvl2pPr>
            <a:lvl3pPr indent="-299720" lvl="2" marL="1371600" marR="0" rtl="0" algn="l">
              <a:spcBef>
                <a:spcPts val="600"/>
              </a:spcBef>
              <a:spcAft>
                <a:spcPts val="0"/>
              </a:spcAft>
              <a:buClr>
                <a:schemeClr val="dk1"/>
              </a:buClr>
              <a:buSzPts val="1120"/>
              <a:buFont typeface="Noto Sans Symbols"/>
              <a:buChar char="◈"/>
              <a:defRPr b="0" i="0" sz="1600" u="none" cap="none" strike="noStrike">
                <a:solidFill>
                  <a:schemeClr val="dk1"/>
                </a:solidFill>
                <a:latin typeface="Lustria"/>
                <a:ea typeface="Lustria"/>
                <a:cs typeface="Lustria"/>
                <a:sym typeface="Lustria"/>
              </a:defRPr>
            </a:lvl3pPr>
            <a:lvl4pPr indent="-290830" lvl="3" marL="1828800" marR="0" rtl="0" algn="l">
              <a:spcBef>
                <a:spcPts val="600"/>
              </a:spcBef>
              <a:spcAft>
                <a:spcPts val="0"/>
              </a:spcAft>
              <a:buClr>
                <a:schemeClr val="dk1"/>
              </a:buClr>
              <a:buSzPts val="980"/>
              <a:buFont typeface="Noto Sans Symbols"/>
              <a:buChar char="🞚"/>
              <a:defRPr b="0" i="0" sz="1400" u="none" cap="none" strike="noStrike">
                <a:solidFill>
                  <a:schemeClr val="dk1"/>
                </a:solidFill>
                <a:latin typeface="Lustria"/>
                <a:ea typeface="Lustria"/>
                <a:cs typeface="Lustria"/>
                <a:sym typeface="Lustria"/>
              </a:defRPr>
            </a:lvl4pPr>
            <a:lvl5pPr indent="-290830" lvl="4" marL="2286000" marR="0" rtl="0" algn="l">
              <a:spcBef>
                <a:spcPts val="600"/>
              </a:spcBef>
              <a:spcAft>
                <a:spcPts val="0"/>
              </a:spcAft>
              <a:buClr>
                <a:schemeClr val="dk1"/>
              </a:buClr>
              <a:buSzPts val="980"/>
              <a:buFont typeface="Noto Sans Symbols"/>
              <a:buChar char="◈"/>
              <a:defRPr b="0" i="0" sz="1400" u="none" cap="none" strike="noStrike">
                <a:solidFill>
                  <a:schemeClr val="dk1"/>
                </a:solidFill>
                <a:latin typeface="Lustria"/>
                <a:ea typeface="Lustria"/>
                <a:cs typeface="Lustria"/>
                <a:sym typeface="Lustria"/>
              </a:defRPr>
            </a:lvl5pPr>
            <a:lvl6pPr indent="-290830" lvl="5" marL="2743200" marR="0" rtl="0" algn="l">
              <a:spcBef>
                <a:spcPts val="600"/>
              </a:spcBef>
              <a:spcAft>
                <a:spcPts val="0"/>
              </a:spcAft>
              <a:buClr>
                <a:schemeClr val="dk1"/>
              </a:buClr>
              <a:buSzPts val="980"/>
              <a:buFont typeface="Noto Sans Symbols"/>
              <a:buChar char="◈"/>
              <a:defRPr b="0" i="0" sz="1400" u="none" cap="none" strike="noStrike">
                <a:solidFill>
                  <a:schemeClr val="dk1"/>
                </a:solidFill>
                <a:latin typeface="Lustria"/>
                <a:ea typeface="Lustria"/>
                <a:cs typeface="Lustria"/>
                <a:sym typeface="Lustria"/>
              </a:defRPr>
            </a:lvl6pPr>
            <a:lvl7pPr indent="-290830" lvl="6" marL="3200400" marR="0" rtl="0" algn="l">
              <a:spcBef>
                <a:spcPts val="600"/>
              </a:spcBef>
              <a:spcAft>
                <a:spcPts val="0"/>
              </a:spcAft>
              <a:buClr>
                <a:schemeClr val="dk1"/>
              </a:buClr>
              <a:buSzPts val="980"/>
              <a:buFont typeface="Noto Sans Symbols"/>
              <a:buChar char="◈"/>
              <a:defRPr b="0" i="0" sz="1400" u="none" cap="none" strike="noStrike">
                <a:solidFill>
                  <a:schemeClr val="dk1"/>
                </a:solidFill>
                <a:latin typeface="Lustria"/>
                <a:ea typeface="Lustria"/>
                <a:cs typeface="Lustria"/>
                <a:sym typeface="Lustria"/>
              </a:defRPr>
            </a:lvl7pPr>
            <a:lvl8pPr indent="-290830" lvl="7" marL="3657600" marR="0" rtl="0" algn="l">
              <a:spcBef>
                <a:spcPts val="600"/>
              </a:spcBef>
              <a:spcAft>
                <a:spcPts val="0"/>
              </a:spcAft>
              <a:buClr>
                <a:schemeClr val="dk1"/>
              </a:buClr>
              <a:buSzPts val="980"/>
              <a:buFont typeface="Noto Sans Symbols"/>
              <a:buChar char="◈"/>
              <a:defRPr b="0" i="0" sz="1400" u="none" cap="none" strike="noStrike">
                <a:solidFill>
                  <a:schemeClr val="dk1"/>
                </a:solidFill>
                <a:latin typeface="Lustria"/>
                <a:ea typeface="Lustria"/>
                <a:cs typeface="Lustria"/>
                <a:sym typeface="Lustria"/>
              </a:defRPr>
            </a:lvl8pPr>
            <a:lvl9pPr indent="-290830" lvl="8" marL="4114800" marR="0" rtl="0" algn="l">
              <a:spcBef>
                <a:spcPts val="600"/>
              </a:spcBef>
              <a:spcAft>
                <a:spcPts val="600"/>
              </a:spcAft>
              <a:buClr>
                <a:schemeClr val="dk1"/>
              </a:buClr>
              <a:buSzPts val="980"/>
              <a:buFont typeface="Noto Sans Symbols"/>
              <a:buChar char="◈"/>
              <a:defRPr b="0" i="0" sz="1400" u="none" cap="none" strike="noStrike">
                <a:solidFill>
                  <a:schemeClr val="dk1"/>
                </a:solidFill>
                <a:latin typeface="Lustria"/>
                <a:ea typeface="Lustria"/>
                <a:cs typeface="Lustria"/>
                <a:sym typeface="Lustria"/>
              </a:defRPr>
            </a:lvl9pPr>
          </a:lstStyle>
          <a:p/>
        </p:txBody>
      </p:sp>
      <p:sp>
        <p:nvSpPr>
          <p:cNvPr id="8" name="Google Shape;8;p1"/>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Clr>
                <a:schemeClr val="dk1"/>
              </a:buClr>
              <a:buSzPts val="1400"/>
              <a:buNone/>
              <a:defRPr b="0" i="0" sz="1000" u="none" cap="none" strike="noStrike">
                <a:solidFill>
                  <a:schemeClr val="dk1"/>
                </a:solidFill>
                <a:latin typeface="Lustria"/>
                <a:ea typeface="Lustria"/>
                <a:cs typeface="Lustria"/>
                <a:sym typeface="Lustria"/>
              </a:defRPr>
            </a:lvl1pPr>
            <a:lvl2pPr lvl="1"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2pPr>
            <a:lvl3pPr lvl="2"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3pPr>
            <a:lvl4pPr lvl="3"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4pPr>
            <a:lvl5pPr lvl="4"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5pPr>
            <a:lvl6pPr lvl="5"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6pPr>
            <a:lvl7pPr lvl="6"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7pPr>
            <a:lvl8pPr lvl="7"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8pPr>
            <a:lvl9pPr lvl="8"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9pPr>
          </a:lstStyle>
          <a:p/>
        </p:txBody>
      </p:sp>
      <p:sp>
        <p:nvSpPr>
          <p:cNvPr id="9" name="Google Shape;9;p1"/>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chemeClr val="dk1"/>
              </a:buClr>
              <a:buSzPts val="1400"/>
              <a:buNone/>
              <a:defRPr b="0" i="0" sz="1000" u="none" cap="none" strike="noStrike">
                <a:solidFill>
                  <a:schemeClr val="dk1"/>
                </a:solidFill>
                <a:latin typeface="Lustria"/>
                <a:ea typeface="Lustria"/>
                <a:cs typeface="Lustria"/>
                <a:sym typeface="Lustria"/>
              </a:defRPr>
            </a:lvl1pPr>
            <a:lvl2pPr lvl="1"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2pPr>
            <a:lvl3pPr lvl="2"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3pPr>
            <a:lvl4pPr lvl="3"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4pPr>
            <a:lvl5pPr lvl="4"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5pPr>
            <a:lvl6pPr lvl="5"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6pPr>
            <a:lvl7pPr lvl="6"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7pPr>
            <a:lvl8pPr lvl="7"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8pPr>
            <a:lvl9pPr lvl="8"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9pPr>
          </a:lstStyle>
          <a:p/>
        </p:txBody>
      </p:sp>
      <p:sp>
        <p:nvSpPr>
          <p:cNvPr id="10" name="Google Shape;10;p1"/>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rgbClr val="F2F2F2"/>
                </a:solidFill>
                <a:latin typeface="Lustria"/>
                <a:ea typeface="Lustria"/>
                <a:cs typeface="Lustria"/>
                <a:sym typeface="Lustria"/>
              </a:defRPr>
            </a:lvl1pPr>
            <a:lvl2pPr indent="0" lvl="1" marL="0" marR="0" rtl="0" algn="r">
              <a:spcBef>
                <a:spcPts val="0"/>
              </a:spcBef>
              <a:buNone/>
              <a:defRPr b="0" i="0" sz="1000" u="none" cap="none" strike="noStrike">
                <a:solidFill>
                  <a:srgbClr val="F2F2F2"/>
                </a:solidFill>
                <a:latin typeface="Lustria"/>
                <a:ea typeface="Lustria"/>
                <a:cs typeface="Lustria"/>
                <a:sym typeface="Lustria"/>
              </a:defRPr>
            </a:lvl2pPr>
            <a:lvl3pPr indent="0" lvl="2" marL="0" marR="0" rtl="0" algn="r">
              <a:spcBef>
                <a:spcPts val="0"/>
              </a:spcBef>
              <a:buNone/>
              <a:defRPr b="0" i="0" sz="1000" u="none" cap="none" strike="noStrike">
                <a:solidFill>
                  <a:srgbClr val="F2F2F2"/>
                </a:solidFill>
                <a:latin typeface="Lustria"/>
                <a:ea typeface="Lustria"/>
                <a:cs typeface="Lustria"/>
                <a:sym typeface="Lustria"/>
              </a:defRPr>
            </a:lvl3pPr>
            <a:lvl4pPr indent="0" lvl="3" marL="0" marR="0" rtl="0" algn="r">
              <a:spcBef>
                <a:spcPts val="0"/>
              </a:spcBef>
              <a:buNone/>
              <a:defRPr b="0" i="0" sz="1000" u="none" cap="none" strike="noStrike">
                <a:solidFill>
                  <a:srgbClr val="F2F2F2"/>
                </a:solidFill>
                <a:latin typeface="Lustria"/>
                <a:ea typeface="Lustria"/>
                <a:cs typeface="Lustria"/>
                <a:sym typeface="Lustria"/>
              </a:defRPr>
            </a:lvl4pPr>
            <a:lvl5pPr indent="0" lvl="4" marL="0" marR="0" rtl="0" algn="r">
              <a:spcBef>
                <a:spcPts val="0"/>
              </a:spcBef>
              <a:buNone/>
              <a:defRPr b="0" i="0" sz="1000" u="none" cap="none" strike="noStrike">
                <a:solidFill>
                  <a:srgbClr val="F2F2F2"/>
                </a:solidFill>
                <a:latin typeface="Lustria"/>
                <a:ea typeface="Lustria"/>
                <a:cs typeface="Lustria"/>
                <a:sym typeface="Lustria"/>
              </a:defRPr>
            </a:lvl5pPr>
            <a:lvl6pPr indent="0" lvl="5" marL="0" marR="0" rtl="0" algn="r">
              <a:spcBef>
                <a:spcPts val="0"/>
              </a:spcBef>
              <a:buNone/>
              <a:defRPr b="0" i="0" sz="1000" u="none" cap="none" strike="noStrike">
                <a:solidFill>
                  <a:srgbClr val="F2F2F2"/>
                </a:solidFill>
                <a:latin typeface="Lustria"/>
                <a:ea typeface="Lustria"/>
                <a:cs typeface="Lustria"/>
                <a:sym typeface="Lustria"/>
              </a:defRPr>
            </a:lvl6pPr>
            <a:lvl7pPr indent="0" lvl="6" marL="0" marR="0" rtl="0" algn="r">
              <a:spcBef>
                <a:spcPts val="0"/>
              </a:spcBef>
              <a:buNone/>
              <a:defRPr b="0" i="0" sz="1000" u="none" cap="none" strike="noStrike">
                <a:solidFill>
                  <a:srgbClr val="F2F2F2"/>
                </a:solidFill>
                <a:latin typeface="Lustria"/>
                <a:ea typeface="Lustria"/>
                <a:cs typeface="Lustria"/>
                <a:sym typeface="Lustria"/>
              </a:defRPr>
            </a:lvl7pPr>
            <a:lvl8pPr indent="0" lvl="7" marL="0" marR="0" rtl="0" algn="r">
              <a:spcBef>
                <a:spcPts val="0"/>
              </a:spcBef>
              <a:buNone/>
              <a:defRPr b="0" i="0" sz="1000" u="none" cap="none" strike="noStrike">
                <a:solidFill>
                  <a:srgbClr val="F2F2F2"/>
                </a:solidFill>
                <a:latin typeface="Lustria"/>
                <a:ea typeface="Lustria"/>
                <a:cs typeface="Lustria"/>
                <a:sym typeface="Lustria"/>
              </a:defRPr>
            </a:lvl8pPr>
            <a:lvl9pPr indent="0" lvl="8" marL="0" marR="0" rtl="0" algn="r">
              <a:spcBef>
                <a:spcPts val="0"/>
              </a:spcBef>
              <a:buNone/>
              <a:defRPr b="0" i="0" sz="1000" u="none" cap="none" strike="noStrike">
                <a:solidFill>
                  <a:srgbClr val="F2F2F2"/>
                </a:solidFill>
                <a:latin typeface="Lustria"/>
                <a:ea typeface="Lustria"/>
                <a:cs typeface="Lustria"/>
                <a:sym typeface="Lustri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lightroom.adobe.com/shares/71dedbf9494d4468a990b86ed27c44de/albums/421c81b0307b4badb47ff6138ca42501/assets/e02b23145cf04fea9b8a052904efac19"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8.jpg"/><Relationship Id="rId4" Type="http://schemas.openxmlformats.org/officeDocument/2006/relationships/image" Target="../media/image10.jpg"/><Relationship Id="rId5" Type="http://schemas.openxmlformats.org/officeDocument/2006/relationships/image" Target="../media/image2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2.png"/><Relationship Id="rId4" Type="http://schemas.openxmlformats.org/officeDocument/2006/relationships/image" Target="../media/image15.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hyperlink" Target="http://www.aviationweather.gov/" TargetMode="External"/><Relationship Id="rId4" Type="http://schemas.openxmlformats.org/officeDocument/2006/relationships/hyperlink" Target="http://www.1800wxbrief.com/" TargetMode="External"/><Relationship Id="rId5" Type="http://schemas.openxmlformats.org/officeDocument/2006/relationships/hyperlink" Target="http://tfr.faa.gov/"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3.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9.gi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8.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9"/>
          <p:cNvSpPr txBox="1"/>
          <p:nvPr>
            <p:ph type="ctrTitle"/>
          </p:nvPr>
        </p:nvSpPr>
        <p:spPr>
          <a:xfrm>
            <a:off x="1370693" y="1769540"/>
            <a:ext cx="9440034" cy="1828801"/>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p>
            <a:pPr indent="0" lvl="0" marL="0" rtl="0" algn="ctr">
              <a:spcBef>
                <a:spcPts val="0"/>
              </a:spcBef>
              <a:spcAft>
                <a:spcPts val="0"/>
              </a:spcAft>
              <a:buClr>
                <a:schemeClr val="lt2"/>
              </a:buClr>
              <a:buSzPts val="5400"/>
              <a:buFont typeface="Lustria"/>
              <a:buNone/>
            </a:pPr>
            <a:r>
              <a:rPr lang="en-US"/>
              <a:t>Unmanned Aircraft Systems UAS</a:t>
            </a:r>
            <a:endParaRPr/>
          </a:p>
        </p:txBody>
      </p:sp>
      <p:sp>
        <p:nvSpPr>
          <p:cNvPr id="145" name="Google Shape;145;p19"/>
          <p:cNvSpPr txBox="1"/>
          <p:nvPr>
            <p:ph idx="1" type="subTitle"/>
          </p:nvPr>
        </p:nvSpPr>
        <p:spPr>
          <a:xfrm>
            <a:off x="1370693" y="3598339"/>
            <a:ext cx="9440034" cy="1049867"/>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0" lvl="0" marL="0" rtl="0" algn="ctr">
              <a:spcBef>
                <a:spcPts val="940"/>
              </a:spcBef>
              <a:spcAft>
                <a:spcPts val="0"/>
              </a:spcAft>
              <a:buSzPts val="1400"/>
              <a:buNone/>
            </a:pPr>
            <a:r>
              <a:rPr lang="en-US">
                <a:solidFill>
                  <a:schemeClr val="dk1"/>
                </a:solidFill>
              </a:rPr>
              <a:t>Weather</a:t>
            </a:r>
            <a:endParaRPr>
              <a:solidFill>
                <a:schemeClr val="dk1"/>
              </a:solidFill>
            </a:endParaRPr>
          </a:p>
          <a:p>
            <a:pPr indent="0" lvl="0" marL="0" rtl="0" algn="ctr">
              <a:spcBef>
                <a:spcPts val="940"/>
              </a:spcBef>
              <a:spcAft>
                <a:spcPts val="0"/>
              </a:spcAft>
              <a:buSzPts val="1400"/>
              <a:buNone/>
            </a:pPr>
            <a:r>
              <a:rPr lang="en-US">
                <a:solidFill>
                  <a:schemeClr val="dk1"/>
                </a:solidFill>
              </a:rPr>
              <a:t>FAA Remote Pilot Part 107 Exam Prep-Regulations</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0"/>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Comms Review</a:t>
            </a:r>
            <a:endParaRPr/>
          </a:p>
        </p:txBody>
      </p:sp>
      <p:sp>
        <p:nvSpPr>
          <p:cNvPr id="151" name="Google Shape;151;p20"/>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Three forks traffic warrior 53Lima Sierra on the 45 for two one full stop.</a:t>
            </a:r>
            <a:endParaRPr/>
          </a:p>
          <a:p>
            <a:pPr indent="-306000" lvl="0" marL="342900" rtl="0" algn="l">
              <a:spcBef>
                <a:spcPts val="1000"/>
              </a:spcBef>
              <a:spcAft>
                <a:spcPts val="0"/>
              </a:spcAft>
              <a:buSzPts val="1400"/>
              <a:buChar char="◈"/>
            </a:pPr>
            <a:r>
              <a:rPr lang="en-US"/>
              <a:t>Three forks traffic skyhawk 72140 turning left base runway 3, will remain close traffic.</a:t>
            </a:r>
            <a:endParaRPr/>
          </a:p>
          <a:p>
            <a:pPr indent="-306000" lvl="0" marL="342900" rtl="0" algn="l">
              <a:spcBef>
                <a:spcPts val="1000"/>
              </a:spcBef>
              <a:spcAft>
                <a:spcPts val="0"/>
              </a:spcAft>
              <a:buSzPts val="1400"/>
              <a:buChar char="◈"/>
            </a:pPr>
            <a:r>
              <a:rPr lang="en-US"/>
              <a:t>Big Sky approach Archer 63 Charlie Tango inbound with papa. </a:t>
            </a:r>
            <a:endParaRPr/>
          </a:p>
          <a:p>
            <a:pPr indent="-270000" lvl="1" marL="720000" rtl="0" algn="l">
              <a:spcBef>
                <a:spcPts val="960"/>
              </a:spcBef>
              <a:spcAft>
                <a:spcPts val="0"/>
              </a:spcAft>
              <a:buSzPts val="1260"/>
              <a:buChar char="🞚"/>
            </a:pPr>
            <a:r>
              <a:rPr lang="en-US"/>
              <a:t>Archer 63 Charlie Tango Radar contact 10 miles SW of the field, squawk 0234.</a:t>
            </a:r>
            <a:endParaRPr/>
          </a:p>
          <a:p>
            <a:pPr indent="-306000" lvl="0" marL="342900" rtl="0" algn="l">
              <a:spcBef>
                <a:spcPts val="1000"/>
              </a:spcBef>
              <a:spcAft>
                <a:spcPts val="0"/>
              </a:spcAft>
              <a:buSzPts val="1400"/>
              <a:buChar char="◈"/>
            </a:pPr>
            <a:r>
              <a:rPr lang="en-US"/>
              <a:t>Southwest 1511 turn right heading 180 contact departure 118.975.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1"/>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Weather pics</a:t>
            </a:r>
            <a:endParaRPr/>
          </a:p>
        </p:txBody>
      </p:sp>
      <p:sp>
        <p:nvSpPr>
          <p:cNvPr id="157" name="Google Shape;157;p21"/>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u="sng">
                <a:hlinkClick r:id="rId3"/>
              </a:rPr>
              <a:t>https://lightroom.adobe.com/shares/71dedbf9494d4468a990b86ed27c44de/albums/421c81b0307b4badb47ff6138ca42501/assets/e02b23145cf04fea9b8a052904efac19</a:t>
            </a:r>
            <a:endParaRPr/>
          </a:p>
          <a:p>
            <a:pPr indent="-217100" lvl="0" marL="342900" rtl="0" algn="l">
              <a:spcBef>
                <a:spcPts val="1000"/>
              </a:spcBef>
              <a:spcAft>
                <a:spcPts val="0"/>
              </a:spcAft>
              <a:buSzPts val="14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2"/>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FAA Remote Pilot Test Prep</a:t>
            </a:r>
            <a:br>
              <a:rPr lang="en-US"/>
            </a:br>
            <a:r>
              <a:rPr lang="en-US" sz="1800"/>
              <a:t>Topics Covered in this lesson</a:t>
            </a:r>
            <a:endParaRPr/>
          </a:p>
        </p:txBody>
      </p:sp>
      <p:sp>
        <p:nvSpPr>
          <p:cNvPr id="163" name="Google Shape;163;p22"/>
          <p:cNvSpPr txBox="1"/>
          <p:nvPr/>
        </p:nvSpPr>
        <p:spPr>
          <a:xfrm>
            <a:off x="1342164" y="2183027"/>
            <a:ext cx="4341900" cy="2862900"/>
          </a:xfrm>
          <a:prstGeom prst="rect">
            <a:avLst/>
          </a:prstGeom>
          <a:noFill/>
          <a:ln>
            <a:noFill/>
          </a:ln>
        </p:spPr>
        <p:txBody>
          <a:bodyPr anchorCtr="0" anchor="t" bIns="45700" lIns="91425" spcFirstLastPara="1" rIns="91425" wrap="square" tIns="45700">
            <a:spAutoFit/>
          </a:bodyPr>
          <a:lstStyle/>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Introduction</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Wind</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Air masses and fronts</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Atmospheric Stability</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Visibility and Clouds</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Thunderstorms</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Icing</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Fog</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Density Altitude</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Weather Briefing</a:t>
            </a:r>
            <a:endParaRPr>
              <a:solidFill>
                <a:schemeClr val="dk1"/>
              </a:solidFill>
            </a:endParaRPr>
          </a:p>
        </p:txBody>
      </p:sp>
      <p:sp>
        <p:nvSpPr>
          <p:cNvPr id="164" name="Google Shape;164;p22"/>
          <p:cNvSpPr txBox="1"/>
          <p:nvPr/>
        </p:nvSpPr>
        <p:spPr>
          <a:xfrm>
            <a:off x="6755027" y="2183027"/>
            <a:ext cx="4654500" cy="2308800"/>
          </a:xfrm>
          <a:prstGeom prst="rect">
            <a:avLst/>
          </a:prstGeom>
          <a:noFill/>
          <a:ln>
            <a:noFill/>
          </a:ln>
        </p:spPr>
        <p:txBody>
          <a:bodyPr anchorCtr="0" anchor="t" bIns="45700" lIns="91425" spcFirstLastPara="1" rIns="91425" wrap="square" tIns="45700">
            <a:spAutoFit/>
          </a:bodyPr>
          <a:lstStyle/>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Weather reports, forecasts and charts</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Surface weather observations</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Aviation weather reports</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Aviation routine weather report (METAR)</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Aviation forecasts</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Terminal Aerodrome Forecasts</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Convective significant meteorological Information (WST)</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3"/>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Introduction</a:t>
            </a:r>
            <a:endParaRPr/>
          </a:p>
        </p:txBody>
      </p:sp>
      <p:sp>
        <p:nvSpPr>
          <p:cNvPr id="170" name="Google Shape;170;p23"/>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Weather factors can greatly influence sUAS performance and safety of flight. </a:t>
            </a:r>
            <a:endParaRPr/>
          </a:p>
          <a:p>
            <a:pPr indent="-306000" lvl="0" marL="342900" rtl="0" algn="l">
              <a:spcBef>
                <a:spcPts val="1000"/>
              </a:spcBef>
              <a:spcAft>
                <a:spcPts val="0"/>
              </a:spcAft>
              <a:buSzPts val="1400"/>
              <a:buChar char="◈"/>
            </a:pPr>
            <a:r>
              <a:rPr lang="en-US"/>
              <a:t>Every physical process of weather is accompanied by, or is a result of, unequal heating of the earth’s surface.</a:t>
            </a:r>
            <a:endParaRPr/>
          </a:p>
          <a:p>
            <a:pPr indent="-306000" lvl="0" marL="342900" rtl="0" algn="l">
              <a:spcBef>
                <a:spcPts val="1000"/>
              </a:spcBef>
              <a:spcAft>
                <a:spcPts val="0"/>
              </a:spcAft>
              <a:buSzPts val="1400"/>
              <a:buChar char="◈"/>
            </a:pPr>
            <a:r>
              <a:rPr lang="en-US"/>
              <a:t>All altimeter settings are corrected to sea level. Unequal heating of the earth’s surface causes pressure differences.</a:t>
            </a:r>
            <a:endParaRPr/>
          </a:p>
        </p:txBody>
      </p:sp>
      <p:pic>
        <p:nvPicPr>
          <p:cNvPr id="171" name="Google Shape;171;p23"/>
          <p:cNvPicPr preferRelativeResize="0"/>
          <p:nvPr/>
        </p:nvPicPr>
        <p:blipFill rotWithShape="1">
          <a:blip r:embed="rId3">
            <a:alphaModFix/>
          </a:blip>
          <a:srcRect b="0" l="0" r="0" t="0"/>
          <a:stretch/>
        </p:blipFill>
        <p:spPr>
          <a:xfrm>
            <a:off x="4780602" y="3850563"/>
            <a:ext cx="2620147" cy="26044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4"/>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Thermals</a:t>
            </a:r>
            <a:endParaRPr/>
          </a:p>
        </p:txBody>
      </p:sp>
      <p:sp>
        <p:nvSpPr>
          <p:cNvPr id="177" name="Google Shape;177;p24"/>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Thermals are updrafts in convective currents dependent on solar heating. A temperature inversion would result in stable air with very little, if any, convective activity. </a:t>
            </a:r>
            <a:endParaRPr/>
          </a:p>
          <a:p>
            <a:pPr indent="-306000" lvl="0" marL="342900" rtl="0" algn="l">
              <a:spcBef>
                <a:spcPts val="1000"/>
              </a:spcBef>
              <a:spcAft>
                <a:spcPts val="0"/>
              </a:spcAft>
              <a:buSzPts val="1400"/>
              <a:buChar char="◈"/>
            </a:pPr>
            <a:r>
              <a:rPr lang="en-US"/>
              <a:t>Dry areas get hotter than moist areas. Dry fields or dry ground of any nature are better thermal sources than moist areas. This applies to woods or forests, which are poor sources of thermals because of the large amount of moisture given off by foliage. </a:t>
            </a:r>
            <a:endParaRPr/>
          </a:p>
          <a:p>
            <a:pPr indent="-217100" lvl="0" marL="342900" rtl="0" algn="l">
              <a:spcBef>
                <a:spcPts val="1000"/>
              </a:spcBef>
              <a:spcAft>
                <a:spcPts val="0"/>
              </a:spcAft>
              <a:buSzPts val="1400"/>
              <a:buNone/>
            </a:pPr>
            <a:r>
              <a:t/>
            </a:r>
            <a:endParaRPr/>
          </a:p>
        </p:txBody>
      </p:sp>
      <p:pic>
        <p:nvPicPr>
          <p:cNvPr id="178" name="Google Shape;178;p24"/>
          <p:cNvPicPr preferRelativeResize="0"/>
          <p:nvPr/>
        </p:nvPicPr>
        <p:blipFill rotWithShape="1">
          <a:blip r:embed="rId3">
            <a:alphaModFix/>
          </a:blip>
          <a:srcRect b="0" l="0" r="0" t="0"/>
          <a:stretch/>
        </p:blipFill>
        <p:spPr>
          <a:xfrm>
            <a:off x="4084891" y="3842150"/>
            <a:ext cx="4011570" cy="265493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5"/>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Evaporation &amp; Sublimation</a:t>
            </a:r>
            <a:endParaRPr/>
          </a:p>
        </p:txBody>
      </p:sp>
      <p:sp>
        <p:nvSpPr>
          <p:cNvPr id="184" name="Google Shape;184;p25"/>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As water vapor condenses or sublimates on condensation nuclei, liquid or ice particles begin to grow. </a:t>
            </a:r>
            <a:endParaRPr/>
          </a:p>
          <a:p>
            <a:pPr indent="-306000" lvl="0" marL="342900" rtl="0" algn="l">
              <a:spcBef>
                <a:spcPts val="1000"/>
              </a:spcBef>
              <a:spcAft>
                <a:spcPts val="0"/>
              </a:spcAft>
              <a:buSzPts val="1400"/>
              <a:buChar char="◈"/>
            </a:pPr>
            <a:r>
              <a:rPr lang="en-US"/>
              <a:t>Some condensation nuclei have an affinity for water and can induce condensation or sublimation even when air is almost, but not completely, saturated. </a:t>
            </a:r>
            <a:endParaRPr/>
          </a:p>
          <a:p>
            <a:pPr indent="-306000" lvl="0" marL="342900" rtl="0" algn="l">
              <a:spcBef>
                <a:spcPts val="1000"/>
              </a:spcBef>
              <a:spcAft>
                <a:spcPts val="0"/>
              </a:spcAft>
              <a:buSzPts val="1400"/>
              <a:buChar char="◈"/>
            </a:pPr>
            <a:r>
              <a:rPr lang="en-US"/>
              <a:t>Clouds, fog or dew form when water vapor is present.</a:t>
            </a:r>
            <a:endParaRPr/>
          </a:p>
          <a:p>
            <a:pPr indent="-306000" lvl="0" marL="342900" rtl="0" algn="l">
              <a:spcBef>
                <a:spcPts val="1000"/>
              </a:spcBef>
              <a:spcAft>
                <a:spcPts val="0"/>
              </a:spcAft>
              <a:buSzPts val="1400"/>
              <a:buChar char="◈"/>
            </a:pPr>
            <a:r>
              <a:rPr lang="en-US"/>
              <a:t>Evaporation-the process of turning from liquid into vapor.</a:t>
            </a:r>
            <a:endParaRPr/>
          </a:p>
          <a:p>
            <a:pPr indent="-306000" lvl="0" marL="342900" rtl="0" algn="l">
              <a:spcBef>
                <a:spcPts val="1000"/>
              </a:spcBef>
              <a:spcAft>
                <a:spcPts val="0"/>
              </a:spcAft>
              <a:buSzPts val="1400"/>
              <a:buChar char="◈"/>
            </a:pPr>
            <a:r>
              <a:rPr lang="en-US"/>
              <a:t>Sublimation-When a solid turns into a gas without going through a liquid stage.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6"/>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Wind</a:t>
            </a:r>
            <a:endParaRPr/>
          </a:p>
        </p:txBody>
      </p:sp>
      <p:sp>
        <p:nvSpPr>
          <p:cNvPr id="190" name="Google Shape;190;p26"/>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Local conditions, geological features, and other anomalies can change the wind direction and speed close to the earth’s surface, making it difficult to control and maneuver a sUAS.</a:t>
            </a:r>
            <a:endParaRPr/>
          </a:p>
          <a:p>
            <a:pPr indent="-306000" lvl="0" marL="342900" rtl="0" algn="l">
              <a:spcBef>
                <a:spcPts val="1000"/>
              </a:spcBef>
              <a:spcAft>
                <a:spcPts val="0"/>
              </a:spcAft>
              <a:buSzPts val="1400"/>
              <a:buChar char="◈"/>
            </a:pPr>
            <a:r>
              <a:rPr lang="en-US"/>
              <a:t>Strong winds can make a sUAS difficult or impossible to control and can reduce aircraft performance. </a:t>
            </a:r>
            <a:endParaRPr/>
          </a:p>
          <a:p>
            <a:pPr indent="-306000" lvl="0" marL="342900" rtl="0" algn="l">
              <a:spcBef>
                <a:spcPts val="1000"/>
              </a:spcBef>
              <a:spcAft>
                <a:spcPts val="0"/>
              </a:spcAft>
              <a:buSzPts val="1400"/>
              <a:buChar char="◈"/>
            </a:pPr>
            <a:r>
              <a:rPr lang="en-US"/>
              <a:t>Wind sheer is a sudden, drastic change in wind speed and/or direction over a very small area.</a:t>
            </a:r>
            <a:endParaRPr/>
          </a:p>
          <a:p>
            <a:pPr indent="-306000" lvl="0" marL="342900" rtl="0" algn="l">
              <a:spcBef>
                <a:spcPts val="1000"/>
              </a:spcBef>
              <a:spcAft>
                <a:spcPts val="0"/>
              </a:spcAft>
              <a:buSzPts val="1400"/>
              <a:buChar char="◈"/>
            </a:pPr>
            <a:r>
              <a:rPr lang="en-US"/>
              <a:t>Wind sheer can occur at any altitude.</a:t>
            </a:r>
            <a:endParaRPr/>
          </a:p>
          <a:p>
            <a:pPr indent="-306000" lvl="0" marL="342900" rtl="0" algn="l">
              <a:spcBef>
                <a:spcPts val="1000"/>
              </a:spcBef>
              <a:spcAft>
                <a:spcPts val="0"/>
              </a:spcAft>
              <a:buSzPts val="1400"/>
              <a:buChar char="◈"/>
            </a:pPr>
            <a:r>
              <a:rPr lang="en-US"/>
              <a:t>Wind sheer close to the ground is particularly dangerous.   </a:t>
            </a:r>
            <a:endParaRPr/>
          </a:p>
        </p:txBody>
      </p:sp>
      <p:pic>
        <p:nvPicPr>
          <p:cNvPr id="191" name="Google Shape;191;p26"/>
          <p:cNvPicPr preferRelativeResize="0"/>
          <p:nvPr/>
        </p:nvPicPr>
        <p:blipFill rotWithShape="1">
          <a:blip r:embed="rId3">
            <a:alphaModFix/>
          </a:blip>
          <a:srcRect b="0" l="0" r="0" t="0"/>
          <a:stretch/>
        </p:blipFill>
        <p:spPr>
          <a:xfrm>
            <a:off x="7609957" y="3987031"/>
            <a:ext cx="3657600" cy="242620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7"/>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Air Masses and Fronts</a:t>
            </a:r>
            <a:endParaRPr/>
          </a:p>
        </p:txBody>
      </p:sp>
      <p:sp>
        <p:nvSpPr>
          <p:cNvPr id="197" name="Google Shape;197;p27"/>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b="1" lang="en-US"/>
              <a:t>Front - </a:t>
            </a:r>
            <a:r>
              <a:rPr lang="en-US"/>
              <a:t>the division line between two differing air masses. Air masses can differ in temperature and moisture. </a:t>
            </a:r>
            <a:endParaRPr/>
          </a:p>
          <a:p>
            <a:pPr indent="-306000" lvl="0" marL="342900" rtl="0" algn="l">
              <a:spcBef>
                <a:spcPts val="1000"/>
              </a:spcBef>
              <a:spcAft>
                <a:spcPts val="0"/>
              </a:spcAft>
              <a:buSzPts val="1400"/>
              <a:buChar char="◈"/>
            </a:pPr>
            <a:r>
              <a:rPr b="1" lang="en-US"/>
              <a:t>Ridge</a:t>
            </a:r>
            <a:r>
              <a:rPr lang="en-US"/>
              <a:t> - an elongated area of high pressure.</a:t>
            </a:r>
            <a:endParaRPr/>
          </a:p>
          <a:p>
            <a:pPr indent="-306000" lvl="0" marL="342900" rtl="0" algn="l">
              <a:spcBef>
                <a:spcPts val="1000"/>
              </a:spcBef>
              <a:spcAft>
                <a:spcPts val="0"/>
              </a:spcAft>
              <a:buSzPts val="1400"/>
              <a:buChar char="◈"/>
            </a:pPr>
            <a:r>
              <a:rPr b="1" lang="en-US"/>
              <a:t>Trough</a:t>
            </a:r>
            <a:r>
              <a:rPr lang="en-US"/>
              <a:t> - an elongated ridge of low pressure.</a:t>
            </a:r>
            <a:endParaRPr/>
          </a:p>
          <a:p>
            <a:pPr indent="-306000" lvl="0" marL="342900" rtl="0" algn="l">
              <a:spcBef>
                <a:spcPts val="1000"/>
              </a:spcBef>
              <a:spcAft>
                <a:spcPts val="0"/>
              </a:spcAft>
              <a:buSzPts val="1400"/>
              <a:buChar char="◈"/>
            </a:pPr>
            <a:r>
              <a:rPr lang="en-US"/>
              <a:t>Temperature change is one of the most easily recognized discontinuities across a front. </a:t>
            </a:r>
            <a:endParaRPr/>
          </a:p>
          <a:p>
            <a:pPr indent="-306000" lvl="0" marL="342900" rtl="0" algn="l">
              <a:spcBef>
                <a:spcPts val="1000"/>
              </a:spcBef>
              <a:spcAft>
                <a:spcPts val="0"/>
              </a:spcAft>
              <a:buSzPts val="1400"/>
              <a:buChar char="◈"/>
            </a:pPr>
            <a:r>
              <a:rPr lang="en-US"/>
              <a:t>Cold fronts move (about 2 times) faster than warm fronts.</a:t>
            </a:r>
            <a:endParaRPr/>
          </a:p>
          <a:p>
            <a:pPr indent="-306000" lvl="0" marL="342900" rtl="0" algn="l">
              <a:spcBef>
                <a:spcPts val="1000"/>
              </a:spcBef>
              <a:spcAft>
                <a:spcPts val="0"/>
              </a:spcAft>
              <a:buSzPts val="1400"/>
              <a:buChar char="◈"/>
            </a:pPr>
            <a:r>
              <a:rPr lang="en-US"/>
              <a:t>Warm fronts have more widespread impact on weather. </a:t>
            </a:r>
            <a:endParaRPr/>
          </a:p>
          <a:p>
            <a:pPr indent="-306000" lvl="0" marL="342900" rtl="0" algn="l">
              <a:spcBef>
                <a:spcPts val="1000"/>
              </a:spcBef>
              <a:spcAft>
                <a:spcPts val="0"/>
              </a:spcAft>
              <a:buSzPts val="1400"/>
              <a:buChar char="◈"/>
            </a:pPr>
            <a:r>
              <a:rPr lang="en-US"/>
              <a:t>Warm fronts contain: low ceilings, increased precipitation, reduced visibility.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8"/>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Air Masses and Fronts</a:t>
            </a:r>
            <a:endParaRPr/>
          </a:p>
        </p:txBody>
      </p:sp>
      <p:pic>
        <p:nvPicPr>
          <p:cNvPr id="203" name="Google Shape;203;p28"/>
          <p:cNvPicPr preferRelativeResize="0"/>
          <p:nvPr>
            <p:ph idx="1" type="body"/>
          </p:nvPr>
        </p:nvPicPr>
        <p:blipFill rotWithShape="1">
          <a:blip r:embed="rId3">
            <a:alphaModFix/>
          </a:blip>
          <a:srcRect b="0" l="0" r="0" t="0"/>
          <a:stretch/>
        </p:blipFill>
        <p:spPr>
          <a:xfrm>
            <a:off x="2816135" y="2007597"/>
            <a:ext cx="6549081" cy="4212369"/>
          </a:xfrm>
          <a:prstGeom prst="rect">
            <a:avLst/>
          </a:prstGeom>
          <a:noFill/>
          <a:ln>
            <a:noFill/>
          </a:ln>
          <a:effectLst>
            <a:outerShdw blurRad="25400">
              <a:srgbClr val="000000">
                <a:alpha val="45882"/>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9"/>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Air Masses and Fronts</a:t>
            </a:r>
            <a:endParaRPr/>
          </a:p>
        </p:txBody>
      </p:sp>
      <p:sp>
        <p:nvSpPr>
          <p:cNvPr id="209" name="Google Shape;209;p29"/>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Frontal passage is indicated by the following:</a:t>
            </a:r>
            <a:endParaRPr/>
          </a:p>
          <a:p>
            <a:pPr indent="-270000" lvl="1" marL="720000" rtl="0" algn="l">
              <a:spcBef>
                <a:spcPts val="960"/>
              </a:spcBef>
              <a:spcAft>
                <a:spcPts val="0"/>
              </a:spcAft>
              <a:buSzPts val="1260"/>
              <a:buChar char="🞚"/>
            </a:pPr>
            <a:r>
              <a:rPr lang="en-US"/>
              <a:t>A temperature change</a:t>
            </a:r>
            <a:endParaRPr/>
          </a:p>
          <a:p>
            <a:pPr indent="-270000" lvl="1" marL="720000" rtl="0" algn="l">
              <a:spcBef>
                <a:spcPts val="960"/>
              </a:spcBef>
              <a:spcAft>
                <a:spcPts val="0"/>
              </a:spcAft>
              <a:buSzPts val="1260"/>
              <a:buChar char="🞚"/>
            </a:pPr>
            <a:r>
              <a:rPr lang="en-US"/>
              <a:t>A continuous decrease in pressure followed by an increase as the front passes.</a:t>
            </a:r>
            <a:endParaRPr/>
          </a:p>
          <a:p>
            <a:pPr indent="-270000" lvl="1" marL="720000" rtl="0" algn="l">
              <a:spcBef>
                <a:spcPts val="960"/>
              </a:spcBef>
              <a:spcAft>
                <a:spcPts val="0"/>
              </a:spcAft>
              <a:buSzPts val="1260"/>
              <a:buChar char="🞚"/>
            </a:pPr>
            <a:r>
              <a:rPr lang="en-US"/>
              <a:t>A shift in the wind direction, speed or both.</a:t>
            </a:r>
            <a:endParaRPr/>
          </a:p>
        </p:txBody>
      </p:sp>
      <p:pic>
        <p:nvPicPr>
          <p:cNvPr id="210" name="Google Shape;210;p29"/>
          <p:cNvPicPr preferRelativeResize="0"/>
          <p:nvPr/>
        </p:nvPicPr>
        <p:blipFill rotWithShape="1">
          <a:blip r:embed="rId3">
            <a:alphaModFix/>
          </a:blip>
          <a:srcRect b="0" l="0" r="0" t="0"/>
          <a:stretch/>
        </p:blipFill>
        <p:spPr>
          <a:xfrm>
            <a:off x="4928626" y="4044945"/>
            <a:ext cx="2324100" cy="20486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0"/>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Air Masses and Fronts</a:t>
            </a:r>
            <a:endParaRPr/>
          </a:p>
        </p:txBody>
      </p:sp>
      <p:sp>
        <p:nvSpPr>
          <p:cNvPr id="216" name="Google Shape;216;p30"/>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Thunderstorms and heavy rain are common, although not always, associated with cold fronts.</a:t>
            </a:r>
            <a:endParaRPr/>
          </a:p>
          <a:p>
            <a:pPr indent="-306000" lvl="0" marL="342900" rtl="0" algn="l">
              <a:spcBef>
                <a:spcPts val="1000"/>
              </a:spcBef>
              <a:spcAft>
                <a:spcPts val="0"/>
              </a:spcAft>
              <a:buSzPts val="1400"/>
              <a:buChar char="◈"/>
            </a:pPr>
            <a:r>
              <a:rPr lang="en-US"/>
              <a:t>Cold dry air is very stable and resists vertical movement-generally produces good clear weather. </a:t>
            </a:r>
            <a:endParaRPr/>
          </a:p>
        </p:txBody>
      </p:sp>
      <p:pic>
        <p:nvPicPr>
          <p:cNvPr id="217" name="Google Shape;217;p30"/>
          <p:cNvPicPr preferRelativeResize="0"/>
          <p:nvPr/>
        </p:nvPicPr>
        <p:blipFill rotWithShape="1">
          <a:blip r:embed="rId3">
            <a:alphaModFix/>
          </a:blip>
          <a:srcRect b="0" l="0" r="0" t="0"/>
          <a:stretch/>
        </p:blipFill>
        <p:spPr>
          <a:xfrm>
            <a:off x="4481791" y="3761824"/>
            <a:ext cx="3217770" cy="21464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1"/>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Atmospheric Stability</a:t>
            </a:r>
            <a:endParaRPr/>
          </a:p>
        </p:txBody>
      </p:sp>
      <p:graphicFrame>
        <p:nvGraphicFramePr>
          <p:cNvPr id="223" name="Google Shape;223;p31"/>
          <p:cNvGraphicFramePr/>
          <p:nvPr/>
        </p:nvGraphicFramePr>
        <p:xfrm>
          <a:off x="913881" y="2217996"/>
          <a:ext cx="3000000" cy="3000000"/>
        </p:xfrm>
        <a:graphic>
          <a:graphicData uri="http://schemas.openxmlformats.org/drawingml/2006/table">
            <a:tbl>
              <a:tblPr bandRow="1" firstRow="1">
                <a:noFill/>
                <a:tableStyleId>{2FDF57B3-AB8E-4777-A536-E36D5BA31B19}</a:tableStyleId>
              </a:tblPr>
              <a:tblGrid>
                <a:gridCol w="5176850"/>
                <a:gridCol w="5176850"/>
              </a:tblGrid>
              <a:tr h="370850">
                <a:tc>
                  <a:txBody>
                    <a:bodyPr/>
                    <a:lstStyle/>
                    <a:p>
                      <a:pPr indent="0" lvl="0" marL="0" marR="0" rtl="0" algn="l">
                        <a:spcBef>
                          <a:spcPts val="0"/>
                        </a:spcBef>
                        <a:spcAft>
                          <a:spcPts val="0"/>
                        </a:spcAft>
                        <a:buNone/>
                      </a:pPr>
                      <a:r>
                        <a:rPr lang="en-US" sz="1800" u="none" cap="none" strike="noStrike"/>
                        <a:t>Unstable Air</a:t>
                      </a:r>
                      <a:endParaRPr/>
                    </a:p>
                  </a:txBody>
                  <a:tcPr marT="45725" marB="45725" marR="91450" marL="91450"/>
                </a:tc>
                <a:tc>
                  <a:txBody>
                    <a:bodyPr/>
                    <a:lstStyle/>
                    <a:p>
                      <a:pPr indent="0" lvl="0" marL="0" marR="0" rtl="0" algn="l">
                        <a:spcBef>
                          <a:spcPts val="0"/>
                        </a:spcBef>
                        <a:spcAft>
                          <a:spcPts val="0"/>
                        </a:spcAft>
                        <a:buNone/>
                      </a:pPr>
                      <a:r>
                        <a:rPr lang="en-US" sz="1800"/>
                        <a:t>Stable Air</a:t>
                      </a:r>
                      <a:endParaRPr/>
                    </a:p>
                  </a:txBody>
                  <a:tcPr marT="45725" marB="45725" marR="91450" marL="91450"/>
                </a:tc>
              </a:tr>
              <a:tr h="370850">
                <a:tc>
                  <a:txBody>
                    <a:bodyPr/>
                    <a:lstStyle/>
                    <a:p>
                      <a:pPr indent="0" lvl="0" marL="0" marR="0" rtl="0" algn="l">
                        <a:spcBef>
                          <a:spcPts val="0"/>
                        </a:spcBef>
                        <a:spcAft>
                          <a:spcPts val="0"/>
                        </a:spcAft>
                        <a:buNone/>
                      </a:pPr>
                      <a:r>
                        <a:rPr lang="en-US" sz="1800"/>
                        <a:t>Cumuliform Clouds</a:t>
                      </a:r>
                      <a:endParaRPr/>
                    </a:p>
                  </a:txBody>
                  <a:tcPr marT="45725" marB="45725" marR="91450" marL="91450"/>
                </a:tc>
                <a:tc>
                  <a:txBody>
                    <a:bodyPr/>
                    <a:lstStyle/>
                    <a:p>
                      <a:pPr indent="0" lvl="0" marL="0" marR="0" rtl="0" algn="l">
                        <a:spcBef>
                          <a:spcPts val="0"/>
                        </a:spcBef>
                        <a:spcAft>
                          <a:spcPts val="0"/>
                        </a:spcAft>
                        <a:buNone/>
                      </a:pPr>
                      <a:r>
                        <a:rPr lang="en-US" sz="1800"/>
                        <a:t>Stratiform clouds and fog.</a:t>
                      </a:r>
                      <a:endParaRPr/>
                    </a:p>
                  </a:txBody>
                  <a:tcPr marT="45725" marB="45725" marR="91450" marL="91450"/>
                </a:tc>
              </a:tr>
              <a:tr h="370850">
                <a:tc>
                  <a:txBody>
                    <a:bodyPr/>
                    <a:lstStyle/>
                    <a:p>
                      <a:pPr indent="0" lvl="0" marL="0" marR="0" rtl="0" algn="l">
                        <a:spcBef>
                          <a:spcPts val="0"/>
                        </a:spcBef>
                        <a:spcAft>
                          <a:spcPts val="0"/>
                        </a:spcAft>
                        <a:buNone/>
                      </a:pPr>
                      <a:r>
                        <a:rPr lang="en-US" sz="1800"/>
                        <a:t>Showery precipitation</a:t>
                      </a:r>
                      <a:endParaRPr/>
                    </a:p>
                  </a:txBody>
                  <a:tcPr marT="45725" marB="45725" marR="91450" marL="91450"/>
                </a:tc>
                <a:tc>
                  <a:txBody>
                    <a:bodyPr/>
                    <a:lstStyle/>
                    <a:p>
                      <a:pPr indent="0" lvl="0" marL="0" marR="0" rtl="0" algn="l">
                        <a:spcBef>
                          <a:spcPts val="0"/>
                        </a:spcBef>
                        <a:spcAft>
                          <a:spcPts val="0"/>
                        </a:spcAft>
                        <a:buNone/>
                      </a:pPr>
                      <a:r>
                        <a:rPr lang="en-US" sz="1800"/>
                        <a:t>Continuous precipitation</a:t>
                      </a:r>
                      <a:endParaRPr/>
                    </a:p>
                  </a:txBody>
                  <a:tcPr marT="45725" marB="45725" marR="91450" marL="91450"/>
                </a:tc>
              </a:tr>
              <a:tr h="370850">
                <a:tc>
                  <a:txBody>
                    <a:bodyPr/>
                    <a:lstStyle/>
                    <a:p>
                      <a:pPr indent="0" lvl="0" marL="0" marR="0" rtl="0" algn="l">
                        <a:spcBef>
                          <a:spcPts val="0"/>
                        </a:spcBef>
                        <a:spcAft>
                          <a:spcPts val="0"/>
                        </a:spcAft>
                        <a:buNone/>
                      </a:pPr>
                      <a:r>
                        <a:rPr lang="en-US" sz="1800"/>
                        <a:t>Rough air (turbulence)</a:t>
                      </a:r>
                      <a:endParaRPr/>
                    </a:p>
                  </a:txBody>
                  <a:tcPr marT="45725" marB="45725" marR="91450" marL="91450"/>
                </a:tc>
                <a:tc>
                  <a:txBody>
                    <a:bodyPr/>
                    <a:lstStyle/>
                    <a:p>
                      <a:pPr indent="0" lvl="0" marL="0" marR="0" rtl="0" algn="l">
                        <a:spcBef>
                          <a:spcPts val="0"/>
                        </a:spcBef>
                        <a:spcAft>
                          <a:spcPts val="0"/>
                        </a:spcAft>
                        <a:buNone/>
                      </a:pPr>
                      <a:r>
                        <a:rPr lang="en-US" sz="1800"/>
                        <a:t>Smooth air</a:t>
                      </a:r>
                      <a:endParaRPr/>
                    </a:p>
                  </a:txBody>
                  <a:tcPr marT="45725" marB="45725" marR="91450" marL="91450"/>
                </a:tc>
              </a:tr>
              <a:tr h="370850">
                <a:tc>
                  <a:txBody>
                    <a:bodyPr/>
                    <a:lstStyle/>
                    <a:p>
                      <a:pPr indent="0" lvl="0" marL="0" marR="0" rtl="0" algn="l">
                        <a:spcBef>
                          <a:spcPts val="0"/>
                        </a:spcBef>
                        <a:spcAft>
                          <a:spcPts val="0"/>
                        </a:spcAft>
                        <a:buNone/>
                      </a:pPr>
                      <a:r>
                        <a:rPr lang="en-US" sz="1800"/>
                        <a:t>Good visibility except in blowing obstructions.</a:t>
                      </a:r>
                      <a:endParaRPr/>
                    </a:p>
                  </a:txBody>
                  <a:tcPr marT="45725" marB="45725" marR="91450" marL="91450"/>
                </a:tc>
                <a:tc>
                  <a:txBody>
                    <a:bodyPr/>
                    <a:lstStyle/>
                    <a:p>
                      <a:pPr indent="0" lvl="0" marL="0" marR="0" rtl="0" algn="l">
                        <a:spcBef>
                          <a:spcPts val="0"/>
                        </a:spcBef>
                        <a:spcAft>
                          <a:spcPts val="0"/>
                        </a:spcAft>
                        <a:buNone/>
                      </a:pPr>
                      <a:r>
                        <a:rPr lang="en-US" sz="1800"/>
                        <a:t>Fair to poor visibility in haze and smoke.</a:t>
                      </a:r>
                      <a:endParaRPr/>
                    </a:p>
                  </a:txBody>
                  <a:tcPr marT="45725" marB="45725" marR="91450" marL="9145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p32"/>
          <p:cNvPicPr preferRelativeResize="0"/>
          <p:nvPr/>
        </p:nvPicPr>
        <p:blipFill rotWithShape="1">
          <a:blip r:embed="rId3">
            <a:alphaModFix/>
          </a:blip>
          <a:srcRect b="0" l="0" r="0" t="0"/>
          <a:stretch/>
        </p:blipFill>
        <p:spPr>
          <a:xfrm>
            <a:off x="1293340" y="65111"/>
            <a:ext cx="9605319" cy="6423557"/>
          </a:xfrm>
          <a:prstGeom prst="rect">
            <a:avLst/>
          </a:prstGeom>
          <a:noFill/>
          <a:ln>
            <a:noFill/>
          </a:ln>
        </p:spPr>
      </p:pic>
      <p:sp>
        <p:nvSpPr>
          <p:cNvPr id="229" name="Google Shape;229;p32"/>
          <p:cNvSpPr txBox="1"/>
          <p:nvPr/>
        </p:nvSpPr>
        <p:spPr>
          <a:xfrm>
            <a:off x="0" y="6488668"/>
            <a:ext cx="121920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lt1"/>
                </a:solidFill>
                <a:latin typeface="Lustria"/>
                <a:ea typeface="Lustria"/>
                <a:cs typeface="Lustria"/>
                <a:sym typeface="Lustria"/>
              </a:rPr>
              <a:t>https://www.weather.gov/images/jetstream/clouds/cloudchart_nws.jpg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descr="A house with trees and clouds in the sky&#10;&#10;Description automatically generated" id="234" name="Google Shape;234;p33"/>
          <p:cNvPicPr preferRelativeResize="0"/>
          <p:nvPr/>
        </p:nvPicPr>
        <p:blipFill rotWithShape="1">
          <a:blip r:embed="rId3">
            <a:alphaModFix/>
          </a:blip>
          <a:srcRect b="0" l="0" r="0" t="0"/>
          <a:stretch/>
        </p:blipFill>
        <p:spPr>
          <a:xfrm>
            <a:off x="4167187" y="0"/>
            <a:ext cx="3857625" cy="6858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descr="A field with houses and trees in the background&#10;&#10;Description automatically generated" id="239" name="Google Shape;239;p34"/>
          <p:cNvPicPr preferRelativeResize="0"/>
          <p:nvPr/>
        </p:nvPicPr>
        <p:blipFill rotWithShape="1">
          <a:blip r:embed="rId3">
            <a:alphaModFix/>
          </a:blip>
          <a:srcRect b="0" l="0" r="0" t="0"/>
          <a:stretch/>
        </p:blipFill>
        <p:spPr>
          <a:xfrm>
            <a:off x="1524000" y="0"/>
            <a:ext cx="9144000" cy="6858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descr="A lake with mountains in the background&#10;&#10;Description automatically generated" id="244" name="Google Shape;244;p35"/>
          <p:cNvPicPr preferRelativeResize="0"/>
          <p:nvPr/>
        </p:nvPicPr>
        <p:blipFill rotWithShape="1">
          <a:blip r:embed="rId3">
            <a:alphaModFix/>
          </a:blip>
          <a:srcRect b="0" l="0" r="0" t="0"/>
          <a:stretch/>
        </p:blipFill>
        <p:spPr>
          <a:xfrm>
            <a:off x="1524000" y="0"/>
            <a:ext cx="9144000" cy="6858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descr="A road with a cloudy sky&#10;&#10;Description automatically generated" id="249" name="Google Shape;249;p36"/>
          <p:cNvPicPr preferRelativeResize="0"/>
          <p:nvPr/>
        </p:nvPicPr>
        <p:blipFill rotWithShape="1">
          <a:blip r:embed="rId3">
            <a:alphaModFix/>
          </a:blip>
          <a:srcRect b="0" l="0" r="0" t="0"/>
          <a:stretch/>
        </p:blipFill>
        <p:spPr>
          <a:xfrm>
            <a:off x="3524250" y="0"/>
            <a:ext cx="5143500" cy="685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descr="A house with a wave of clouds&#10;&#10;Description automatically generated with medium confidence" id="254" name="Google Shape;254;p37"/>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descr="A field with a fence and mountains in the background&#10;&#10;Description automatically generated" id="259" name="Google Shape;259;p38"/>
          <p:cNvPicPr preferRelativeResize="0"/>
          <p:nvPr/>
        </p:nvPicPr>
        <p:blipFill rotWithShape="1">
          <a:blip r:embed="rId3">
            <a:alphaModFix/>
          </a:blip>
          <a:srcRect b="0" l="0" r="0" t="0"/>
          <a:stretch/>
        </p:blipFill>
        <p:spPr>
          <a:xfrm>
            <a:off x="1524000" y="0"/>
            <a:ext cx="9144000" cy="6858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9"/>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Atmospheric Stability</a:t>
            </a:r>
            <a:endParaRPr/>
          </a:p>
        </p:txBody>
      </p:sp>
      <p:sp>
        <p:nvSpPr>
          <p:cNvPr id="265" name="Google Shape;265;p39"/>
          <p:cNvSpPr txBox="1"/>
          <p:nvPr>
            <p:ph idx="1" type="body"/>
          </p:nvPr>
        </p:nvSpPr>
        <p:spPr>
          <a:xfrm>
            <a:off x="913800" y="1732450"/>
            <a:ext cx="10353900" cy="382440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0" lvl="0" marL="36900" rtl="0" algn="ctr">
              <a:spcBef>
                <a:spcPts val="0"/>
              </a:spcBef>
              <a:spcAft>
                <a:spcPts val="0"/>
              </a:spcAft>
              <a:buSzPts val="1400"/>
              <a:buNone/>
            </a:pPr>
            <a:r>
              <a:rPr lang="en-US"/>
              <a:t>“The difference between the existing lapse rate of a given mass of air and the adiabatic rates of cooling in upward moving air determines if the air is stable or unstable”.</a:t>
            </a:r>
            <a:endParaRPr/>
          </a:p>
          <a:p>
            <a:pPr indent="0" lvl="0" marL="36900" rtl="0" algn="l">
              <a:spcBef>
                <a:spcPts val="1000"/>
              </a:spcBef>
              <a:spcAft>
                <a:spcPts val="0"/>
              </a:spcAft>
              <a:buSzPts val="1400"/>
              <a:buNone/>
            </a:pPr>
            <a:r>
              <a:rPr b="1" lang="en-US"/>
              <a:t>Adiabatic cooling </a:t>
            </a:r>
            <a:r>
              <a:rPr lang="en-US"/>
              <a:t>- the process of reducing heat through a change in air pressure caused by volume expansion. </a:t>
            </a:r>
            <a:endParaRPr/>
          </a:p>
          <a:p>
            <a:pPr indent="0" lvl="0" marL="36900" rtl="0" algn="l">
              <a:spcBef>
                <a:spcPts val="1000"/>
              </a:spcBef>
              <a:spcAft>
                <a:spcPts val="0"/>
              </a:spcAft>
              <a:buSzPts val="1400"/>
              <a:buNone/>
            </a:pPr>
            <a:r>
              <a:rPr b="1" lang="en-US"/>
              <a:t>Lapse rate </a:t>
            </a:r>
            <a:r>
              <a:rPr lang="en-US"/>
              <a:t>-</a:t>
            </a:r>
            <a:r>
              <a:rPr b="1" lang="en-US"/>
              <a:t> </a:t>
            </a:r>
            <a:r>
              <a:rPr lang="en-US"/>
              <a:t>the rate at which air temperature falls with increasing altitude.</a:t>
            </a:r>
            <a:endParaRPr/>
          </a:p>
          <a:p>
            <a:pPr indent="0" lvl="0" marL="36900" rtl="0" algn="l">
              <a:spcBef>
                <a:spcPts val="1000"/>
              </a:spcBef>
              <a:spcAft>
                <a:spcPts val="0"/>
              </a:spcAft>
              <a:buSzPts val="1400"/>
              <a:buNone/>
            </a:pPr>
            <a:r>
              <a:rPr b="1" lang="en-US"/>
              <a:t>Temperature inversion </a:t>
            </a:r>
            <a:r>
              <a:rPr lang="en-US"/>
              <a:t>- when the temperature of the air rises with altitude. </a:t>
            </a:r>
            <a:endParaRPr/>
          </a:p>
          <a:p>
            <a:pPr indent="0" lvl="0" marL="36900" rtl="0" algn="l">
              <a:spcBef>
                <a:spcPts val="1000"/>
              </a:spcBef>
              <a:spcAft>
                <a:spcPts val="0"/>
              </a:spcAft>
              <a:buSzPts val="1400"/>
              <a:buNone/>
            </a:pPr>
            <a:r>
              <a:rPr lang="en-US"/>
              <a:t>The air at the top of an inversion is warm and acts as a lid holding the air below it. Smoke, fog, and/or pollutants can become trapped in an inversion reducing visibility. </a:t>
            </a:r>
            <a:endParaRPr/>
          </a:p>
        </p:txBody>
      </p:sp>
      <p:pic>
        <p:nvPicPr>
          <p:cNvPr id="266" name="Google Shape;266;p39"/>
          <p:cNvPicPr preferRelativeResize="0"/>
          <p:nvPr/>
        </p:nvPicPr>
        <p:blipFill rotWithShape="1">
          <a:blip r:embed="rId3">
            <a:alphaModFix/>
          </a:blip>
          <a:srcRect b="0" l="0" r="0" t="0"/>
          <a:stretch/>
        </p:blipFill>
        <p:spPr>
          <a:xfrm>
            <a:off x="4611984" y="4852086"/>
            <a:ext cx="2957384" cy="197570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0"/>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Visibility and Clouds</a:t>
            </a:r>
            <a:endParaRPr/>
          </a:p>
        </p:txBody>
      </p:sp>
      <p:sp>
        <p:nvSpPr>
          <p:cNvPr id="272" name="Google Shape;272;p40"/>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Part 107 operations must not be conducted in visibility less than 3 statute miles as observed from the location of control station.</a:t>
            </a:r>
            <a:endParaRPr/>
          </a:p>
          <a:p>
            <a:pPr indent="-306000" lvl="0" marL="342900" rtl="0" algn="l">
              <a:spcBef>
                <a:spcPts val="1000"/>
              </a:spcBef>
              <a:spcAft>
                <a:spcPts val="0"/>
              </a:spcAft>
              <a:buSzPts val="1400"/>
              <a:buChar char="◈"/>
            </a:pPr>
            <a:r>
              <a:rPr lang="en-US"/>
              <a:t>Part 107 operations require the minimum distance of the aircraft from clouds must be no less than 500 feet below the cloud and 2,000 feet horizontally from the cloud. </a:t>
            </a:r>
            <a:endParaRPr/>
          </a:p>
        </p:txBody>
      </p:sp>
      <p:pic>
        <p:nvPicPr>
          <p:cNvPr id="273" name="Google Shape;273;p40"/>
          <p:cNvPicPr preferRelativeResize="0"/>
          <p:nvPr/>
        </p:nvPicPr>
        <p:blipFill rotWithShape="1">
          <a:blip r:embed="rId3">
            <a:alphaModFix/>
          </a:blip>
          <a:srcRect b="0" l="0" r="0" t="0"/>
          <a:stretch/>
        </p:blipFill>
        <p:spPr>
          <a:xfrm>
            <a:off x="3434121" y="3678180"/>
            <a:ext cx="5313110" cy="211302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1"/>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Thunderstorms</a:t>
            </a:r>
            <a:endParaRPr/>
          </a:p>
        </p:txBody>
      </p:sp>
      <p:sp>
        <p:nvSpPr>
          <p:cNvPr id="279" name="Google Shape;279;p41"/>
          <p:cNvSpPr txBox="1"/>
          <p:nvPr>
            <p:ph idx="1" type="body"/>
          </p:nvPr>
        </p:nvSpPr>
        <p:spPr>
          <a:xfrm>
            <a:off x="913795" y="1732449"/>
            <a:ext cx="10353762" cy="143911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Thunderstorms can produce high levels of turbulence and wind sheer.</a:t>
            </a:r>
            <a:endParaRPr/>
          </a:p>
          <a:p>
            <a:pPr indent="-306000" lvl="0" marL="342900" rtl="0" algn="l">
              <a:spcBef>
                <a:spcPts val="1000"/>
              </a:spcBef>
              <a:spcAft>
                <a:spcPts val="0"/>
              </a:spcAft>
              <a:buSzPts val="1400"/>
              <a:buChar char="◈"/>
            </a:pPr>
            <a:r>
              <a:rPr lang="en-US"/>
              <a:t>Operation in or near thunderstorms should be avoided. </a:t>
            </a:r>
            <a:endParaRPr/>
          </a:p>
          <a:p>
            <a:pPr indent="-306000" lvl="0" marL="342900" rtl="0" algn="l">
              <a:spcBef>
                <a:spcPts val="1000"/>
              </a:spcBef>
              <a:spcAft>
                <a:spcPts val="0"/>
              </a:spcAft>
              <a:buSzPts val="1400"/>
              <a:buChar char="◈"/>
            </a:pPr>
            <a:r>
              <a:rPr lang="en-US"/>
              <a:t>Thunderstorms go through a life cycle.</a:t>
            </a:r>
            <a:endParaRPr/>
          </a:p>
        </p:txBody>
      </p:sp>
      <p:pic>
        <p:nvPicPr>
          <p:cNvPr id="280" name="Google Shape;280;p41"/>
          <p:cNvPicPr preferRelativeResize="0"/>
          <p:nvPr/>
        </p:nvPicPr>
        <p:blipFill rotWithShape="1">
          <a:blip r:embed="rId3">
            <a:alphaModFix/>
          </a:blip>
          <a:srcRect b="0" l="0" r="0" t="0"/>
          <a:stretch/>
        </p:blipFill>
        <p:spPr>
          <a:xfrm>
            <a:off x="2578443" y="3257555"/>
            <a:ext cx="6887862" cy="335704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2"/>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Thunderstorms</a:t>
            </a:r>
            <a:endParaRPr/>
          </a:p>
        </p:txBody>
      </p:sp>
      <p:sp>
        <p:nvSpPr>
          <p:cNvPr id="286" name="Google Shape;286;p42"/>
          <p:cNvSpPr txBox="1"/>
          <p:nvPr>
            <p:ph idx="1" type="body"/>
          </p:nvPr>
        </p:nvSpPr>
        <p:spPr>
          <a:xfrm>
            <a:off x="913795" y="1732449"/>
            <a:ext cx="10353762" cy="28395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The key feature of the cumulus stage is an updraft. Precipitation beginning to fall from the cloud base is the signal that a downdraft had developed also and a cell has entered the mature stage. </a:t>
            </a:r>
            <a:endParaRPr/>
          </a:p>
          <a:p>
            <a:pPr indent="-306000" lvl="0" marL="342900" rtl="0" algn="l">
              <a:spcBef>
                <a:spcPts val="1000"/>
              </a:spcBef>
              <a:spcAft>
                <a:spcPts val="0"/>
              </a:spcAft>
              <a:buSzPts val="1400"/>
              <a:buChar char="◈"/>
            </a:pPr>
            <a:r>
              <a:rPr lang="en-US"/>
              <a:t>For a cumulonimbus cloud or thunderstorm to form, the air must have:</a:t>
            </a:r>
            <a:endParaRPr/>
          </a:p>
          <a:p>
            <a:pPr indent="-457200" lvl="1" marL="871200" rtl="0" algn="l">
              <a:spcBef>
                <a:spcPts val="960"/>
              </a:spcBef>
              <a:spcAft>
                <a:spcPts val="0"/>
              </a:spcAft>
              <a:buSzPts val="1260"/>
              <a:buFont typeface="Lustria"/>
              <a:buAutoNum type="arabicPeriod"/>
            </a:pPr>
            <a:r>
              <a:rPr lang="en-US"/>
              <a:t>Sufficient water vapor.</a:t>
            </a:r>
            <a:endParaRPr/>
          </a:p>
          <a:p>
            <a:pPr indent="-457200" lvl="1" marL="871200" rtl="0" algn="l">
              <a:spcBef>
                <a:spcPts val="960"/>
              </a:spcBef>
              <a:spcAft>
                <a:spcPts val="0"/>
              </a:spcAft>
              <a:buSzPts val="1260"/>
              <a:buFont typeface="Lustria"/>
              <a:buAutoNum type="arabicPeriod"/>
            </a:pPr>
            <a:r>
              <a:rPr lang="en-US"/>
              <a:t>An unstable lapse rate and</a:t>
            </a:r>
            <a:endParaRPr/>
          </a:p>
          <a:p>
            <a:pPr indent="-457200" lvl="1" marL="871200" rtl="0" algn="l">
              <a:spcBef>
                <a:spcPts val="960"/>
              </a:spcBef>
              <a:spcAft>
                <a:spcPts val="0"/>
              </a:spcAft>
              <a:buSzPts val="1260"/>
              <a:buFont typeface="Lustria"/>
              <a:buAutoNum type="arabicPeriod"/>
            </a:pPr>
            <a:r>
              <a:rPr lang="en-US"/>
              <a:t>An initial upward boost (lifting) to start the storm process in motion. </a:t>
            </a:r>
            <a:endParaRPr/>
          </a:p>
        </p:txBody>
      </p:sp>
      <p:pic>
        <p:nvPicPr>
          <p:cNvPr id="287" name="Google Shape;287;p42"/>
          <p:cNvPicPr preferRelativeResize="0"/>
          <p:nvPr/>
        </p:nvPicPr>
        <p:blipFill rotWithShape="1">
          <a:blip r:embed="rId3">
            <a:alphaModFix/>
          </a:blip>
          <a:srcRect b="0" l="0" r="0" t="0"/>
          <a:stretch/>
        </p:blipFill>
        <p:spPr>
          <a:xfrm>
            <a:off x="4290379" y="4464907"/>
            <a:ext cx="3600593" cy="229037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3"/>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Thunderstorms</a:t>
            </a:r>
            <a:endParaRPr/>
          </a:p>
        </p:txBody>
      </p:sp>
      <p:sp>
        <p:nvSpPr>
          <p:cNvPr id="293" name="Google Shape;293;p43"/>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Thunderstorms are at their greatest intensity during the mature stage.</a:t>
            </a:r>
            <a:endParaRPr/>
          </a:p>
          <a:p>
            <a:pPr indent="-306000" lvl="0" marL="342900" rtl="0" algn="l">
              <a:spcBef>
                <a:spcPts val="1000"/>
              </a:spcBef>
              <a:spcAft>
                <a:spcPts val="0"/>
              </a:spcAft>
              <a:buSzPts val="1400"/>
              <a:buChar char="◈"/>
            </a:pPr>
            <a:r>
              <a:rPr lang="en-US"/>
              <a:t>A downdraft signifies the dissipating stage of a thunderstorm cell and the storm rapidly dies.</a:t>
            </a:r>
            <a:endParaRPr/>
          </a:p>
          <a:p>
            <a:pPr indent="-306000" lvl="0" marL="342900" rtl="0" algn="l">
              <a:spcBef>
                <a:spcPts val="1000"/>
              </a:spcBef>
              <a:spcAft>
                <a:spcPts val="0"/>
              </a:spcAft>
              <a:buSzPts val="1400"/>
              <a:buChar char="◈"/>
            </a:pPr>
            <a:r>
              <a:rPr lang="en-US"/>
              <a:t>Squall line thunderstorms are the most dangerous to aircraft.</a:t>
            </a:r>
            <a:endParaRPr/>
          </a:p>
          <a:p>
            <a:pPr indent="-306000" lvl="0" marL="342900" rtl="0" algn="l">
              <a:spcBef>
                <a:spcPts val="1000"/>
              </a:spcBef>
              <a:spcAft>
                <a:spcPts val="0"/>
              </a:spcAft>
              <a:buSzPts val="1400"/>
              <a:buChar char="◈"/>
            </a:pPr>
            <a:r>
              <a:rPr lang="en-US"/>
              <a:t>Squalls can happen at and affect any altitude. </a:t>
            </a:r>
            <a:endParaRPr/>
          </a:p>
          <a:p>
            <a:pPr indent="-306000" lvl="0" marL="342900" rtl="0" algn="l">
              <a:spcBef>
                <a:spcPts val="1000"/>
              </a:spcBef>
              <a:spcAft>
                <a:spcPts val="0"/>
              </a:spcAft>
              <a:buSzPts val="1400"/>
              <a:buChar char="◈"/>
            </a:pPr>
            <a:r>
              <a:rPr lang="en-US"/>
              <a:t>Squall line storms are typically very long and intense offering no path over, around, or through. The present the most intense hazard to small aircraft.  </a:t>
            </a:r>
            <a:endParaRPr/>
          </a:p>
          <a:p>
            <a:pPr indent="-306000" lvl="0" marL="342900" rtl="0" algn="l">
              <a:spcBef>
                <a:spcPts val="1000"/>
              </a:spcBef>
              <a:spcAft>
                <a:spcPts val="0"/>
              </a:spcAft>
              <a:buSzPts val="1400"/>
              <a:buChar char="◈"/>
            </a:pPr>
            <a:r>
              <a:rPr lang="en-US"/>
              <a:t>Wind sheer in the invisible hazard associated with all thunderstorms. Wind sheer can occur at any altitude in any direction. Wind sheer is the biggest hazard to aircraft associated with thunderstorms.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4"/>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Icing</a:t>
            </a:r>
            <a:endParaRPr/>
          </a:p>
        </p:txBody>
      </p:sp>
      <p:sp>
        <p:nvSpPr>
          <p:cNvPr id="299" name="Google Shape;299;p44"/>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Icing can have the following effects on aircraft:</a:t>
            </a:r>
            <a:endParaRPr/>
          </a:p>
          <a:p>
            <a:pPr indent="-270000" lvl="1" marL="720000" rtl="0" algn="l">
              <a:spcBef>
                <a:spcPts val="960"/>
              </a:spcBef>
              <a:spcAft>
                <a:spcPts val="0"/>
              </a:spcAft>
              <a:buSzPts val="1260"/>
              <a:buChar char="🞚"/>
            </a:pPr>
            <a:r>
              <a:rPr lang="en-US"/>
              <a:t>Decrease lift</a:t>
            </a:r>
            <a:endParaRPr/>
          </a:p>
          <a:p>
            <a:pPr indent="-270000" lvl="1" marL="720000" rtl="0" algn="l">
              <a:spcBef>
                <a:spcPts val="960"/>
              </a:spcBef>
              <a:spcAft>
                <a:spcPts val="0"/>
              </a:spcAft>
              <a:buSzPts val="1260"/>
              <a:buChar char="🞚"/>
            </a:pPr>
            <a:r>
              <a:rPr lang="en-US"/>
              <a:t>Weight and stalling speed increase for fixed wind and propellers may stall on rotary wing.</a:t>
            </a:r>
            <a:endParaRPr/>
          </a:p>
          <a:p>
            <a:pPr indent="-270000" lvl="1" marL="720000" rtl="0" algn="l">
              <a:spcBef>
                <a:spcPts val="960"/>
              </a:spcBef>
              <a:spcAft>
                <a:spcPts val="0"/>
              </a:spcAft>
              <a:buSzPts val="1260"/>
              <a:buChar char="🞚"/>
            </a:pPr>
            <a:r>
              <a:rPr lang="en-US"/>
              <a:t>Thrust decreases</a:t>
            </a:r>
            <a:endParaRPr/>
          </a:p>
          <a:p>
            <a:pPr indent="-270000" lvl="1" marL="720000" rtl="0" algn="l">
              <a:spcBef>
                <a:spcPts val="960"/>
              </a:spcBef>
              <a:spcAft>
                <a:spcPts val="0"/>
              </a:spcAft>
              <a:buSzPts val="1260"/>
              <a:buChar char="🞚"/>
            </a:pPr>
            <a:r>
              <a:rPr lang="en-US"/>
              <a:t>Drag increases.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5"/>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Icing</a:t>
            </a:r>
            <a:endParaRPr/>
          </a:p>
        </p:txBody>
      </p:sp>
      <p:sp>
        <p:nvSpPr>
          <p:cNvPr id="305" name="Google Shape;305;p45"/>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Ice pellets always indicate freezing rain at higher altitudes.</a:t>
            </a:r>
            <a:endParaRPr/>
          </a:p>
          <a:p>
            <a:pPr indent="-306000" lvl="0" marL="342900" rtl="0" algn="l">
              <a:spcBef>
                <a:spcPts val="1000"/>
              </a:spcBef>
              <a:spcAft>
                <a:spcPts val="0"/>
              </a:spcAft>
              <a:buSzPts val="1400"/>
              <a:buChar char="◈"/>
            </a:pPr>
            <a:r>
              <a:rPr lang="en-US"/>
              <a:t>A condition favorable for rapid accumulation of clear icing is freezing rain below a frontal surface. </a:t>
            </a:r>
            <a:endParaRPr/>
          </a:p>
          <a:p>
            <a:pPr indent="-306000" lvl="0" marL="342900" rtl="0" algn="l">
              <a:spcBef>
                <a:spcPts val="1000"/>
              </a:spcBef>
              <a:spcAft>
                <a:spcPts val="0"/>
              </a:spcAft>
              <a:buSzPts val="1400"/>
              <a:buChar char="◈"/>
            </a:pPr>
            <a:r>
              <a:rPr lang="en-US"/>
              <a:t>Two conditions are necessary for structural icing in flight:</a:t>
            </a:r>
            <a:endParaRPr/>
          </a:p>
          <a:p>
            <a:pPr indent="-457200" lvl="1" marL="871200" rtl="0" algn="l">
              <a:spcBef>
                <a:spcPts val="960"/>
              </a:spcBef>
              <a:spcAft>
                <a:spcPts val="0"/>
              </a:spcAft>
              <a:buSzPts val="1260"/>
              <a:buFont typeface="Lustria"/>
              <a:buAutoNum type="arabicPeriod"/>
            </a:pPr>
            <a:r>
              <a:rPr lang="en-US"/>
              <a:t>The aircraft must be flying through visible water such as rain or cloud droplets and</a:t>
            </a:r>
            <a:endParaRPr/>
          </a:p>
          <a:p>
            <a:pPr indent="-457200" lvl="1" marL="871200" rtl="0" algn="l">
              <a:spcBef>
                <a:spcPts val="960"/>
              </a:spcBef>
              <a:spcAft>
                <a:spcPts val="0"/>
              </a:spcAft>
              <a:buSzPts val="1260"/>
              <a:buFont typeface="Lustria"/>
              <a:buAutoNum type="arabicPeriod"/>
            </a:pPr>
            <a:r>
              <a:rPr lang="en-US"/>
              <a:t>The temperature at the point where the moisture strikes the aircraft must be (0 degrees Celsius/32 degrees Fahrenheit) or colder. </a:t>
            </a:r>
            <a:endParaRPr/>
          </a:p>
          <a:p>
            <a:pPr indent="0" lvl="0" marL="36900" rtl="0" algn="l">
              <a:spcBef>
                <a:spcPts val="1000"/>
              </a:spcBef>
              <a:spcAft>
                <a:spcPts val="0"/>
              </a:spcAft>
              <a:buSzPts val="14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6"/>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Icing</a:t>
            </a:r>
            <a:endParaRPr/>
          </a:p>
        </p:txBody>
      </p:sp>
      <p:sp>
        <p:nvSpPr>
          <p:cNvPr id="311" name="Google Shape;311;p46"/>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“On cool, clear, calm nights, the temperature of the ground and objects on the surface can cause temperatures of the surrounding air to drop below the dew point. When this occurs the moisture in the air condenses and deposits itself on the ground. This moisture is known as dew and sometimes can be seen on grass and other objects in the morning. If the temperature is below freezing, the moisture is deposited in the form of frost”.</a:t>
            </a:r>
            <a:endParaRPr/>
          </a:p>
          <a:p>
            <a:pPr indent="-306000" lvl="0" marL="342900" rtl="0" algn="l">
              <a:spcBef>
                <a:spcPts val="1000"/>
              </a:spcBef>
              <a:spcAft>
                <a:spcPts val="0"/>
              </a:spcAft>
              <a:buSzPts val="1400"/>
              <a:buChar char="◈"/>
            </a:pPr>
            <a:r>
              <a:rPr b="1" lang="en-US"/>
              <a:t>Dew point </a:t>
            </a:r>
            <a:r>
              <a:rPr lang="en-US"/>
              <a:t>- the atmospheric temperature (varying according to pressure and humidity) below which water droplets begin to condense and dew can form.</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7"/>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Fog</a:t>
            </a:r>
            <a:endParaRPr/>
          </a:p>
        </p:txBody>
      </p:sp>
      <p:sp>
        <p:nvSpPr>
          <p:cNvPr id="317" name="Google Shape;317;p47"/>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When the air temperature and dew point temperature are the same or close, fog is likely to form.</a:t>
            </a:r>
            <a:endParaRPr/>
          </a:p>
          <a:p>
            <a:pPr indent="-306000" lvl="0" marL="342900" rtl="0" algn="l">
              <a:spcBef>
                <a:spcPts val="1000"/>
              </a:spcBef>
              <a:spcAft>
                <a:spcPts val="0"/>
              </a:spcAft>
              <a:buSzPts val="1400"/>
              <a:buChar char="◈"/>
            </a:pPr>
            <a:r>
              <a:rPr lang="en-US"/>
              <a:t>Three types of fog based on how it forms:</a:t>
            </a:r>
            <a:endParaRPr/>
          </a:p>
          <a:p>
            <a:pPr indent="-270000" lvl="1" marL="720000" rtl="0" algn="l">
              <a:spcBef>
                <a:spcPts val="960"/>
              </a:spcBef>
              <a:spcAft>
                <a:spcPts val="0"/>
              </a:spcAft>
              <a:buSzPts val="1260"/>
              <a:buChar char="🞚"/>
            </a:pPr>
            <a:r>
              <a:rPr b="1" lang="en-US"/>
              <a:t>Radiation fog (ground fog) </a:t>
            </a:r>
            <a:r>
              <a:rPr lang="en-US"/>
              <a:t>- formed when terrestrial radiation cools the ground, which in turn cools the air in contact with it. When the air is cooled to its dew point (or within a few degrees), fog will form. This fog will form most readily in warm, moist air over low, flatland areas on clear, calm(no wind) nights.</a:t>
            </a:r>
            <a:endParaRPr/>
          </a:p>
          <a:p>
            <a:pPr indent="-270000" lvl="1" marL="720000" rtl="0" algn="l">
              <a:spcBef>
                <a:spcPts val="960"/>
              </a:spcBef>
              <a:spcAft>
                <a:spcPts val="0"/>
              </a:spcAft>
              <a:buSzPts val="1260"/>
              <a:buChar char="🞚"/>
            </a:pPr>
            <a:r>
              <a:rPr b="1" lang="en-US"/>
              <a:t>Advection fog (sea fog) </a:t>
            </a:r>
            <a:r>
              <a:rPr lang="en-US"/>
              <a:t>-</a:t>
            </a:r>
            <a:r>
              <a:rPr b="1" lang="en-US"/>
              <a:t> </a:t>
            </a:r>
            <a:r>
              <a:rPr lang="en-US"/>
              <a:t>formed when warm, moist air moves (wind is required) over colder ground or water (e.g. an air mass moving inland from the coast in the winter).</a:t>
            </a:r>
            <a:endParaRPr/>
          </a:p>
          <a:p>
            <a:pPr indent="-270000" lvl="1" marL="720000" rtl="0" algn="l">
              <a:spcBef>
                <a:spcPts val="960"/>
              </a:spcBef>
              <a:spcAft>
                <a:spcPts val="0"/>
              </a:spcAft>
              <a:buSzPts val="1260"/>
              <a:buChar char="🞚"/>
            </a:pPr>
            <a:r>
              <a:rPr b="1" lang="en-US"/>
              <a:t>Upslope fog </a:t>
            </a:r>
            <a:r>
              <a:rPr lang="en-US"/>
              <a:t>- formed when moist, stable air is cooled to its dew point as it moves up along sloping terrain (wind is required). Cooling will be at the dry adiabatic lapse rate of approximately 3 degree Celsius per 1,000 feet.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8"/>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Fog</a:t>
            </a:r>
            <a:endParaRPr/>
          </a:p>
        </p:txBody>
      </p:sp>
      <p:pic>
        <p:nvPicPr>
          <p:cNvPr id="323" name="Google Shape;323;p48"/>
          <p:cNvPicPr preferRelativeResize="0"/>
          <p:nvPr/>
        </p:nvPicPr>
        <p:blipFill rotWithShape="1">
          <a:blip r:embed="rId3">
            <a:alphaModFix/>
          </a:blip>
          <a:srcRect b="0" l="0" r="0" t="0"/>
          <a:stretch/>
        </p:blipFill>
        <p:spPr>
          <a:xfrm>
            <a:off x="164482" y="2314831"/>
            <a:ext cx="4902132" cy="2828153"/>
          </a:xfrm>
          <a:prstGeom prst="rect">
            <a:avLst/>
          </a:prstGeom>
          <a:noFill/>
          <a:ln>
            <a:noFill/>
          </a:ln>
        </p:spPr>
      </p:pic>
      <p:pic>
        <p:nvPicPr>
          <p:cNvPr id="324" name="Google Shape;324;p48"/>
          <p:cNvPicPr preferRelativeResize="0"/>
          <p:nvPr/>
        </p:nvPicPr>
        <p:blipFill rotWithShape="1">
          <a:blip r:embed="rId4">
            <a:alphaModFix/>
          </a:blip>
          <a:srcRect b="0" l="0" r="0" t="0"/>
          <a:stretch/>
        </p:blipFill>
        <p:spPr>
          <a:xfrm>
            <a:off x="4158452" y="2314831"/>
            <a:ext cx="4228136" cy="2828153"/>
          </a:xfrm>
          <a:prstGeom prst="rect">
            <a:avLst/>
          </a:prstGeom>
          <a:noFill/>
          <a:ln>
            <a:noFill/>
          </a:ln>
        </p:spPr>
      </p:pic>
      <p:pic>
        <p:nvPicPr>
          <p:cNvPr id="325" name="Google Shape;325;p48"/>
          <p:cNvPicPr preferRelativeResize="0"/>
          <p:nvPr/>
        </p:nvPicPr>
        <p:blipFill rotWithShape="1">
          <a:blip r:embed="rId5">
            <a:alphaModFix/>
          </a:blip>
          <a:srcRect b="0" l="0" r="0" t="0"/>
          <a:stretch/>
        </p:blipFill>
        <p:spPr>
          <a:xfrm>
            <a:off x="8386588" y="2314831"/>
            <a:ext cx="3805412" cy="2828154"/>
          </a:xfrm>
          <a:prstGeom prst="rect">
            <a:avLst/>
          </a:prstGeom>
          <a:noFill/>
          <a:ln>
            <a:noFill/>
          </a:ln>
        </p:spPr>
      </p:pic>
      <p:sp>
        <p:nvSpPr>
          <p:cNvPr id="326" name="Google Shape;326;p48"/>
          <p:cNvSpPr txBox="1"/>
          <p:nvPr/>
        </p:nvSpPr>
        <p:spPr>
          <a:xfrm>
            <a:off x="840260" y="5286545"/>
            <a:ext cx="288918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lt1"/>
                </a:solidFill>
                <a:latin typeface="Lustria"/>
                <a:ea typeface="Lustria"/>
                <a:cs typeface="Lustria"/>
                <a:sym typeface="Lustria"/>
              </a:rPr>
              <a:t>Radiation fog (ground fog)</a:t>
            </a:r>
            <a:endParaRPr sz="1800">
              <a:solidFill>
                <a:schemeClr val="lt1"/>
              </a:solidFill>
              <a:latin typeface="Lustria"/>
              <a:ea typeface="Lustria"/>
              <a:cs typeface="Lustria"/>
              <a:sym typeface="Lustria"/>
            </a:endParaRPr>
          </a:p>
        </p:txBody>
      </p:sp>
      <p:sp>
        <p:nvSpPr>
          <p:cNvPr id="327" name="Google Shape;327;p48"/>
          <p:cNvSpPr txBox="1"/>
          <p:nvPr/>
        </p:nvSpPr>
        <p:spPr>
          <a:xfrm>
            <a:off x="4901514" y="5323014"/>
            <a:ext cx="251665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Lustria"/>
                <a:ea typeface="Lustria"/>
                <a:cs typeface="Lustria"/>
                <a:sym typeface="Lustria"/>
              </a:rPr>
              <a:t>Advection fog (sea fog)</a:t>
            </a:r>
            <a:endParaRPr sz="1800">
              <a:solidFill>
                <a:schemeClr val="lt1"/>
              </a:solidFill>
              <a:latin typeface="Lustria"/>
              <a:ea typeface="Lustria"/>
              <a:cs typeface="Lustria"/>
              <a:sym typeface="Lustria"/>
            </a:endParaRPr>
          </a:p>
        </p:txBody>
      </p:sp>
      <p:sp>
        <p:nvSpPr>
          <p:cNvPr id="328" name="Google Shape;328;p48"/>
          <p:cNvSpPr txBox="1"/>
          <p:nvPr/>
        </p:nvSpPr>
        <p:spPr>
          <a:xfrm>
            <a:off x="9590224" y="5323014"/>
            <a:ext cx="1398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Lustria"/>
                <a:ea typeface="Lustria"/>
                <a:cs typeface="Lustria"/>
                <a:sym typeface="Lustria"/>
              </a:rPr>
              <a:t>Upslope fog</a:t>
            </a:r>
            <a:endParaRPr sz="1800">
              <a:solidFill>
                <a:schemeClr val="lt1"/>
              </a:solidFill>
              <a:latin typeface="Lustria"/>
              <a:ea typeface="Lustria"/>
              <a:cs typeface="Lustria"/>
              <a:sym typeface="Lustri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9"/>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Fog</a:t>
            </a:r>
            <a:endParaRPr/>
          </a:p>
        </p:txBody>
      </p:sp>
      <p:sp>
        <p:nvSpPr>
          <p:cNvPr id="334" name="Google Shape;334;p49"/>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b="1" lang="en-US"/>
              <a:t>Precipitation induced fog </a:t>
            </a:r>
            <a:r>
              <a:rPr lang="en-US"/>
              <a:t>typically is caused by warm rain falling through cooler air. </a:t>
            </a:r>
            <a:endParaRPr/>
          </a:p>
          <a:p>
            <a:pPr indent="-306000" lvl="0" marL="342900" rtl="0" algn="l">
              <a:spcBef>
                <a:spcPts val="1000"/>
              </a:spcBef>
              <a:spcAft>
                <a:spcPts val="0"/>
              </a:spcAft>
              <a:buSzPts val="1400"/>
              <a:buChar char="◈"/>
            </a:pPr>
            <a:r>
              <a:rPr b="1" lang="en-US"/>
              <a:t>Steam fog </a:t>
            </a:r>
            <a:r>
              <a:rPr lang="en-US"/>
              <a:t>forms in the winter when cold dry air passes over warm water. </a:t>
            </a:r>
            <a:endParaRPr/>
          </a:p>
        </p:txBody>
      </p:sp>
      <p:pic>
        <p:nvPicPr>
          <p:cNvPr id="335" name="Google Shape;335;p49"/>
          <p:cNvPicPr preferRelativeResize="0"/>
          <p:nvPr/>
        </p:nvPicPr>
        <p:blipFill rotWithShape="1">
          <a:blip r:embed="rId3">
            <a:alphaModFix/>
          </a:blip>
          <a:srcRect b="0" l="0" r="0" t="0"/>
          <a:stretch/>
        </p:blipFill>
        <p:spPr>
          <a:xfrm>
            <a:off x="1258329" y="3038861"/>
            <a:ext cx="3810000" cy="2543175"/>
          </a:xfrm>
          <a:prstGeom prst="rect">
            <a:avLst/>
          </a:prstGeom>
          <a:noFill/>
          <a:ln>
            <a:noFill/>
          </a:ln>
        </p:spPr>
      </p:pic>
      <p:pic>
        <p:nvPicPr>
          <p:cNvPr id="336" name="Google Shape;336;p49"/>
          <p:cNvPicPr preferRelativeResize="0"/>
          <p:nvPr/>
        </p:nvPicPr>
        <p:blipFill rotWithShape="1">
          <a:blip r:embed="rId4">
            <a:alphaModFix/>
          </a:blip>
          <a:srcRect b="0" l="0" r="0" t="0"/>
          <a:stretch/>
        </p:blipFill>
        <p:spPr>
          <a:xfrm>
            <a:off x="6258925" y="3038860"/>
            <a:ext cx="3733572" cy="2543175"/>
          </a:xfrm>
          <a:prstGeom prst="rect">
            <a:avLst/>
          </a:prstGeom>
          <a:noFill/>
          <a:ln>
            <a:noFill/>
          </a:ln>
        </p:spPr>
      </p:pic>
      <p:sp>
        <p:nvSpPr>
          <p:cNvPr id="337" name="Google Shape;337;p49"/>
          <p:cNvSpPr txBox="1"/>
          <p:nvPr/>
        </p:nvSpPr>
        <p:spPr>
          <a:xfrm>
            <a:off x="2549379" y="5799438"/>
            <a:ext cx="12279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Lustria"/>
                <a:ea typeface="Lustria"/>
                <a:cs typeface="Lustria"/>
                <a:sym typeface="Lustria"/>
              </a:rPr>
              <a:t>Steam Fog</a:t>
            </a:r>
            <a:endParaRPr/>
          </a:p>
        </p:txBody>
      </p:sp>
      <p:sp>
        <p:nvSpPr>
          <p:cNvPr id="338" name="Google Shape;338;p49"/>
          <p:cNvSpPr txBox="1"/>
          <p:nvPr/>
        </p:nvSpPr>
        <p:spPr>
          <a:xfrm>
            <a:off x="7195328" y="5791200"/>
            <a:ext cx="18607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Lustria"/>
                <a:ea typeface="Lustria"/>
                <a:cs typeface="Lustria"/>
                <a:sym typeface="Lustria"/>
              </a:rPr>
              <a:t>Precipitation Fog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0"/>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Density Altitude</a:t>
            </a:r>
            <a:endParaRPr/>
          </a:p>
        </p:txBody>
      </p:sp>
      <p:sp>
        <p:nvSpPr>
          <p:cNvPr id="344" name="Google Shape;344;p50"/>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Density altitude is the height when measured in terms of the density of the air rather than the distance from the ground.</a:t>
            </a:r>
            <a:endParaRPr/>
          </a:p>
          <a:p>
            <a:pPr indent="-306000" lvl="0" marL="342900" rtl="0" algn="l">
              <a:spcBef>
                <a:spcPts val="1000"/>
              </a:spcBef>
              <a:spcAft>
                <a:spcPts val="0"/>
              </a:spcAft>
              <a:buSzPts val="1400"/>
              <a:buChar char="◈"/>
            </a:pPr>
            <a:r>
              <a:rPr lang="en-US"/>
              <a:t>Standard sea level pressure is 29.92 inches of mercury.</a:t>
            </a:r>
            <a:endParaRPr/>
          </a:p>
          <a:p>
            <a:pPr indent="-306000" lvl="0" marL="342900" rtl="0" algn="l">
              <a:spcBef>
                <a:spcPts val="1000"/>
              </a:spcBef>
              <a:spcAft>
                <a:spcPts val="0"/>
              </a:spcAft>
              <a:buSzPts val="1400"/>
              <a:buChar char="◈"/>
            </a:pPr>
            <a:r>
              <a:rPr lang="en-US"/>
              <a:t>Standard sea level temperature is 15 degree Celsius (59 F).</a:t>
            </a:r>
            <a:endParaRPr/>
          </a:p>
          <a:p>
            <a:pPr indent="-306000" lvl="0" marL="342900" rtl="0" algn="l">
              <a:spcBef>
                <a:spcPts val="1000"/>
              </a:spcBef>
              <a:spcAft>
                <a:spcPts val="0"/>
              </a:spcAft>
              <a:buSzPts val="1400"/>
              <a:buChar char="◈"/>
            </a:pPr>
            <a:r>
              <a:rPr lang="en-US"/>
              <a:t>The following will decrease aircraft performance:</a:t>
            </a:r>
            <a:endParaRPr/>
          </a:p>
          <a:p>
            <a:pPr indent="-270000" lvl="1" marL="720000" rtl="0" algn="l">
              <a:spcBef>
                <a:spcPts val="960"/>
              </a:spcBef>
              <a:spcAft>
                <a:spcPts val="0"/>
              </a:spcAft>
              <a:buSzPts val="1260"/>
              <a:buChar char="🞚"/>
            </a:pPr>
            <a:r>
              <a:rPr lang="en-US"/>
              <a:t>Increase in altitude. (in flight or when operating from higher elevations)</a:t>
            </a:r>
            <a:endParaRPr/>
          </a:p>
          <a:p>
            <a:pPr indent="-270000" lvl="1" marL="720000" rtl="0" algn="l">
              <a:spcBef>
                <a:spcPts val="960"/>
              </a:spcBef>
              <a:spcAft>
                <a:spcPts val="0"/>
              </a:spcAft>
              <a:buSzPts val="1260"/>
              <a:buChar char="🞚"/>
            </a:pPr>
            <a:r>
              <a:rPr lang="en-US"/>
              <a:t>Decrease in  atmospheric pressure.</a:t>
            </a:r>
            <a:endParaRPr/>
          </a:p>
          <a:p>
            <a:pPr indent="-270000" lvl="1" marL="720000" rtl="0" algn="l">
              <a:spcBef>
                <a:spcPts val="960"/>
              </a:spcBef>
              <a:spcAft>
                <a:spcPts val="0"/>
              </a:spcAft>
              <a:buSzPts val="1260"/>
              <a:buChar char="🞚"/>
            </a:pPr>
            <a:r>
              <a:rPr lang="en-US"/>
              <a:t>Increase in temperature.</a:t>
            </a:r>
            <a:endParaRPr/>
          </a:p>
          <a:p>
            <a:pPr indent="-270000" lvl="1" marL="720000" rtl="0" algn="l">
              <a:spcBef>
                <a:spcPts val="960"/>
              </a:spcBef>
              <a:spcAft>
                <a:spcPts val="0"/>
              </a:spcAft>
              <a:buSzPts val="1260"/>
              <a:buChar char="🞚"/>
            </a:pPr>
            <a:r>
              <a:rPr lang="en-US"/>
              <a:t>Increase in humidity. (has a minimal effect on sUAS)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1"/>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Density Altitude</a:t>
            </a:r>
            <a:endParaRPr/>
          </a:p>
        </p:txBody>
      </p:sp>
      <p:sp>
        <p:nvSpPr>
          <p:cNvPr id="350" name="Google Shape;350;p51"/>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The effect of high density altitude on an aircraft:</a:t>
            </a:r>
            <a:endParaRPr/>
          </a:p>
          <a:p>
            <a:pPr indent="-270000" lvl="1" marL="720000" rtl="0" algn="l">
              <a:spcBef>
                <a:spcPts val="960"/>
              </a:spcBef>
              <a:spcAft>
                <a:spcPts val="0"/>
              </a:spcAft>
              <a:buSzPts val="1260"/>
              <a:buChar char="🞚"/>
            </a:pPr>
            <a:r>
              <a:rPr lang="en-US"/>
              <a:t>Less air for the wings (or rotor blades) to produce lift.</a:t>
            </a:r>
            <a:endParaRPr/>
          </a:p>
          <a:p>
            <a:pPr indent="-270000" lvl="1" marL="720000" rtl="0" algn="l">
              <a:spcBef>
                <a:spcPts val="960"/>
              </a:spcBef>
              <a:spcAft>
                <a:spcPts val="0"/>
              </a:spcAft>
              <a:buSzPts val="1260"/>
              <a:buChar char="🞚"/>
            </a:pPr>
            <a:r>
              <a:rPr lang="en-US"/>
              <a:t>Less air to produce thrust from propeller.</a:t>
            </a:r>
            <a:endParaRPr/>
          </a:p>
          <a:p>
            <a:pPr indent="-270000" lvl="1" marL="720000" rtl="0" algn="l">
              <a:spcBef>
                <a:spcPts val="960"/>
              </a:spcBef>
              <a:spcAft>
                <a:spcPts val="0"/>
              </a:spcAft>
              <a:buSzPts val="1260"/>
              <a:buChar char="🞚"/>
            </a:pPr>
            <a:r>
              <a:rPr lang="en-US"/>
              <a:t>Less air from a fuel burning engine to operate.</a:t>
            </a:r>
            <a:endParaRPr/>
          </a:p>
          <a:p>
            <a:pPr indent="-306000" lvl="0" marL="342900" rtl="0" algn="l">
              <a:spcBef>
                <a:spcPts val="1000"/>
              </a:spcBef>
              <a:spcAft>
                <a:spcPts val="0"/>
              </a:spcAft>
              <a:buSzPts val="1400"/>
              <a:buChar char="◈"/>
            </a:pPr>
            <a:r>
              <a:rPr lang="en-US"/>
              <a:t>All of these factors reduce the performance of aircraft and result in:</a:t>
            </a:r>
            <a:endParaRPr/>
          </a:p>
          <a:p>
            <a:pPr indent="-270000" lvl="1" marL="720000" rtl="0" algn="l">
              <a:spcBef>
                <a:spcPts val="960"/>
              </a:spcBef>
              <a:spcAft>
                <a:spcPts val="0"/>
              </a:spcAft>
              <a:buSzPts val="1260"/>
              <a:buChar char="🞚"/>
            </a:pPr>
            <a:r>
              <a:rPr lang="en-US"/>
              <a:t>Longer take-off distance</a:t>
            </a:r>
            <a:endParaRPr/>
          </a:p>
          <a:p>
            <a:pPr indent="-270000" lvl="1" marL="720000" rtl="0" algn="l">
              <a:spcBef>
                <a:spcPts val="960"/>
              </a:spcBef>
              <a:spcAft>
                <a:spcPts val="0"/>
              </a:spcAft>
              <a:buSzPts val="1260"/>
              <a:buChar char="🞚"/>
            </a:pPr>
            <a:r>
              <a:rPr lang="en-US"/>
              <a:t>Longer landing distance</a:t>
            </a:r>
            <a:endParaRPr/>
          </a:p>
          <a:p>
            <a:pPr indent="-270000" lvl="1" marL="720000" rtl="0" algn="l">
              <a:spcBef>
                <a:spcPts val="960"/>
              </a:spcBef>
              <a:spcAft>
                <a:spcPts val="0"/>
              </a:spcAft>
              <a:buSzPts val="1260"/>
              <a:buChar char="🞚"/>
            </a:pPr>
            <a:r>
              <a:rPr lang="en-US"/>
              <a:t>Slower climb rates</a:t>
            </a:r>
            <a:endParaRPr/>
          </a:p>
          <a:p>
            <a:pPr indent="0" lvl="0" marL="36900" rtl="0" algn="l">
              <a:spcBef>
                <a:spcPts val="1000"/>
              </a:spcBef>
              <a:spcAft>
                <a:spcPts val="0"/>
              </a:spcAft>
              <a:buSzPts val="14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2"/>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Weather Briefing</a:t>
            </a:r>
            <a:endParaRPr/>
          </a:p>
        </p:txBody>
      </p:sp>
      <p:sp>
        <p:nvSpPr>
          <p:cNvPr id="356" name="Google Shape;356;p52"/>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sUAS operators are encouraged to get a weather briefing before flight operations.</a:t>
            </a:r>
            <a:endParaRPr/>
          </a:p>
          <a:p>
            <a:pPr indent="-306000" lvl="0" marL="342900" rtl="0" algn="l">
              <a:spcBef>
                <a:spcPts val="1000"/>
              </a:spcBef>
              <a:spcAft>
                <a:spcPts val="0"/>
              </a:spcAft>
              <a:buSzPts val="1400"/>
              <a:buChar char="◈"/>
            </a:pPr>
            <a:r>
              <a:rPr lang="en-US"/>
              <a:t>Briefing can be obtained from:</a:t>
            </a:r>
            <a:endParaRPr/>
          </a:p>
          <a:p>
            <a:pPr indent="-270000" lvl="1" marL="720000" rtl="0" algn="l">
              <a:spcBef>
                <a:spcPts val="960"/>
              </a:spcBef>
              <a:spcAft>
                <a:spcPts val="0"/>
              </a:spcAft>
              <a:buSzPts val="1260"/>
              <a:buChar char="🞚"/>
            </a:pPr>
            <a:r>
              <a:rPr lang="en-US" u="sng">
                <a:solidFill>
                  <a:schemeClr val="hlink"/>
                </a:solidFill>
                <a:hlinkClick r:id="rId3"/>
              </a:rPr>
              <a:t>www.aviationweather.gov</a:t>
            </a:r>
            <a:endParaRPr/>
          </a:p>
          <a:p>
            <a:pPr indent="-270000" lvl="1" marL="720000" rtl="0" algn="l">
              <a:spcBef>
                <a:spcPts val="960"/>
              </a:spcBef>
              <a:spcAft>
                <a:spcPts val="0"/>
              </a:spcAft>
              <a:buSzPts val="1260"/>
              <a:buChar char="🞚"/>
            </a:pPr>
            <a:r>
              <a:rPr lang="en-US"/>
              <a:t>1-800-wxbrief</a:t>
            </a:r>
            <a:endParaRPr/>
          </a:p>
          <a:p>
            <a:pPr indent="-270000" lvl="1" marL="720000" rtl="0" algn="l">
              <a:spcBef>
                <a:spcPts val="960"/>
              </a:spcBef>
              <a:spcAft>
                <a:spcPts val="0"/>
              </a:spcAft>
              <a:buSzPts val="1260"/>
              <a:buChar char="🞚"/>
            </a:pPr>
            <a:r>
              <a:rPr lang="en-US" u="sng">
                <a:solidFill>
                  <a:schemeClr val="hlink"/>
                </a:solidFill>
                <a:hlinkClick r:id="rId4"/>
              </a:rPr>
              <a:t>www.1800wxbrief.com</a:t>
            </a:r>
            <a:endParaRPr/>
          </a:p>
          <a:p>
            <a:pPr indent="-270000" lvl="1" marL="720000" rtl="0" algn="l">
              <a:spcBef>
                <a:spcPts val="960"/>
              </a:spcBef>
              <a:spcAft>
                <a:spcPts val="0"/>
              </a:spcAft>
              <a:buSzPts val="1260"/>
              <a:buChar char="🞚"/>
            </a:pPr>
            <a:r>
              <a:rPr lang="en-US" u="sng">
                <a:solidFill>
                  <a:schemeClr val="hlink"/>
                </a:solidFill>
                <a:hlinkClick r:id="rId5"/>
              </a:rPr>
              <a:t>http://tfr.faa.gov</a:t>
            </a:r>
            <a:r>
              <a:rPr lang="en-US"/>
              <a:t> (to obtain Temporary Flight Restrictions)</a:t>
            </a:r>
            <a:endParaRPr/>
          </a:p>
          <a:p>
            <a:pPr indent="-189990" lvl="1" marL="720000" rtl="0" algn="l">
              <a:spcBef>
                <a:spcPts val="960"/>
              </a:spcBef>
              <a:spcAft>
                <a:spcPts val="0"/>
              </a:spcAft>
              <a:buSzPts val="1260"/>
              <a:buNone/>
            </a:pPr>
            <a:r>
              <a:t/>
            </a:r>
            <a:endParaRPr/>
          </a:p>
          <a:p>
            <a:pPr indent="-189990" lvl="1" marL="720000" rtl="0" algn="l">
              <a:spcBef>
                <a:spcPts val="960"/>
              </a:spcBef>
              <a:spcAft>
                <a:spcPts val="0"/>
              </a:spcAft>
              <a:buSzPts val="1260"/>
              <a:buNone/>
            </a:pPr>
            <a:r>
              <a:t/>
            </a:r>
            <a:endParaRPr/>
          </a:p>
          <a:p>
            <a:pPr indent="-270000" lvl="1" marL="720000" rtl="0" algn="l">
              <a:spcBef>
                <a:spcPts val="960"/>
              </a:spcBef>
              <a:spcAft>
                <a:spcPts val="0"/>
              </a:spcAft>
              <a:buSzPts val="1260"/>
              <a:buChar char="🞚"/>
            </a:pPr>
            <a:r>
              <a:rPr lang="en-US"/>
              <a:t>To get a complete weather overview for a planned flight a pilot should obtain a standard briefing if no previous briefing has been obtained.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3"/>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Weather reports, forecasts, and charts</a:t>
            </a:r>
            <a:endParaRPr/>
          </a:p>
        </p:txBody>
      </p:sp>
      <p:sp>
        <p:nvSpPr>
          <p:cNvPr id="362" name="Google Shape;362;p53"/>
          <p:cNvSpPr txBox="1"/>
          <p:nvPr>
            <p:ph idx="1" type="body"/>
          </p:nvPr>
        </p:nvSpPr>
        <p:spPr>
          <a:xfrm>
            <a:off x="913795" y="1732449"/>
            <a:ext cx="10353762" cy="1595637"/>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Automated Surface Observing System (ASOS)</a:t>
            </a:r>
            <a:endParaRPr/>
          </a:p>
          <a:p>
            <a:pPr indent="-306000" lvl="0" marL="342900" rtl="0" algn="l">
              <a:spcBef>
                <a:spcPts val="1000"/>
              </a:spcBef>
              <a:spcAft>
                <a:spcPts val="0"/>
              </a:spcAft>
              <a:buSzPts val="1400"/>
              <a:buChar char="◈"/>
            </a:pPr>
            <a:r>
              <a:rPr lang="en-US"/>
              <a:t>Automated Weather Observing System (AWOS)</a:t>
            </a:r>
            <a:endParaRPr/>
          </a:p>
          <a:p>
            <a:pPr indent="-306000" lvl="0" marL="342900" rtl="0" algn="l">
              <a:spcBef>
                <a:spcPts val="1000"/>
              </a:spcBef>
              <a:spcAft>
                <a:spcPts val="0"/>
              </a:spcAft>
              <a:buSzPts val="1400"/>
              <a:buChar char="◈"/>
            </a:pPr>
            <a:r>
              <a:rPr lang="en-US"/>
              <a:t>METAR(Meteorological Terminal Air Report)-international weather reporting code forecast. </a:t>
            </a:r>
            <a:endParaRPr/>
          </a:p>
        </p:txBody>
      </p:sp>
      <p:pic>
        <p:nvPicPr>
          <p:cNvPr id="363" name="Google Shape;363;p53"/>
          <p:cNvPicPr preferRelativeResize="0"/>
          <p:nvPr/>
        </p:nvPicPr>
        <p:blipFill rotWithShape="1">
          <a:blip r:embed="rId3">
            <a:alphaModFix/>
          </a:blip>
          <a:srcRect b="0" l="0" r="0" t="0"/>
          <a:stretch/>
        </p:blipFill>
        <p:spPr>
          <a:xfrm>
            <a:off x="4230955" y="3190830"/>
            <a:ext cx="3719442" cy="2792061"/>
          </a:xfrm>
          <a:prstGeom prst="rect">
            <a:avLst/>
          </a:prstGeom>
          <a:noFill/>
          <a:ln>
            <a:noFill/>
          </a:ln>
        </p:spPr>
      </p:pic>
      <p:sp>
        <p:nvSpPr>
          <p:cNvPr id="364" name="Google Shape;364;p53"/>
          <p:cNvSpPr txBox="1"/>
          <p:nvPr/>
        </p:nvSpPr>
        <p:spPr>
          <a:xfrm>
            <a:off x="4230955" y="6203089"/>
            <a:ext cx="371944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lt1"/>
                </a:solidFill>
                <a:latin typeface="Lustria"/>
                <a:ea typeface="Lustria"/>
                <a:cs typeface="Lustria"/>
                <a:sym typeface="Lustria"/>
              </a:rPr>
              <a:t>Weather observation station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4"/>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Aviation weather reports</a:t>
            </a:r>
            <a:endParaRPr/>
          </a:p>
        </p:txBody>
      </p:sp>
      <p:pic>
        <p:nvPicPr>
          <p:cNvPr id="370" name="Google Shape;370;p54"/>
          <p:cNvPicPr preferRelativeResize="0"/>
          <p:nvPr/>
        </p:nvPicPr>
        <p:blipFill rotWithShape="1">
          <a:blip r:embed="rId3">
            <a:alphaModFix/>
          </a:blip>
          <a:srcRect b="0" l="0" r="0" t="0"/>
          <a:stretch/>
        </p:blipFill>
        <p:spPr>
          <a:xfrm>
            <a:off x="1724107" y="1760965"/>
            <a:ext cx="8733138" cy="491675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5"/>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Aviation weather reports</a:t>
            </a:r>
            <a:endParaRPr/>
          </a:p>
        </p:txBody>
      </p:sp>
      <p:pic>
        <p:nvPicPr>
          <p:cNvPr id="376" name="Google Shape;376;p55"/>
          <p:cNvPicPr preferRelativeResize="0"/>
          <p:nvPr/>
        </p:nvPicPr>
        <p:blipFill rotWithShape="1">
          <a:blip r:embed="rId3">
            <a:alphaModFix/>
          </a:blip>
          <a:srcRect b="0" l="0" r="0" t="0"/>
          <a:stretch/>
        </p:blipFill>
        <p:spPr>
          <a:xfrm>
            <a:off x="2637863" y="1684895"/>
            <a:ext cx="6905625" cy="50863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6"/>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a:t>Aviation Forecasts-TAFS</a:t>
            </a:r>
            <a:endParaRPr/>
          </a:p>
        </p:txBody>
      </p:sp>
      <p:pic>
        <p:nvPicPr>
          <p:cNvPr id="382" name="Google Shape;382;p56"/>
          <p:cNvPicPr preferRelativeResize="0"/>
          <p:nvPr/>
        </p:nvPicPr>
        <p:blipFill rotWithShape="1">
          <a:blip r:embed="rId3">
            <a:alphaModFix/>
          </a:blip>
          <a:srcRect b="0" l="0" r="0" t="0"/>
          <a:stretch/>
        </p:blipFill>
        <p:spPr>
          <a:xfrm>
            <a:off x="2853206" y="1754658"/>
            <a:ext cx="6474940" cy="485620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7"/>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Weather</a:t>
            </a:r>
            <a:br>
              <a:rPr lang="en-US"/>
            </a:br>
            <a:r>
              <a:rPr lang="en-US" sz="3600"/>
              <a:t>Aviation Forecasts-Convective Significant Meteorological Information (WST)</a:t>
            </a:r>
            <a:endParaRPr/>
          </a:p>
        </p:txBody>
      </p:sp>
      <p:sp>
        <p:nvSpPr>
          <p:cNvPr id="388" name="Google Shape;388;p57"/>
          <p:cNvSpPr txBox="1"/>
          <p:nvPr>
            <p:ph idx="1" type="body"/>
          </p:nvPr>
        </p:nvSpPr>
        <p:spPr>
          <a:xfrm>
            <a:off x="913795" y="1886465"/>
            <a:ext cx="10353762" cy="3904735"/>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Convective SIGMETs are issued for severe thunderstorms with surface winds greater than 50 knots, hail at the surface greater than or equal to ¾” in diameter, or tornadoes.</a:t>
            </a:r>
            <a:endParaRPr/>
          </a:p>
          <a:p>
            <a:pPr indent="-306000" lvl="0" marL="342900" rtl="0" algn="l">
              <a:spcBef>
                <a:spcPts val="1000"/>
              </a:spcBef>
              <a:spcAft>
                <a:spcPts val="0"/>
              </a:spcAft>
              <a:buSzPts val="1400"/>
              <a:buChar char="◈"/>
            </a:pPr>
            <a:r>
              <a:rPr lang="en-US"/>
              <a:t>Also issued to advise pilots of embedded thunderstorms, lines of thunderstorms, or thunderstorms with heavy or greater precipitation that effect 40 percent or more of a 3,000 square mile or greater region.</a:t>
            </a:r>
            <a:endParaRPr/>
          </a:p>
          <a:p>
            <a:pPr indent="-306000" lvl="0" marL="342900" rtl="0" algn="l">
              <a:spcBef>
                <a:spcPts val="1000"/>
              </a:spcBef>
              <a:spcAft>
                <a:spcPts val="0"/>
              </a:spcAft>
              <a:buSzPts val="1400"/>
              <a:buChar char="◈"/>
            </a:pPr>
            <a:r>
              <a:rPr lang="en-US"/>
              <a:t>Convective SIGMETs signify severe weather and it is not advised to operate sUAS in an area under a convective SIGMET. </a:t>
            </a:r>
            <a:endParaRPr/>
          </a:p>
        </p:txBody>
      </p:sp>
      <p:pic>
        <p:nvPicPr>
          <p:cNvPr id="389" name="Google Shape;389;p57"/>
          <p:cNvPicPr preferRelativeResize="0"/>
          <p:nvPr/>
        </p:nvPicPr>
        <p:blipFill rotWithShape="1">
          <a:blip r:embed="rId3">
            <a:alphaModFix/>
          </a:blip>
          <a:srcRect b="0" l="0" r="0" t="0"/>
          <a:stretch/>
        </p:blipFill>
        <p:spPr>
          <a:xfrm>
            <a:off x="5444641" y="4151869"/>
            <a:ext cx="4564331" cy="255774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8"/>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References</a:t>
            </a:r>
            <a:endParaRPr/>
          </a:p>
        </p:txBody>
      </p:sp>
      <p:sp>
        <p:nvSpPr>
          <p:cNvPr id="395" name="Google Shape;395;p58"/>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Marshall, D.; Barnhart, R., Shappee, E., Most, M. (2016). </a:t>
            </a:r>
            <a:r>
              <a:rPr i="1" lang="en-US"/>
              <a:t>Introduction to Unmanned Aircraft Systems.</a:t>
            </a:r>
            <a:r>
              <a:rPr lang="en-US"/>
              <a:t> New York, NY: CRC Press.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000000"/>
      </a:dk1>
      <a:lt1>
        <a:srgbClr val="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